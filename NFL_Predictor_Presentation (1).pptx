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128016"/>
          </a:xfrm>
          <a:prstGeom prst="rect">
            <a:avLst/>
          </a:prstGeom>
          <a:solidFill>
            <a:srgbClr val="F5A623"/>
          </a:solidFill>
          <a:ln w="12700">
            <a:solidFill>
              <a:srgbClr val="F5A623"/>
            </a:solidFill>
            <a:prstDash val="solid"/>
          </a:ln>
        </p:spPr>
      </p:sp>
      <p:sp>
        <p:nvSpPr>
          <p:cNvPr id="3" name="Text 1"/>
          <p:cNvSpPr/>
          <p:nvPr/>
        </p:nvSpPr>
        <p:spPr>
          <a:xfrm>
            <a:off x="457200" y="457200"/>
            <a:ext cx="8229600" cy="960120"/>
          </a:xfrm>
          <a:prstGeom prst="rect">
            <a:avLst/>
          </a:prstGeom>
          <a:noFill/>
          <a:ln/>
        </p:spPr>
        <p:txBody>
          <a:bodyPr wrap="square" rtlCol="0" anchor="ctr"/>
          <a:lstStyle/>
          <a:p>
            <a:pPr algn="ctr" indent="0" marL="0">
              <a:buNone/>
            </a:pPr>
            <a:r>
              <a:rPr lang="en-US" sz="5400" b="1" dirty="0">
                <a:solidFill>
                  <a:srgbClr val="FFFFFF"/>
                </a:solidFill>
                <a:latin typeface="Arial Black" pitchFamily="34" charset="0"/>
                <a:ea typeface="Arial Black" pitchFamily="34" charset="-122"/>
                <a:cs typeface="Arial Black" pitchFamily="34" charset="-120"/>
              </a:rPr>
              <a:t>🏈  NFL Super Bowl</a:t>
            </a:r>
            <a:endParaRPr lang="en-US" sz="5400" dirty="0"/>
          </a:p>
        </p:txBody>
      </p:sp>
      <p:sp>
        <p:nvSpPr>
          <p:cNvPr id="4" name="Text 2"/>
          <p:cNvSpPr/>
          <p:nvPr/>
        </p:nvSpPr>
        <p:spPr>
          <a:xfrm>
            <a:off x="457200" y="1371600"/>
            <a:ext cx="8229600" cy="960120"/>
          </a:xfrm>
          <a:prstGeom prst="rect">
            <a:avLst/>
          </a:prstGeom>
          <a:noFill/>
          <a:ln/>
        </p:spPr>
        <p:txBody>
          <a:bodyPr wrap="square" rtlCol="0" anchor="ctr"/>
          <a:lstStyle/>
          <a:p>
            <a:pPr algn="ctr" indent="0" marL="0">
              <a:buNone/>
            </a:pPr>
            <a:r>
              <a:rPr lang="en-US" sz="5400" b="1" dirty="0">
                <a:solidFill>
                  <a:srgbClr val="F5A623"/>
                </a:solidFill>
                <a:latin typeface="Arial Black" pitchFamily="34" charset="0"/>
                <a:ea typeface="Arial Black" pitchFamily="34" charset="-122"/>
                <a:cs typeface="Arial Black" pitchFamily="34" charset="-120"/>
              </a:rPr>
              <a:t>Champion Predictor</a:t>
            </a:r>
            <a:endParaRPr lang="en-US" sz="5400" dirty="0"/>
          </a:p>
        </p:txBody>
      </p:sp>
      <p:sp>
        <p:nvSpPr>
          <p:cNvPr id="5" name="Text 3"/>
          <p:cNvSpPr/>
          <p:nvPr/>
        </p:nvSpPr>
        <p:spPr>
          <a:xfrm>
            <a:off x="457200" y="2450592"/>
            <a:ext cx="8229600" cy="512064"/>
          </a:xfrm>
          <a:prstGeom prst="rect">
            <a:avLst/>
          </a:prstGeom>
          <a:noFill/>
          <a:ln/>
        </p:spPr>
        <p:txBody>
          <a:bodyPr wrap="square" rtlCol="0" anchor="ctr"/>
          <a:lstStyle/>
          <a:p>
            <a:pPr algn="ctr" indent="0" marL="0">
              <a:buNone/>
            </a:pPr>
            <a:r>
              <a:rPr lang="en-US" sz="1200" dirty="0">
                <a:solidFill>
                  <a:srgbClr val="7A9CBB"/>
                </a:solidFill>
                <a:latin typeface="Calibri" pitchFamily="34" charset="0"/>
                <a:ea typeface="Calibri" pitchFamily="34" charset="-122"/>
                <a:cs typeface="Calibri" pitchFamily="34" charset="-120"/>
              </a:rPr>
              <a:t>A full-stack machine learning system that predicts Super Bowl probabilities for all 32 NFL teams using</a:t>
            </a:r>
            <a:endParaRPr lang="en-US" sz="1200" dirty="0"/>
          </a:p>
          <a:p>
            <a:pPr algn="ctr" indent="0" marL="0">
              <a:buNone/>
            </a:pPr>
            <a:r>
              <a:rPr lang="en-US" sz="1200" dirty="0">
                <a:solidFill>
                  <a:srgbClr val="7A9CBB"/>
                </a:solidFill>
                <a:latin typeface="Calibri" pitchFamily="34" charset="0"/>
                <a:ea typeface="Calibri" pitchFamily="34" charset="-122"/>
                <a:cs typeface="Calibri" pitchFamily="34" charset="-120"/>
              </a:rPr>
              <a:t>play-by-play EPA data, ELO ratings, XGBoost, SHAP explainability, and 10,000-run Monte Carlo simulation.</a:t>
            </a:r>
            <a:endParaRPr lang="en-US" sz="1200" dirty="0"/>
          </a:p>
        </p:txBody>
      </p:sp>
      <p:sp>
        <p:nvSpPr>
          <p:cNvPr id="6" name="Shape 4"/>
          <p:cNvSpPr/>
          <p:nvPr/>
        </p:nvSpPr>
        <p:spPr>
          <a:xfrm>
            <a:off x="502920" y="3090672"/>
            <a:ext cx="1920240" cy="914400"/>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502920" y="3090672"/>
            <a:ext cx="1920240" cy="54864"/>
          </a:xfrm>
          <a:prstGeom prst="rect">
            <a:avLst/>
          </a:prstGeom>
          <a:solidFill>
            <a:srgbClr val="0D7C66"/>
          </a:solidFill>
          <a:ln w="12700">
            <a:solidFill>
              <a:srgbClr val="0D7C66"/>
            </a:solidFill>
            <a:prstDash val="solid"/>
          </a:ln>
        </p:spPr>
      </p:sp>
      <p:sp>
        <p:nvSpPr>
          <p:cNvPr id="8" name="Text 6"/>
          <p:cNvSpPr/>
          <p:nvPr/>
        </p:nvSpPr>
        <p:spPr>
          <a:xfrm>
            <a:off x="502920" y="3145536"/>
            <a:ext cx="1920240" cy="475488"/>
          </a:xfrm>
          <a:prstGeom prst="rect">
            <a:avLst/>
          </a:prstGeom>
          <a:noFill/>
          <a:ln/>
        </p:spPr>
        <p:txBody>
          <a:bodyPr wrap="square" rtlCol="0" anchor="ctr"/>
          <a:lstStyle/>
          <a:p>
            <a:pPr algn="ctr" indent="0" marL="0">
              <a:buNone/>
            </a:pPr>
            <a:r>
              <a:rPr lang="en-US" sz="2600" b="1" dirty="0">
                <a:solidFill>
                  <a:srgbClr val="F5A623"/>
                </a:solidFill>
                <a:latin typeface="Arial Black" pitchFamily="34" charset="0"/>
                <a:ea typeface="Arial Black" pitchFamily="34" charset="-122"/>
                <a:cs typeface="Arial Black" pitchFamily="34" charset="-120"/>
              </a:rPr>
              <a:t>68.1%</a:t>
            </a:r>
            <a:endParaRPr lang="en-US" sz="2600" dirty="0"/>
          </a:p>
        </p:txBody>
      </p:sp>
      <p:sp>
        <p:nvSpPr>
          <p:cNvPr id="9" name="Text 7"/>
          <p:cNvSpPr/>
          <p:nvPr/>
        </p:nvSpPr>
        <p:spPr>
          <a:xfrm>
            <a:off x="502920" y="3621024"/>
            <a:ext cx="1920240" cy="274320"/>
          </a:xfrm>
          <a:prstGeom prst="rect">
            <a:avLst/>
          </a:prstGeom>
          <a:noFill/>
          <a:ln/>
        </p:spPr>
        <p:txBody>
          <a:bodyPr wrap="square" rtlCol="0" anchor="ctr"/>
          <a:lstStyle/>
          <a:p>
            <a:pPr algn="ctr" indent="0" marL="0">
              <a:buNone/>
            </a:pPr>
            <a:r>
              <a:rPr lang="en-US" sz="1200" dirty="0">
                <a:solidFill>
                  <a:srgbClr val="7A9CBB"/>
                </a:solidFill>
                <a:latin typeface="Calibri" pitchFamily="34" charset="0"/>
                <a:ea typeface="Calibri" pitchFamily="34" charset="-122"/>
                <a:cs typeface="Calibri" pitchFamily="34" charset="-120"/>
              </a:rPr>
              <a:t>Game Accuracy</a:t>
            </a:r>
            <a:endParaRPr lang="en-US" sz="1200" dirty="0"/>
          </a:p>
        </p:txBody>
      </p:sp>
      <p:sp>
        <p:nvSpPr>
          <p:cNvPr id="10" name="Shape 8"/>
          <p:cNvSpPr/>
          <p:nvPr/>
        </p:nvSpPr>
        <p:spPr>
          <a:xfrm>
            <a:off x="2578608" y="3090672"/>
            <a:ext cx="1920240" cy="914400"/>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11" name="Shape 9"/>
          <p:cNvSpPr/>
          <p:nvPr/>
        </p:nvSpPr>
        <p:spPr>
          <a:xfrm>
            <a:off x="2578608" y="3090672"/>
            <a:ext cx="1920240" cy="54864"/>
          </a:xfrm>
          <a:prstGeom prst="rect">
            <a:avLst/>
          </a:prstGeom>
          <a:solidFill>
            <a:srgbClr val="0D7C66"/>
          </a:solidFill>
          <a:ln w="12700">
            <a:solidFill>
              <a:srgbClr val="0D7C66"/>
            </a:solidFill>
            <a:prstDash val="solid"/>
          </a:ln>
        </p:spPr>
      </p:sp>
      <p:sp>
        <p:nvSpPr>
          <p:cNvPr id="12" name="Text 10"/>
          <p:cNvSpPr/>
          <p:nvPr/>
        </p:nvSpPr>
        <p:spPr>
          <a:xfrm>
            <a:off x="2578608" y="3145536"/>
            <a:ext cx="1920240" cy="475488"/>
          </a:xfrm>
          <a:prstGeom prst="rect">
            <a:avLst/>
          </a:prstGeom>
          <a:noFill/>
          <a:ln/>
        </p:spPr>
        <p:txBody>
          <a:bodyPr wrap="square" rtlCol="0" anchor="ctr"/>
          <a:lstStyle/>
          <a:p>
            <a:pPr algn="ctr" indent="0" marL="0">
              <a:buNone/>
            </a:pPr>
            <a:r>
              <a:rPr lang="en-US" sz="2600" b="1" dirty="0">
                <a:solidFill>
                  <a:srgbClr val="F5A623"/>
                </a:solidFill>
                <a:latin typeface="Arial Black" pitchFamily="34" charset="0"/>
                <a:ea typeface="Arial Black" pitchFamily="34" charset="-122"/>
                <a:cs typeface="Arial Black" pitchFamily="34" charset="-120"/>
              </a:rPr>
              <a:t>0.735</a:t>
            </a:r>
            <a:endParaRPr lang="en-US" sz="2600" dirty="0"/>
          </a:p>
        </p:txBody>
      </p:sp>
      <p:sp>
        <p:nvSpPr>
          <p:cNvPr id="13" name="Text 11"/>
          <p:cNvSpPr/>
          <p:nvPr/>
        </p:nvSpPr>
        <p:spPr>
          <a:xfrm>
            <a:off x="2578608" y="3621024"/>
            <a:ext cx="1920240" cy="274320"/>
          </a:xfrm>
          <a:prstGeom prst="rect">
            <a:avLst/>
          </a:prstGeom>
          <a:noFill/>
          <a:ln/>
        </p:spPr>
        <p:txBody>
          <a:bodyPr wrap="square" rtlCol="0" anchor="ctr"/>
          <a:lstStyle/>
          <a:p>
            <a:pPr algn="ctr" indent="0" marL="0">
              <a:buNone/>
            </a:pPr>
            <a:r>
              <a:rPr lang="en-US" sz="1200" dirty="0">
                <a:solidFill>
                  <a:srgbClr val="7A9CBB"/>
                </a:solidFill>
                <a:latin typeface="Calibri" pitchFamily="34" charset="0"/>
                <a:ea typeface="Calibri" pitchFamily="34" charset="-122"/>
                <a:cs typeface="Calibri" pitchFamily="34" charset="-120"/>
              </a:rPr>
              <a:t>AUC Score</a:t>
            </a:r>
            <a:endParaRPr lang="en-US" sz="1200" dirty="0"/>
          </a:p>
        </p:txBody>
      </p:sp>
      <p:sp>
        <p:nvSpPr>
          <p:cNvPr id="14" name="Shape 12"/>
          <p:cNvSpPr/>
          <p:nvPr/>
        </p:nvSpPr>
        <p:spPr>
          <a:xfrm>
            <a:off x="4654296" y="3090672"/>
            <a:ext cx="1920240" cy="914400"/>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4654296" y="3090672"/>
            <a:ext cx="1920240" cy="54864"/>
          </a:xfrm>
          <a:prstGeom prst="rect">
            <a:avLst/>
          </a:prstGeom>
          <a:solidFill>
            <a:srgbClr val="0D7C66"/>
          </a:solidFill>
          <a:ln w="12700">
            <a:solidFill>
              <a:srgbClr val="0D7C66"/>
            </a:solidFill>
            <a:prstDash val="solid"/>
          </a:ln>
        </p:spPr>
      </p:sp>
      <p:sp>
        <p:nvSpPr>
          <p:cNvPr id="16" name="Text 14"/>
          <p:cNvSpPr/>
          <p:nvPr/>
        </p:nvSpPr>
        <p:spPr>
          <a:xfrm>
            <a:off x="4654296" y="3145536"/>
            <a:ext cx="1920240" cy="475488"/>
          </a:xfrm>
          <a:prstGeom prst="rect">
            <a:avLst/>
          </a:prstGeom>
          <a:noFill/>
          <a:ln/>
        </p:spPr>
        <p:txBody>
          <a:bodyPr wrap="square" rtlCol="0" anchor="ctr"/>
          <a:lstStyle/>
          <a:p>
            <a:pPr algn="ctr" indent="0" marL="0">
              <a:buNone/>
            </a:pPr>
            <a:r>
              <a:rPr lang="en-US" sz="2600" b="1" dirty="0">
                <a:solidFill>
                  <a:srgbClr val="F5A623"/>
                </a:solidFill>
                <a:latin typeface="Arial Black" pitchFamily="34" charset="0"/>
                <a:ea typeface="Arial Black" pitchFamily="34" charset="-122"/>
                <a:cs typeface="Arial Black" pitchFamily="34" charset="-120"/>
              </a:rPr>
              <a:t>10,000</a:t>
            </a:r>
            <a:endParaRPr lang="en-US" sz="2600" dirty="0"/>
          </a:p>
        </p:txBody>
      </p:sp>
      <p:sp>
        <p:nvSpPr>
          <p:cNvPr id="17" name="Text 15"/>
          <p:cNvSpPr/>
          <p:nvPr/>
        </p:nvSpPr>
        <p:spPr>
          <a:xfrm>
            <a:off x="4654296" y="3621024"/>
            <a:ext cx="1920240" cy="274320"/>
          </a:xfrm>
          <a:prstGeom prst="rect">
            <a:avLst/>
          </a:prstGeom>
          <a:noFill/>
          <a:ln/>
        </p:spPr>
        <p:txBody>
          <a:bodyPr wrap="square" rtlCol="0" anchor="ctr"/>
          <a:lstStyle/>
          <a:p>
            <a:pPr algn="ctr" indent="0" marL="0">
              <a:buNone/>
            </a:pPr>
            <a:r>
              <a:rPr lang="en-US" sz="1200" dirty="0">
                <a:solidFill>
                  <a:srgbClr val="7A9CBB"/>
                </a:solidFill>
                <a:latin typeface="Calibri" pitchFamily="34" charset="0"/>
                <a:ea typeface="Calibri" pitchFamily="34" charset="-122"/>
                <a:cs typeface="Calibri" pitchFamily="34" charset="-120"/>
              </a:rPr>
              <a:t>MC Simulations</a:t>
            </a:r>
            <a:endParaRPr lang="en-US" sz="1200" dirty="0"/>
          </a:p>
        </p:txBody>
      </p:sp>
      <p:sp>
        <p:nvSpPr>
          <p:cNvPr id="18" name="Shape 16"/>
          <p:cNvSpPr/>
          <p:nvPr/>
        </p:nvSpPr>
        <p:spPr>
          <a:xfrm>
            <a:off x="6729984" y="3090672"/>
            <a:ext cx="1920240" cy="914400"/>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19" name="Shape 17"/>
          <p:cNvSpPr/>
          <p:nvPr/>
        </p:nvSpPr>
        <p:spPr>
          <a:xfrm>
            <a:off x="6729984" y="3090672"/>
            <a:ext cx="1920240" cy="54864"/>
          </a:xfrm>
          <a:prstGeom prst="rect">
            <a:avLst/>
          </a:prstGeom>
          <a:solidFill>
            <a:srgbClr val="0D7C66"/>
          </a:solidFill>
          <a:ln w="12700">
            <a:solidFill>
              <a:srgbClr val="0D7C66"/>
            </a:solidFill>
            <a:prstDash val="solid"/>
          </a:ln>
        </p:spPr>
      </p:sp>
      <p:sp>
        <p:nvSpPr>
          <p:cNvPr id="20" name="Text 18"/>
          <p:cNvSpPr/>
          <p:nvPr/>
        </p:nvSpPr>
        <p:spPr>
          <a:xfrm>
            <a:off x="6729984" y="3145536"/>
            <a:ext cx="1920240" cy="475488"/>
          </a:xfrm>
          <a:prstGeom prst="rect">
            <a:avLst/>
          </a:prstGeom>
          <a:noFill/>
          <a:ln/>
        </p:spPr>
        <p:txBody>
          <a:bodyPr wrap="square" rtlCol="0" anchor="ctr"/>
          <a:lstStyle/>
          <a:p>
            <a:pPr algn="ctr" indent="0" marL="0">
              <a:buNone/>
            </a:pPr>
            <a:r>
              <a:rPr lang="en-US" sz="2600" b="1" dirty="0">
                <a:solidFill>
                  <a:srgbClr val="F5A623"/>
                </a:solidFill>
                <a:latin typeface="Arial Black" pitchFamily="34" charset="0"/>
                <a:ea typeface="Arial Black" pitchFamily="34" charset="-122"/>
                <a:cs typeface="Arial Black" pitchFamily="34" charset="-120"/>
              </a:rPr>
              <a:t>32</a:t>
            </a:r>
            <a:endParaRPr lang="en-US" sz="2600" dirty="0"/>
          </a:p>
        </p:txBody>
      </p:sp>
      <p:sp>
        <p:nvSpPr>
          <p:cNvPr id="21" name="Text 19"/>
          <p:cNvSpPr/>
          <p:nvPr/>
        </p:nvSpPr>
        <p:spPr>
          <a:xfrm>
            <a:off x="6729984" y="3621024"/>
            <a:ext cx="1920240" cy="274320"/>
          </a:xfrm>
          <a:prstGeom prst="rect">
            <a:avLst/>
          </a:prstGeom>
          <a:noFill/>
          <a:ln/>
        </p:spPr>
        <p:txBody>
          <a:bodyPr wrap="square" rtlCol="0" anchor="ctr"/>
          <a:lstStyle/>
          <a:p>
            <a:pPr algn="ctr" indent="0" marL="0">
              <a:buNone/>
            </a:pPr>
            <a:r>
              <a:rPr lang="en-US" sz="1200" dirty="0">
                <a:solidFill>
                  <a:srgbClr val="7A9CBB"/>
                </a:solidFill>
                <a:latin typeface="Calibri" pitchFamily="34" charset="0"/>
                <a:ea typeface="Calibri" pitchFamily="34" charset="-122"/>
                <a:cs typeface="Calibri" pitchFamily="34" charset="-120"/>
              </a:rPr>
              <a:t>Features Built</a:t>
            </a:r>
            <a:endParaRPr lang="en-US" sz="1200" dirty="0"/>
          </a:p>
        </p:txBody>
      </p:sp>
      <p:sp>
        <p:nvSpPr>
          <p:cNvPr id="22" name="Shape 20"/>
          <p:cNvSpPr/>
          <p:nvPr/>
        </p:nvSpPr>
        <p:spPr>
          <a:xfrm>
            <a:off x="0" y="4974336"/>
            <a:ext cx="9144000" cy="169164"/>
          </a:xfrm>
          <a:prstGeom prst="rect">
            <a:avLst/>
          </a:prstGeom>
          <a:solidFill>
            <a:srgbClr val="0D7C66"/>
          </a:solidFill>
          <a:ln w="12700">
            <a:solidFill>
              <a:srgbClr val="0D7C66"/>
            </a:solidFill>
            <a:prstDash val="solid"/>
          </a:ln>
        </p:spPr>
      </p:sp>
      <p:sp>
        <p:nvSpPr>
          <p:cNvPr id="23" name="Text 21"/>
          <p:cNvSpPr/>
          <p:nvPr/>
        </p:nvSpPr>
        <p:spPr>
          <a:xfrm>
            <a:off x="457200" y="4974336"/>
            <a:ext cx="8229600" cy="169164"/>
          </a:xfrm>
          <a:prstGeom prst="rect">
            <a:avLst/>
          </a:prstGeom>
          <a:noFill/>
          <a:ln/>
        </p:spPr>
        <p:txBody>
          <a:bodyPr wrap="square"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Seasons 2015–2025  ·  373,381 plays  ·  60,788 injury records  ·  2,821 draft picks  ·  34/34 tests passing</a:t>
            </a:r>
            <a:endParaRPr lang="en-US"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128016"/>
          </a:xfrm>
          <a:prstGeom prst="rect">
            <a:avLst/>
          </a:prstGeom>
          <a:solidFill>
            <a:srgbClr val="F5A623"/>
          </a:solidFill>
          <a:ln w="12700">
            <a:solidFill>
              <a:srgbClr val="F5A623"/>
            </a:solidFill>
            <a:prstDash val="solid"/>
          </a:ln>
        </p:spPr>
      </p:sp>
      <p:sp>
        <p:nvSpPr>
          <p:cNvPr id="3" name="Shape 1"/>
          <p:cNvSpPr/>
          <p:nvPr/>
        </p:nvSpPr>
        <p:spPr>
          <a:xfrm>
            <a:off x="0" y="4974336"/>
            <a:ext cx="9144000" cy="169164"/>
          </a:xfrm>
          <a:prstGeom prst="rect">
            <a:avLst/>
          </a:prstGeom>
          <a:solidFill>
            <a:srgbClr val="0D7C66"/>
          </a:solidFill>
          <a:ln w="12700">
            <a:solidFill>
              <a:srgbClr val="0D7C66"/>
            </a:solidFill>
            <a:prstDash val="solid"/>
          </a:ln>
        </p:spPr>
      </p:sp>
      <p:sp>
        <p:nvSpPr>
          <p:cNvPr id="4" name="Text 2"/>
          <p:cNvSpPr/>
          <p:nvPr/>
        </p:nvSpPr>
        <p:spPr>
          <a:xfrm>
            <a:off x="411480" y="182880"/>
            <a:ext cx="8321040" cy="566928"/>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What We Built &amp; Why NFL Prediction Is Hard</a:t>
            </a:r>
            <a:endParaRPr lang="en-US" sz="3000" dirty="0"/>
          </a:p>
        </p:txBody>
      </p:sp>
      <p:sp>
        <p:nvSpPr>
          <p:cNvPr id="5" name="Shape 3"/>
          <p:cNvSpPr/>
          <p:nvPr/>
        </p:nvSpPr>
        <p:spPr>
          <a:xfrm>
            <a:off x="365760" y="1078992"/>
            <a:ext cx="4297680" cy="1115568"/>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6" name="Shape 4"/>
          <p:cNvSpPr/>
          <p:nvPr/>
        </p:nvSpPr>
        <p:spPr>
          <a:xfrm>
            <a:off x="365760" y="1078992"/>
            <a:ext cx="64008" cy="1115568"/>
          </a:xfrm>
          <a:prstGeom prst="rect">
            <a:avLst/>
          </a:prstGeom>
          <a:solidFill>
            <a:srgbClr val="0D7C66"/>
          </a:solidFill>
          <a:ln w="12700">
            <a:solidFill>
              <a:srgbClr val="0D7C66"/>
            </a:solidFill>
            <a:prstDash val="solid"/>
          </a:ln>
        </p:spPr>
      </p:sp>
      <p:sp>
        <p:nvSpPr>
          <p:cNvPr id="7" name="Text 5"/>
          <p:cNvSpPr/>
          <p:nvPr/>
        </p:nvSpPr>
        <p:spPr>
          <a:xfrm>
            <a:off x="548640" y="1152144"/>
            <a:ext cx="3977640" cy="274320"/>
          </a:xfrm>
          <a:prstGeom prst="rect">
            <a:avLst/>
          </a:prstGeom>
          <a:noFill/>
          <a:ln/>
        </p:spPr>
        <p:txBody>
          <a:bodyPr wrap="square"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  Cold-Start Problem</a:t>
            </a:r>
            <a:endParaRPr lang="en-US" sz="1250" dirty="0"/>
          </a:p>
        </p:txBody>
      </p:sp>
      <p:sp>
        <p:nvSpPr>
          <p:cNvPr id="8" name="Text 6"/>
          <p:cNvSpPr/>
          <p:nvPr/>
        </p:nvSpPr>
        <p:spPr>
          <a:xfrm>
            <a:off x="548640" y="1472184"/>
            <a:ext cx="3977640" cy="64008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Every NFL season starts fresh — Week 1 has zero game data for the current year. You cannot use rolling averages or EPA yet. We solve this with ELO ratings that survive the offseason and give a meaningful pre-game prediction from Day 1.</a:t>
            </a:r>
            <a:endParaRPr lang="en-US" sz="1050" dirty="0"/>
          </a:p>
        </p:txBody>
      </p:sp>
      <p:sp>
        <p:nvSpPr>
          <p:cNvPr id="9" name="Shape 7"/>
          <p:cNvSpPr/>
          <p:nvPr/>
        </p:nvSpPr>
        <p:spPr>
          <a:xfrm>
            <a:off x="365760" y="2340864"/>
            <a:ext cx="4297680" cy="1115568"/>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10" name="Shape 8"/>
          <p:cNvSpPr/>
          <p:nvPr/>
        </p:nvSpPr>
        <p:spPr>
          <a:xfrm>
            <a:off x="365760" y="2340864"/>
            <a:ext cx="64008" cy="1115568"/>
          </a:xfrm>
          <a:prstGeom prst="rect">
            <a:avLst/>
          </a:prstGeom>
          <a:solidFill>
            <a:srgbClr val="0D7C66"/>
          </a:solidFill>
          <a:ln w="12700">
            <a:solidFill>
              <a:srgbClr val="0D7C66"/>
            </a:solidFill>
            <a:prstDash val="solid"/>
          </a:ln>
        </p:spPr>
      </p:sp>
      <p:sp>
        <p:nvSpPr>
          <p:cNvPr id="11" name="Text 9"/>
          <p:cNvSpPr/>
          <p:nvPr/>
        </p:nvSpPr>
        <p:spPr>
          <a:xfrm>
            <a:off x="548640" y="2414016"/>
            <a:ext cx="3977640" cy="274320"/>
          </a:xfrm>
          <a:prstGeom prst="rect">
            <a:avLst/>
          </a:prstGeom>
          <a:noFill/>
          <a:ln/>
        </p:spPr>
        <p:txBody>
          <a:bodyPr wrap="square"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  Data Leakage Risk</a:t>
            </a:r>
            <a:endParaRPr lang="en-US" sz="1250" dirty="0"/>
          </a:p>
        </p:txBody>
      </p:sp>
      <p:sp>
        <p:nvSpPr>
          <p:cNvPr id="12" name="Text 10"/>
          <p:cNvSpPr/>
          <p:nvPr/>
        </p:nvSpPr>
        <p:spPr>
          <a:xfrm>
            <a:off x="548640" y="2734056"/>
            <a:ext cx="3977640" cy="64008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A model that accidentally sees future data during training looks great on paper but fails in real use. Every rolling feature in this project uses shift(1) so that Week N's features only contain data from Weeks 1 to N-1. This is verified by 34 automated tests.</a:t>
            </a:r>
            <a:endParaRPr lang="en-US" sz="1050" dirty="0"/>
          </a:p>
        </p:txBody>
      </p:sp>
      <p:sp>
        <p:nvSpPr>
          <p:cNvPr id="13" name="Shape 11"/>
          <p:cNvSpPr/>
          <p:nvPr/>
        </p:nvSpPr>
        <p:spPr>
          <a:xfrm>
            <a:off x="365760" y="3602736"/>
            <a:ext cx="4297680" cy="1115568"/>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365760" y="3602736"/>
            <a:ext cx="64008" cy="1115568"/>
          </a:xfrm>
          <a:prstGeom prst="rect">
            <a:avLst/>
          </a:prstGeom>
          <a:solidFill>
            <a:srgbClr val="0D7C66"/>
          </a:solidFill>
          <a:ln w="12700">
            <a:solidFill>
              <a:srgbClr val="0D7C66"/>
            </a:solidFill>
            <a:prstDash val="solid"/>
          </a:ln>
        </p:spPr>
      </p:sp>
      <p:sp>
        <p:nvSpPr>
          <p:cNvPr id="15" name="Text 13"/>
          <p:cNvSpPr/>
          <p:nvPr/>
        </p:nvSpPr>
        <p:spPr>
          <a:xfrm>
            <a:off x="548640" y="3675888"/>
            <a:ext cx="3977640" cy="274320"/>
          </a:xfrm>
          <a:prstGeom prst="rect">
            <a:avLst/>
          </a:prstGeom>
          <a:noFill/>
          <a:ln/>
        </p:spPr>
        <p:txBody>
          <a:bodyPr wrap="square" rtlCol="0" anchor="ctr"/>
          <a:lstStyle/>
          <a:p>
            <a:pPr indent="0" marL="0">
              <a:buNone/>
            </a:pPr>
            <a:r>
              <a:rPr lang="en-US" sz="1250" b="1" dirty="0">
                <a:solidFill>
                  <a:srgbClr val="F5A623"/>
                </a:solidFill>
                <a:latin typeface="Calibri" pitchFamily="34" charset="0"/>
                <a:ea typeface="Calibri" pitchFamily="34" charset="-122"/>
                <a:cs typeface="Calibri" pitchFamily="34" charset="-120"/>
              </a:rPr>
              <a:t>📊  Overconfident Probabilities</a:t>
            </a:r>
            <a:endParaRPr lang="en-US" sz="1250" dirty="0"/>
          </a:p>
        </p:txBody>
      </p:sp>
      <p:sp>
        <p:nvSpPr>
          <p:cNvPr id="16" name="Text 14"/>
          <p:cNvSpPr/>
          <p:nvPr/>
        </p:nvSpPr>
        <p:spPr>
          <a:xfrm>
            <a:off x="548640" y="3995928"/>
            <a:ext cx="3977640" cy="64008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Raw ML models frequently output 94% or 6% win chances. NFL games are never that certain. We apply isotonic calibration so our 65% predictions win ~65% of the time — honest, usable probabilities.</a:t>
            </a:r>
            <a:endParaRPr lang="en-US" sz="1050" dirty="0"/>
          </a:p>
        </p:txBody>
      </p:sp>
      <p:sp>
        <p:nvSpPr>
          <p:cNvPr id="17" name="Shape 15"/>
          <p:cNvSpPr/>
          <p:nvPr/>
        </p:nvSpPr>
        <p:spPr>
          <a:xfrm>
            <a:off x="4846320" y="1051560"/>
            <a:ext cx="3931920" cy="3767328"/>
          </a:xfrm>
          <a:prstGeom prst="rect">
            <a:avLst/>
          </a:prstGeom>
          <a:solidFill>
            <a:srgbClr val="132A47"/>
          </a:solidFill>
          <a:ln w="12700">
            <a:solidFill>
              <a:srgbClr val="F5A623"/>
            </a:solidFill>
            <a:prstDash val="solid"/>
          </a:ln>
          <a:effectLst>
            <a:outerShdw sx="100000" sy="100000" kx="0" ky="0" algn="bl" rotWithShape="0" blurRad="101600" dist="38100" dir="8100000">
              <a:srgbClr val="000000">
                <a:alpha val="18000"/>
              </a:srgbClr>
            </a:outerShdw>
          </a:effectLst>
        </p:spPr>
      </p:sp>
      <p:sp>
        <p:nvSpPr>
          <p:cNvPr id="18" name="Text 16"/>
          <p:cNvSpPr/>
          <p:nvPr/>
        </p:nvSpPr>
        <p:spPr>
          <a:xfrm>
            <a:off x="4983480" y="1133856"/>
            <a:ext cx="3657600" cy="310896"/>
          </a:xfrm>
          <a:prstGeom prst="rect">
            <a:avLst/>
          </a:prstGeom>
          <a:noFill/>
          <a:ln/>
        </p:spPr>
        <p:txBody>
          <a:bodyPr wrap="square" rtlCol="0" anchor="ctr"/>
          <a:lstStyle/>
          <a:p>
            <a:pPr indent="0" marL="0">
              <a:buNone/>
            </a:pPr>
            <a:r>
              <a:rPr lang="en-US" sz="1400" b="1" dirty="0">
                <a:solidFill>
                  <a:srgbClr val="F5A623"/>
                </a:solidFill>
                <a:latin typeface="Arial Black" pitchFamily="34" charset="0"/>
                <a:ea typeface="Arial Black" pitchFamily="34" charset="-122"/>
                <a:cs typeface="Arial Black" pitchFamily="34" charset="-120"/>
              </a:rPr>
              <a:t>What We Built</a:t>
            </a:r>
            <a:endParaRPr lang="en-US" sz="1400" dirty="0"/>
          </a:p>
        </p:txBody>
      </p:sp>
      <p:sp>
        <p:nvSpPr>
          <p:cNvPr id="19" name="Text 17"/>
          <p:cNvSpPr/>
          <p:nvPr/>
        </p:nvSpPr>
        <p:spPr>
          <a:xfrm>
            <a:off x="4983480" y="1517904"/>
            <a:ext cx="3657600" cy="292608"/>
          </a:xfrm>
          <a:prstGeom prst="rect">
            <a:avLst/>
          </a:prstGeom>
          <a:noFill/>
          <a:ln/>
        </p:spPr>
        <p:txBody>
          <a:bodyPr wrap="square" rtlCol="0" anchor="ctr"/>
          <a:lstStyle/>
          <a:p>
            <a:pPr indent="0" marL="0">
              <a:buNone/>
            </a:pPr>
            <a:r>
              <a:rPr lang="en-US" sz="1150" dirty="0">
                <a:solidFill>
                  <a:srgbClr val="E8EEF4"/>
                </a:solidFill>
                <a:latin typeface="Calibri" pitchFamily="34" charset="0"/>
                <a:ea typeface="Calibri" pitchFamily="34" charset="-122"/>
                <a:cs typeface="Calibri" pitchFamily="34" charset="-120"/>
              </a:rPr>
              <a:t>🏈  ELO rating engine for all 32 teams</a:t>
            </a:r>
            <a:endParaRPr lang="en-US" sz="1150" dirty="0"/>
          </a:p>
        </p:txBody>
      </p:sp>
      <p:sp>
        <p:nvSpPr>
          <p:cNvPr id="20" name="Text 18"/>
          <p:cNvSpPr/>
          <p:nvPr/>
        </p:nvSpPr>
        <p:spPr>
          <a:xfrm>
            <a:off x="4983480" y="1865376"/>
            <a:ext cx="3657600" cy="292608"/>
          </a:xfrm>
          <a:prstGeom prst="rect">
            <a:avLst/>
          </a:prstGeom>
          <a:noFill/>
          <a:ln/>
        </p:spPr>
        <p:txBody>
          <a:bodyPr wrap="square" rtlCol="0" anchor="ctr"/>
          <a:lstStyle/>
          <a:p>
            <a:pPr indent="0" marL="0">
              <a:buNone/>
            </a:pPr>
            <a:r>
              <a:rPr lang="en-US" sz="1150" dirty="0">
                <a:solidFill>
                  <a:srgbClr val="E8EEF4"/>
                </a:solidFill>
                <a:latin typeface="Calibri" pitchFamily="34" charset="0"/>
                <a:ea typeface="Calibri" pitchFamily="34" charset="-122"/>
                <a:cs typeface="Calibri" pitchFamily="34" charset="-120"/>
              </a:rPr>
              <a:t>📐  32-feature engineering pipeline</a:t>
            </a:r>
            <a:endParaRPr lang="en-US" sz="1150" dirty="0"/>
          </a:p>
        </p:txBody>
      </p:sp>
      <p:sp>
        <p:nvSpPr>
          <p:cNvPr id="21" name="Text 19"/>
          <p:cNvSpPr/>
          <p:nvPr/>
        </p:nvSpPr>
        <p:spPr>
          <a:xfrm>
            <a:off x="4983480" y="2212848"/>
            <a:ext cx="3657600" cy="292608"/>
          </a:xfrm>
          <a:prstGeom prst="rect">
            <a:avLst/>
          </a:prstGeom>
          <a:noFill/>
          <a:ln/>
        </p:spPr>
        <p:txBody>
          <a:bodyPr wrap="square" rtlCol="0" anchor="ctr"/>
          <a:lstStyle/>
          <a:p>
            <a:pPr indent="0" marL="0">
              <a:buNone/>
            </a:pPr>
            <a:r>
              <a:rPr lang="en-US" sz="1150" dirty="0">
                <a:solidFill>
                  <a:srgbClr val="E8EEF4"/>
                </a:solidFill>
                <a:latin typeface="Calibri" pitchFamily="34" charset="0"/>
                <a:ea typeface="Calibri" pitchFamily="34" charset="-122"/>
                <a:cs typeface="Calibri" pitchFamily="34" charset="-120"/>
              </a:rPr>
              <a:t>🤖  XGBoost win probability model</a:t>
            </a:r>
            <a:endParaRPr lang="en-US" sz="1150" dirty="0"/>
          </a:p>
        </p:txBody>
      </p:sp>
      <p:sp>
        <p:nvSpPr>
          <p:cNvPr id="22" name="Text 20"/>
          <p:cNvSpPr/>
          <p:nvPr/>
        </p:nvSpPr>
        <p:spPr>
          <a:xfrm>
            <a:off x="4983480" y="2560320"/>
            <a:ext cx="3657600" cy="292608"/>
          </a:xfrm>
          <a:prstGeom prst="rect">
            <a:avLst/>
          </a:prstGeom>
          <a:noFill/>
          <a:ln/>
        </p:spPr>
        <p:txBody>
          <a:bodyPr wrap="square" rtlCol="0" anchor="ctr"/>
          <a:lstStyle/>
          <a:p>
            <a:pPr indent="0" marL="0">
              <a:buNone/>
            </a:pPr>
            <a:r>
              <a:rPr lang="en-US" sz="1150" dirty="0">
                <a:solidFill>
                  <a:srgbClr val="E8EEF4"/>
                </a:solidFill>
                <a:latin typeface="Calibri" pitchFamily="34" charset="0"/>
                <a:ea typeface="Calibri" pitchFamily="34" charset="-122"/>
                <a:cs typeface="Calibri" pitchFamily="34" charset="-120"/>
              </a:rPr>
              <a:t>🔍  SHAP feature explanation layer</a:t>
            </a:r>
            <a:endParaRPr lang="en-US" sz="1150" dirty="0"/>
          </a:p>
        </p:txBody>
      </p:sp>
      <p:sp>
        <p:nvSpPr>
          <p:cNvPr id="23" name="Text 21"/>
          <p:cNvSpPr/>
          <p:nvPr/>
        </p:nvSpPr>
        <p:spPr>
          <a:xfrm>
            <a:off x="4983480" y="2907792"/>
            <a:ext cx="3657600" cy="292608"/>
          </a:xfrm>
          <a:prstGeom prst="rect">
            <a:avLst/>
          </a:prstGeom>
          <a:noFill/>
          <a:ln/>
        </p:spPr>
        <p:txBody>
          <a:bodyPr wrap="square" rtlCol="0" anchor="ctr"/>
          <a:lstStyle/>
          <a:p>
            <a:pPr indent="0" marL="0">
              <a:buNone/>
            </a:pPr>
            <a:r>
              <a:rPr lang="en-US" sz="1150" dirty="0">
                <a:solidFill>
                  <a:srgbClr val="E8EEF4"/>
                </a:solidFill>
                <a:latin typeface="Calibri" pitchFamily="34" charset="0"/>
                <a:ea typeface="Calibri" pitchFamily="34" charset="-122"/>
                <a:cs typeface="Calibri" pitchFamily="34" charset="-120"/>
              </a:rPr>
              <a:t>🎲  10,000-run Monte Carlo simulator</a:t>
            </a:r>
            <a:endParaRPr lang="en-US" sz="1150" dirty="0"/>
          </a:p>
        </p:txBody>
      </p:sp>
      <p:sp>
        <p:nvSpPr>
          <p:cNvPr id="24" name="Text 22"/>
          <p:cNvSpPr/>
          <p:nvPr/>
        </p:nvSpPr>
        <p:spPr>
          <a:xfrm>
            <a:off x="4983480" y="3255264"/>
            <a:ext cx="3657600" cy="292608"/>
          </a:xfrm>
          <a:prstGeom prst="rect">
            <a:avLst/>
          </a:prstGeom>
          <a:noFill/>
          <a:ln/>
        </p:spPr>
        <p:txBody>
          <a:bodyPr wrap="square" rtlCol="0" anchor="ctr"/>
          <a:lstStyle/>
          <a:p>
            <a:pPr indent="0" marL="0">
              <a:buNone/>
            </a:pPr>
            <a:r>
              <a:rPr lang="en-US" sz="1150" dirty="0">
                <a:solidFill>
                  <a:srgbClr val="E8EEF4"/>
                </a:solidFill>
                <a:latin typeface="Calibri" pitchFamily="34" charset="0"/>
                <a:ea typeface="Calibri" pitchFamily="34" charset="-122"/>
                <a:cs typeface="Calibri" pitchFamily="34" charset="-120"/>
              </a:rPr>
              <a:t>📊  Quarter-by-quarter EPA analyzer</a:t>
            </a:r>
            <a:endParaRPr lang="en-US" sz="1150" dirty="0"/>
          </a:p>
        </p:txBody>
      </p:sp>
      <p:sp>
        <p:nvSpPr>
          <p:cNvPr id="25" name="Text 23"/>
          <p:cNvSpPr/>
          <p:nvPr/>
        </p:nvSpPr>
        <p:spPr>
          <a:xfrm>
            <a:off x="4983480" y="3602736"/>
            <a:ext cx="3657600" cy="292608"/>
          </a:xfrm>
          <a:prstGeom prst="rect">
            <a:avLst/>
          </a:prstGeom>
          <a:noFill/>
          <a:ln/>
        </p:spPr>
        <p:txBody>
          <a:bodyPr wrap="square" rtlCol="0" anchor="ctr"/>
          <a:lstStyle/>
          <a:p>
            <a:pPr indent="0" marL="0">
              <a:buNone/>
            </a:pPr>
            <a:r>
              <a:rPr lang="en-US" sz="1150" dirty="0">
                <a:solidFill>
                  <a:srgbClr val="E8EEF4"/>
                </a:solidFill>
                <a:latin typeface="Calibri" pitchFamily="34" charset="0"/>
                <a:ea typeface="Calibri" pitchFamily="34" charset="-122"/>
                <a:cs typeface="Calibri" pitchFamily="34" charset="-120"/>
              </a:rPr>
              <a:t>🌐  Streamlit app with 5 live pages</a:t>
            </a:r>
            <a:endParaRPr lang="en-US" sz="1150" dirty="0"/>
          </a:p>
        </p:txBody>
      </p:sp>
      <p:sp>
        <p:nvSpPr>
          <p:cNvPr id="26" name="Text 24"/>
          <p:cNvSpPr/>
          <p:nvPr/>
        </p:nvSpPr>
        <p:spPr>
          <a:xfrm>
            <a:off x="4983480" y="3950208"/>
            <a:ext cx="3657600" cy="292608"/>
          </a:xfrm>
          <a:prstGeom prst="rect">
            <a:avLst/>
          </a:prstGeom>
          <a:noFill/>
          <a:ln/>
        </p:spPr>
        <p:txBody>
          <a:bodyPr wrap="square" rtlCol="0" anchor="ctr"/>
          <a:lstStyle/>
          <a:p>
            <a:pPr indent="0" marL="0">
              <a:buNone/>
            </a:pPr>
            <a:r>
              <a:rPr lang="en-US" sz="1150" dirty="0">
                <a:solidFill>
                  <a:srgbClr val="E8EEF4"/>
                </a:solidFill>
                <a:latin typeface="Calibri" pitchFamily="34" charset="0"/>
                <a:ea typeface="Calibri" pitchFamily="34" charset="-122"/>
                <a:cs typeface="Calibri" pitchFamily="34" charset="-120"/>
              </a:rPr>
              <a:t>🏆  Community Brier score leaderboard</a:t>
            </a:r>
            <a:endParaRPr lang="en-US" sz="1150" dirty="0"/>
          </a:p>
        </p:txBody>
      </p:sp>
      <p:sp>
        <p:nvSpPr>
          <p:cNvPr id="27" name="Text 25"/>
          <p:cNvSpPr/>
          <p:nvPr/>
        </p:nvSpPr>
        <p:spPr>
          <a:xfrm>
            <a:off x="4983480" y="4297680"/>
            <a:ext cx="3657600" cy="292608"/>
          </a:xfrm>
          <a:prstGeom prst="rect">
            <a:avLst/>
          </a:prstGeom>
          <a:noFill/>
          <a:ln/>
        </p:spPr>
        <p:txBody>
          <a:bodyPr wrap="square" rtlCol="0" anchor="ctr"/>
          <a:lstStyle/>
          <a:p>
            <a:pPr indent="0" marL="0">
              <a:buNone/>
            </a:pPr>
            <a:r>
              <a:rPr lang="en-US" sz="1150" dirty="0">
                <a:solidFill>
                  <a:srgbClr val="E8EEF4"/>
                </a:solidFill>
                <a:latin typeface="Calibri" pitchFamily="34" charset="0"/>
                <a:ea typeface="Calibri" pitchFamily="34" charset="-122"/>
                <a:cs typeface="Calibri" pitchFamily="34" charset="-120"/>
              </a:rPr>
              <a:t>✅  34 automated tests — all passing</a:t>
            </a:r>
            <a:endParaRPr lang="en-US" sz="1150" dirty="0"/>
          </a:p>
        </p:txBody>
      </p:sp>
      <p:sp>
        <p:nvSpPr>
          <p:cNvPr id="28" name="Text 26"/>
          <p:cNvSpPr/>
          <p:nvPr/>
        </p:nvSpPr>
        <p:spPr>
          <a:xfrm>
            <a:off x="4983480" y="4645152"/>
            <a:ext cx="3657600" cy="292608"/>
          </a:xfrm>
          <a:prstGeom prst="rect">
            <a:avLst/>
          </a:prstGeom>
          <a:noFill/>
          <a:ln/>
        </p:spPr>
        <p:txBody>
          <a:bodyPr wrap="square" rtlCol="0" anchor="ctr"/>
          <a:lstStyle/>
          <a:p>
            <a:pPr indent="0" marL="0">
              <a:buNone/>
            </a:pPr>
            <a:r>
              <a:rPr lang="en-US" sz="1150" dirty="0">
                <a:solidFill>
                  <a:srgbClr val="E8EEF4"/>
                </a:solidFill>
                <a:latin typeface="Calibri" pitchFamily="34" charset="0"/>
                <a:ea typeface="Calibri" pitchFamily="34" charset="-122"/>
                <a:cs typeface="Calibri" pitchFamily="34" charset="-120"/>
              </a:rPr>
              <a:t>🗄️  Auto-created SQLite database</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128016"/>
          </a:xfrm>
          <a:prstGeom prst="rect">
            <a:avLst/>
          </a:prstGeom>
          <a:solidFill>
            <a:srgbClr val="F5A623"/>
          </a:solidFill>
          <a:ln w="12700">
            <a:solidFill>
              <a:srgbClr val="F5A623"/>
            </a:solidFill>
            <a:prstDash val="solid"/>
          </a:ln>
        </p:spPr>
      </p:sp>
      <p:sp>
        <p:nvSpPr>
          <p:cNvPr id="3" name="Shape 1"/>
          <p:cNvSpPr/>
          <p:nvPr/>
        </p:nvSpPr>
        <p:spPr>
          <a:xfrm>
            <a:off x="0" y="4974336"/>
            <a:ext cx="9144000" cy="169164"/>
          </a:xfrm>
          <a:prstGeom prst="rect">
            <a:avLst/>
          </a:prstGeom>
          <a:solidFill>
            <a:srgbClr val="0D7C66"/>
          </a:solidFill>
          <a:ln w="12700">
            <a:solidFill>
              <a:srgbClr val="0D7C66"/>
            </a:solidFill>
            <a:prstDash val="solid"/>
          </a:ln>
        </p:spPr>
      </p:sp>
      <p:sp>
        <p:nvSpPr>
          <p:cNvPr id="4" name="Text 2"/>
          <p:cNvSpPr/>
          <p:nvPr/>
        </p:nvSpPr>
        <p:spPr>
          <a:xfrm>
            <a:off x="411480" y="182880"/>
            <a:ext cx="8321040" cy="566928"/>
          </a:xfrm>
          <a:prstGeom prst="rect">
            <a:avLst/>
          </a:prstGeom>
          <a:noFill/>
          <a:ln/>
        </p:spPr>
        <p:txBody>
          <a:bodyPr wrap="square" rtlCol="0" anchor="ctr"/>
          <a:lstStyle/>
          <a:p>
            <a:pPr indent="0" marL="0">
              <a:buNone/>
            </a:pPr>
            <a:r>
              <a:rPr lang="en-US" sz="2600" b="1" dirty="0">
                <a:solidFill>
                  <a:srgbClr val="FFFFFF"/>
                </a:solidFill>
                <a:latin typeface="Arial Black" pitchFamily="34" charset="0"/>
                <a:ea typeface="Arial Black" pitchFamily="34" charset="-122"/>
                <a:cs typeface="Arial Black" pitchFamily="34" charset="-120"/>
              </a:rPr>
              <a:t>Three Data Sources Power Every Prediction</a:t>
            </a:r>
            <a:endParaRPr lang="en-US" sz="2600" dirty="0"/>
          </a:p>
        </p:txBody>
      </p:sp>
      <p:sp>
        <p:nvSpPr>
          <p:cNvPr id="5" name="Text 3"/>
          <p:cNvSpPr/>
          <p:nvPr/>
        </p:nvSpPr>
        <p:spPr>
          <a:xfrm>
            <a:off x="411480" y="749808"/>
            <a:ext cx="8321040" cy="292608"/>
          </a:xfrm>
          <a:prstGeom prst="rect">
            <a:avLst/>
          </a:prstGeom>
          <a:noFill/>
          <a:ln/>
        </p:spPr>
        <p:txBody>
          <a:bodyPr wrap="square" rtlCol="0" anchor="ctr"/>
          <a:lstStyle/>
          <a:p>
            <a:pPr indent="0" marL="0">
              <a:buNone/>
            </a:pPr>
            <a:r>
              <a:rPr lang="en-US" sz="1100" i="1" dirty="0">
                <a:solidFill>
                  <a:srgbClr val="7A9CBB"/>
                </a:solidFill>
                <a:latin typeface="Calibri" pitchFamily="34" charset="0"/>
                <a:ea typeface="Calibri" pitchFamily="34" charset="-122"/>
                <a:cs typeface="Calibri" pitchFamily="34" charset="-120"/>
              </a:rPr>
              <a:t>All data comes from nflverse via nflreadpy (official replacement for deprecated nfl_data_py, Sep 2025). Cached as Parquet — first run downloads, every run after loads in seconds.</a:t>
            </a:r>
            <a:endParaRPr lang="en-US" sz="1100" dirty="0"/>
          </a:p>
        </p:txBody>
      </p:sp>
      <p:sp>
        <p:nvSpPr>
          <p:cNvPr id="6" name="Shape 4"/>
          <p:cNvSpPr/>
          <p:nvPr/>
        </p:nvSpPr>
        <p:spPr>
          <a:xfrm>
            <a:off x="320040" y="1115568"/>
            <a:ext cx="2743200" cy="3694176"/>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320040" y="1115568"/>
            <a:ext cx="2743200" cy="64008"/>
          </a:xfrm>
          <a:prstGeom prst="rect">
            <a:avLst/>
          </a:prstGeom>
          <a:solidFill>
            <a:srgbClr val="0D7C66"/>
          </a:solidFill>
          <a:ln w="12700">
            <a:solidFill>
              <a:srgbClr val="0D7C66"/>
            </a:solidFill>
            <a:prstDash val="solid"/>
          </a:ln>
        </p:spPr>
      </p:sp>
      <p:sp>
        <p:nvSpPr>
          <p:cNvPr id="8" name="Text 6"/>
          <p:cNvSpPr/>
          <p:nvPr/>
        </p:nvSpPr>
        <p:spPr>
          <a:xfrm>
            <a:off x="320040" y="1207008"/>
            <a:ext cx="2743200" cy="402336"/>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9" name="Text 7"/>
          <p:cNvSpPr/>
          <p:nvPr/>
        </p:nvSpPr>
        <p:spPr>
          <a:xfrm>
            <a:off x="411480" y="1627632"/>
            <a:ext cx="2560320" cy="292608"/>
          </a:xfrm>
          <a:prstGeom prst="rect">
            <a:avLst/>
          </a:prstGeom>
          <a:noFill/>
          <a:ln/>
        </p:spPr>
        <p:txBody>
          <a:bodyPr wrap="square" rtlCol="0" anchor="ctr"/>
          <a:lstStyle/>
          <a:p>
            <a:pPr algn="ctr" indent="0" marL="0">
              <a:buNone/>
            </a:pPr>
            <a:r>
              <a:rPr lang="en-US" sz="1250" b="1" dirty="0">
                <a:solidFill>
                  <a:srgbClr val="FFFFFF"/>
                </a:solidFill>
                <a:latin typeface="Arial Black" pitchFamily="34" charset="0"/>
                <a:ea typeface="Arial Black" pitchFamily="34" charset="-122"/>
                <a:cs typeface="Arial Black" pitchFamily="34" charset="-120"/>
              </a:rPr>
              <a:t>Game Play-by-Play</a:t>
            </a:r>
            <a:endParaRPr lang="en-US" sz="1250" dirty="0"/>
          </a:p>
        </p:txBody>
      </p:sp>
      <p:sp>
        <p:nvSpPr>
          <p:cNvPr id="10" name="Text 8"/>
          <p:cNvSpPr/>
          <p:nvPr/>
        </p:nvSpPr>
        <p:spPr>
          <a:xfrm>
            <a:off x="411480" y="1920240"/>
            <a:ext cx="2560320" cy="201168"/>
          </a:xfrm>
          <a:prstGeom prst="rect">
            <a:avLst/>
          </a:prstGeom>
          <a:noFill/>
          <a:ln/>
        </p:spPr>
        <p:txBody>
          <a:bodyPr wrap="square" rtlCol="0" anchor="ctr"/>
          <a:lstStyle/>
          <a:p>
            <a:pPr algn="ctr" indent="0" marL="0">
              <a:buNone/>
            </a:pPr>
            <a:r>
              <a:rPr lang="en-US" sz="950" i="1" dirty="0">
                <a:solidFill>
                  <a:srgbClr val="0D7C66"/>
                </a:solidFill>
                <a:latin typeface="Calibri" pitchFamily="34" charset="0"/>
                <a:ea typeface="Calibri" pitchFamily="34" charset="-122"/>
                <a:cs typeface="Calibri" pitchFamily="34" charset="-120"/>
              </a:rPr>
              <a:t>373,381 plays  ·  11 seasons</a:t>
            </a:r>
            <a:endParaRPr lang="en-US" sz="950" dirty="0"/>
          </a:p>
        </p:txBody>
      </p:sp>
      <p:sp>
        <p:nvSpPr>
          <p:cNvPr id="11" name="Text 9"/>
          <p:cNvSpPr/>
          <p:nvPr/>
        </p:nvSpPr>
        <p:spPr>
          <a:xfrm>
            <a:off x="429768" y="2157984"/>
            <a:ext cx="2523744" cy="310896"/>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  EPA per play — Expected Points Added measures how much each play changed the expected score</a:t>
            </a:r>
            <a:endParaRPr lang="en-US" sz="950" dirty="0"/>
          </a:p>
        </p:txBody>
      </p:sp>
      <p:sp>
        <p:nvSpPr>
          <p:cNvPr id="12" name="Text 10"/>
          <p:cNvSpPr/>
          <p:nvPr/>
        </p:nvSpPr>
        <p:spPr>
          <a:xfrm>
            <a:off x="429768" y="2505456"/>
            <a:ext cx="2523744" cy="310896"/>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  Pass EPA and rush EPA computed separately to distinguish passing vs rushing offenses</a:t>
            </a:r>
            <a:endParaRPr lang="en-US" sz="950" dirty="0"/>
          </a:p>
        </p:txBody>
      </p:sp>
      <p:sp>
        <p:nvSpPr>
          <p:cNvPr id="13" name="Text 11"/>
          <p:cNvSpPr/>
          <p:nvPr/>
        </p:nvSpPr>
        <p:spPr>
          <a:xfrm>
            <a:off x="429768" y="2852928"/>
            <a:ext cx="2523744" cy="310896"/>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  Turnover margin per game — teams winning the turnover battle win ~80% of games</a:t>
            </a:r>
            <a:endParaRPr lang="en-US" sz="950" dirty="0"/>
          </a:p>
        </p:txBody>
      </p:sp>
      <p:sp>
        <p:nvSpPr>
          <p:cNvPr id="14" name="Text 12"/>
          <p:cNvSpPr/>
          <p:nvPr/>
        </p:nvSpPr>
        <p:spPr>
          <a:xfrm>
            <a:off x="429768" y="3200400"/>
            <a:ext cx="2523744" cy="310896"/>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  Sack rate and 3rd down conversion rate for offensive line and efficiency metrics</a:t>
            </a:r>
            <a:endParaRPr lang="en-US" sz="950" dirty="0"/>
          </a:p>
        </p:txBody>
      </p:sp>
      <p:sp>
        <p:nvSpPr>
          <p:cNvPr id="15" name="Text 13"/>
          <p:cNvSpPr/>
          <p:nvPr/>
        </p:nvSpPr>
        <p:spPr>
          <a:xfrm>
            <a:off x="429768" y="3547872"/>
            <a:ext cx="2523744" cy="310896"/>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  Quarter-by-quarter scoring for the Q1-Q4 EPA analysis page</a:t>
            </a:r>
            <a:endParaRPr lang="en-US" sz="950" dirty="0"/>
          </a:p>
        </p:txBody>
      </p:sp>
      <p:sp>
        <p:nvSpPr>
          <p:cNvPr id="16" name="Shape 14"/>
          <p:cNvSpPr/>
          <p:nvPr/>
        </p:nvSpPr>
        <p:spPr>
          <a:xfrm>
            <a:off x="3264408" y="1115568"/>
            <a:ext cx="2743200" cy="3694176"/>
          </a:xfrm>
          <a:prstGeom prst="rect">
            <a:avLst/>
          </a:prstGeom>
          <a:solidFill>
            <a:srgbClr val="132A47"/>
          </a:solidFill>
          <a:ln w="12700">
            <a:solidFill>
              <a:srgbClr val="F5A623"/>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3264408" y="1115568"/>
            <a:ext cx="2743200" cy="64008"/>
          </a:xfrm>
          <a:prstGeom prst="rect">
            <a:avLst/>
          </a:prstGeom>
          <a:solidFill>
            <a:srgbClr val="F5A623"/>
          </a:solidFill>
          <a:ln w="12700">
            <a:solidFill>
              <a:srgbClr val="F5A623"/>
            </a:solidFill>
            <a:prstDash val="solid"/>
          </a:ln>
        </p:spPr>
      </p:sp>
      <p:sp>
        <p:nvSpPr>
          <p:cNvPr id="18" name="Text 16"/>
          <p:cNvSpPr/>
          <p:nvPr/>
        </p:nvSpPr>
        <p:spPr>
          <a:xfrm>
            <a:off x="3264408" y="1207008"/>
            <a:ext cx="2743200" cy="402336"/>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9" name="Text 17"/>
          <p:cNvSpPr/>
          <p:nvPr/>
        </p:nvSpPr>
        <p:spPr>
          <a:xfrm>
            <a:off x="3355848" y="1627632"/>
            <a:ext cx="2560320" cy="292608"/>
          </a:xfrm>
          <a:prstGeom prst="rect">
            <a:avLst/>
          </a:prstGeom>
          <a:noFill/>
          <a:ln/>
        </p:spPr>
        <p:txBody>
          <a:bodyPr wrap="square" rtlCol="0" anchor="ctr"/>
          <a:lstStyle/>
          <a:p>
            <a:pPr algn="ctr" indent="0" marL="0">
              <a:buNone/>
            </a:pPr>
            <a:r>
              <a:rPr lang="en-US" sz="1250" b="1" dirty="0">
                <a:solidFill>
                  <a:srgbClr val="FFFFFF"/>
                </a:solidFill>
                <a:latin typeface="Arial Black" pitchFamily="34" charset="0"/>
                <a:ea typeface="Arial Black" pitchFamily="34" charset="-122"/>
                <a:cs typeface="Arial Black" pitchFamily="34" charset="-120"/>
              </a:rPr>
              <a:t>Injury Reports</a:t>
            </a:r>
            <a:endParaRPr lang="en-US" sz="1250" dirty="0"/>
          </a:p>
        </p:txBody>
      </p:sp>
      <p:sp>
        <p:nvSpPr>
          <p:cNvPr id="20" name="Text 18"/>
          <p:cNvSpPr/>
          <p:nvPr/>
        </p:nvSpPr>
        <p:spPr>
          <a:xfrm>
            <a:off x="3355848" y="1920240"/>
            <a:ext cx="2560320" cy="201168"/>
          </a:xfrm>
          <a:prstGeom prst="rect">
            <a:avLst/>
          </a:prstGeom>
          <a:noFill/>
          <a:ln/>
        </p:spPr>
        <p:txBody>
          <a:bodyPr wrap="square" rtlCol="0" anchor="ctr"/>
          <a:lstStyle/>
          <a:p>
            <a:pPr algn="ctr" indent="0" marL="0">
              <a:buNone/>
            </a:pPr>
            <a:r>
              <a:rPr lang="en-US" sz="950" i="1" dirty="0">
                <a:solidFill>
                  <a:srgbClr val="F5A623"/>
                </a:solidFill>
                <a:latin typeface="Calibri" pitchFamily="34" charset="0"/>
                <a:ea typeface="Calibri" pitchFamily="34" charset="-122"/>
                <a:cs typeface="Calibri" pitchFamily="34" charset="-120"/>
              </a:rPr>
              <a:t>60,788 records  ·  weekly</a:t>
            </a:r>
            <a:endParaRPr lang="en-US" sz="950" dirty="0"/>
          </a:p>
        </p:txBody>
      </p:sp>
      <p:sp>
        <p:nvSpPr>
          <p:cNvPr id="21" name="Text 19"/>
          <p:cNvSpPr/>
          <p:nvPr/>
        </p:nvSpPr>
        <p:spPr>
          <a:xfrm>
            <a:off x="3374136" y="2157984"/>
            <a:ext cx="2523744" cy="310896"/>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  Position-weighted impact score — QB Out counts 3.5× more than a lineman injured</a:t>
            </a:r>
            <a:endParaRPr lang="en-US" sz="950" dirty="0"/>
          </a:p>
        </p:txBody>
      </p:sp>
      <p:sp>
        <p:nvSpPr>
          <p:cNvPr id="22" name="Text 20"/>
          <p:cNvSpPr/>
          <p:nvPr/>
        </p:nvSpPr>
        <p:spPr>
          <a:xfrm>
            <a:off x="3374136" y="2505456"/>
            <a:ext cx="2523744" cy="310896"/>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  QB Out/Doubtful binary flag because QB quality is the single biggest individual predictor</a:t>
            </a:r>
            <a:endParaRPr lang="en-US" sz="950" dirty="0"/>
          </a:p>
        </p:txBody>
      </p:sp>
      <p:sp>
        <p:nvSpPr>
          <p:cNvPr id="23" name="Text 21"/>
          <p:cNvSpPr/>
          <p:nvPr/>
        </p:nvSpPr>
        <p:spPr>
          <a:xfrm>
            <a:off x="3374136" y="2852928"/>
            <a:ext cx="2523744" cy="310896"/>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  Skill position count — losing two WRs compounds, it is not just the sum of parts</a:t>
            </a:r>
            <a:endParaRPr lang="en-US" sz="950" dirty="0"/>
          </a:p>
        </p:txBody>
      </p:sp>
      <p:sp>
        <p:nvSpPr>
          <p:cNvPr id="24" name="Text 22"/>
          <p:cNvSpPr/>
          <p:nvPr/>
        </p:nvSpPr>
        <p:spPr>
          <a:xfrm>
            <a:off x="3374136" y="3200400"/>
            <a:ext cx="2523744" cy="310896"/>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  Weekly timeline so injury burden updates game by game, not just season totals</a:t>
            </a:r>
            <a:endParaRPr lang="en-US" sz="950" dirty="0"/>
          </a:p>
        </p:txBody>
      </p:sp>
      <p:sp>
        <p:nvSpPr>
          <p:cNvPr id="25" name="Text 23"/>
          <p:cNvSpPr/>
          <p:nvPr/>
        </p:nvSpPr>
        <p:spPr>
          <a:xfrm>
            <a:off x="3374136" y="3547872"/>
            <a:ext cx="2523744" cy="310896"/>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  Severity mapped from report_status: Out=1.0, Doubtful=0.75, Questionable=0.40</a:t>
            </a:r>
            <a:endParaRPr lang="en-US" sz="950" dirty="0"/>
          </a:p>
        </p:txBody>
      </p:sp>
      <p:sp>
        <p:nvSpPr>
          <p:cNvPr id="26" name="Shape 24"/>
          <p:cNvSpPr/>
          <p:nvPr/>
        </p:nvSpPr>
        <p:spPr>
          <a:xfrm>
            <a:off x="6208776" y="1115568"/>
            <a:ext cx="2743200" cy="3694176"/>
          </a:xfrm>
          <a:prstGeom prst="rect">
            <a:avLst/>
          </a:prstGeom>
          <a:solidFill>
            <a:srgbClr val="132A47"/>
          </a:solidFill>
          <a:ln w="12700">
            <a:solidFill>
              <a:srgbClr val="C8102E"/>
            </a:solidFill>
            <a:prstDash val="solid"/>
          </a:ln>
          <a:effectLst>
            <a:outerShdw sx="100000" sy="100000" kx="0" ky="0" algn="bl" rotWithShape="0" blurRad="101600" dist="38100" dir="8100000">
              <a:srgbClr val="000000">
                <a:alpha val="18000"/>
              </a:srgbClr>
            </a:outerShdw>
          </a:effectLst>
        </p:spPr>
      </p:sp>
      <p:sp>
        <p:nvSpPr>
          <p:cNvPr id="27" name="Shape 25"/>
          <p:cNvSpPr/>
          <p:nvPr/>
        </p:nvSpPr>
        <p:spPr>
          <a:xfrm>
            <a:off x="6208776" y="1115568"/>
            <a:ext cx="2743200" cy="64008"/>
          </a:xfrm>
          <a:prstGeom prst="rect">
            <a:avLst/>
          </a:prstGeom>
          <a:solidFill>
            <a:srgbClr val="C8102E"/>
          </a:solidFill>
          <a:ln w="12700">
            <a:solidFill>
              <a:srgbClr val="C8102E"/>
            </a:solidFill>
            <a:prstDash val="solid"/>
          </a:ln>
        </p:spPr>
      </p:sp>
      <p:sp>
        <p:nvSpPr>
          <p:cNvPr id="28" name="Text 26"/>
          <p:cNvSpPr/>
          <p:nvPr/>
        </p:nvSpPr>
        <p:spPr>
          <a:xfrm>
            <a:off x="6208776" y="1207008"/>
            <a:ext cx="2743200" cy="402336"/>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9" name="Text 27"/>
          <p:cNvSpPr/>
          <p:nvPr/>
        </p:nvSpPr>
        <p:spPr>
          <a:xfrm>
            <a:off x="6300216" y="1627632"/>
            <a:ext cx="2560320" cy="292608"/>
          </a:xfrm>
          <a:prstGeom prst="rect">
            <a:avLst/>
          </a:prstGeom>
          <a:noFill/>
          <a:ln/>
        </p:spPr>
        <p:txBody>
          <a:bodyPr wrap="square" rtlCol="0" anchor="ctr"/>
          <a:lstStyle/>
          <a:p>
            <a:pPr algn="ctr" indent="0" marL="0">
              <a:buNone/>
            </a:pPr>
            <a:r>
              <a:rPr lang="en-US" sz="1250" b="1" dirty="0">
                <a:solidFill>
                  <a:srgbClr val="FFFFFF"/>
                </a:solidFill>
                <a:latin typeface="Arial Black" pitchFamily="34" charset="0"/>
                <a:ea typeface="Arial Black" pitchFamily="34" charset="-122"/>
                <a:cs typeface="Arial Black" pitchFamily="34" charset="-120"/>
              </a:rPr>
              <a:t>Draft &amp; Schedule</a:t>
            </a:r>
            <a:endParaRPr lang="en-US" sz="1250" dirty="0"/>
          </a:p>
        </p:txBody>
      </p:sp>
      <p:sp>
        <p:nvSpPr>
          <p:cNvPr id="30" name="Text 28"/>
          <p:cNvSpPr/>
          <p:nvPr/>
        </p:nvSpPr>
        <p:spPr>
          <a:xfrm>
            <a:off x="6300216" y="1920240"/>
            <a:ext cx="2560320" cy="201168"/>
          </a:xfrm>
          <a:prstGeom prst="rect">
            <a:avLst/>
          </a:prstGeom>
          <a:noFill/>
          <a:ln/>
        </p:spPr>
        <p:txBody>
          <a:bodyPr wrap="square" rtlCol="0" anchor="ctr"/>
          <a:lstStyle/>
          <a:p>
            <a:pPr algn="ctr" indent="0" marL="0">
              <a:buNone/>
            </a:pPr>
            <a:r>
              <a:rPr lang="en-US" sz="950" i="1" dirty="0">
                <a:solidFill>
                  <a:srgbClr val="C8102E"/>
                </a:solidFill>
                <a:latin typeface="Calibri" pitchFamily="34" charset="0"/>
                <a:ea typeface="Calibri" pitchFamily="34" charset="-122"/>
                <a:cs typeface="Calibri" pitchFamily="34" charset="-120"/>
              </a:rPr>
              <a:t>2,821 picks  ·  3,028 games</a:t>
            </a:r>
            <a:endParaRPr lang="en-US" sz="950" dirty="0"/>
          </a:p>
        </p:txBody>
      </p:sp>
      <p:sp>
        <p:nvSpPr>
          <p:cNvPr id="31" name="Text 29"/>
          <p:cNvSpPr/>
          <p:nvPr/>
        </p:nvSpPr>
        <p:spPr>
          <a:xfrm>
            <a:off x="6318504" y="2157984"/>
            <a:ext cx="2523744" cy="310896"/>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  Talent score by pick number — top-5 pick = 1.0, pick 100+ = 0.15</a:t>
            </a:r>
            <a:endParaRPr lang="en-US" sz="950" dirty="0"/>
          </a:p>
        </p:txBody>
      </p:sp>
      <p:sp>
        <p:nvSpPr>
          <p:cNvPr id="32" name="Text 30"/>
          <p:cNvSpPr/>
          <p:nvPr/>
        </p:nvSpPr>
        <p:spPr>
          <a:xfrm>
            <a:off x="6318504" y="2505456"/>
            <a:ext cx="2523744" cy="310896"/>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  Draft class quality aggregated per team per season — one score captures the whole class</a:t>
            </a:r>
            <a:endParaRPr lang="en-US" sz="950" dirty="0"/>
          </a:p>
        </p:txBody>
      </p:sp>
      <p:sp>
        <p:nvSpPr>
          <p:cNvPr id="33" name="Text 31"/>
          <p:cNvSpPr/>
          <p:nvPr/>
        </p:nvSpPr>
        <p:spPr>
          <a:xfrm>
            <a:off x="6318504" y="2852928"/>
            <a:ext cx="2523744" cy="310896"/>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  Year-over-year EPA improvement to see if the draft investment actually paid off</a:t>
            </a:r>
            <a:endParaRPr lang="en-US" sz="950" dirty="0"/>
          </a:p>
        </p:txBody>
      </p:sp>
      <p:sp>
        <p:nvSpPr>
          <p:cNvPr id="34" name="Text 32"/>
          <p:cNvSpPr/>
          <p:nvPr/>
        </p:nvSpPr>
        <p:spPr>
          <a:xfrm>
            <a:off x="6318504" y="3200400"/>
            <a:ext cx="2523744" cy="310896"/>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  Home/away context because home field is worth roughly +65 ELO points per game</a:t>
            </a:r>
            <a:endParaRPr lang="en-US" sz="950" dirty="0"/>
          </a:p>
        </p:txBody>
      </p:sp>
      <p:sp>
        <p:nvSpPr>
          <p:cNvPr id="35" name="Text 33"/>
          <p:cNvSpPr/>
          <p:nvPr/>
        </p:nvSpPr>
        <p:spPr>
          <a:xfrm>
            <a:off x="6318504" y="3547872"/>
            <a:ext cx="2523744" cy="310896"/>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  Historical win/loss outcomes — the target variable the model learns to predict</a:t>
            </a:r>
            <a:endParaRPr lang="en-US" sz="950" dirty="0"/>
          </a:p>
        </p:txBody>
      </p:sp>
      <p:sp>
        <p:nvSpPr>
          <p:cNvPr id="36" name="Text 34"/>
          <p:cNvSpPr/>
          <p:nvPr/>
        </p:nvSpPr>
        <p:spPr>
          <a:xfrm>
            <a:off x="457200" y="4974336"/>
            <a:ext cx="8229600" cy="169164"/>
          </a:xfrm>
          <a:prstGeom prst="rect">
            <a:avLst/>
          </a:prstGeom>
          <a:noFill/>
          <a:ln/>
        </p:spPr>
        <p:txBody>
          <a:bodyPr wrap="square" rtlCol="0" anchor="ctr"/>
          <a:lstStyle/>
          <a:p>
            <a:pPr algn="ctr" indent="0" marL="0">
              <a:buNone/>
            </a:pPr>
            <a:r>
              <a:rPr lang="en-US" sz="950" dirty="0">
                <a:solidFill>
                  <a:srgbClr val="FFFFFF"/>
                </a:solidFill>
                <a:latin typeface="Consolas" pitchFamily="34" charset="0"/>
                <a:ea typeface="Consolas" pitchFamily="34" charset="-122"/>
                <a:cs typeface="Consolas" pitchFamily="34" charset="-120"/>
              </a:rPr>
              <a:t>nflverse / nflreadpy  ·  Seasons 2015–2025  ·  Parquet cache = instant reload after first run</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128016"/>
          </a:xfrm>
          <a:prstGeom prst="rect">
            <a:avLst/>
          </a:prstGeom>
          <a:solidFill>
            <a:srgbClr val="F5A623"/>
          </a:solidFill>
          <a:ln w="12700">
            <a:solidFill>
              <a:srgbClr val="F5A623"/>
            </a:solidFill>
            <a:prstDash val="solid"/>
          </a:ln>
        </p:spPr>
      </p:sp>
      <p:sp>
        <p:nvSpPr>
          <p:cNvPr id="3" name="Shape 1"/>
          <p:cNvSpPr/>
          <p:nvPr/>
        </p:nvSpPr>
        <p:spPr>
          <a:xfrm>
            <a:off x="0" y="4974336"/>
            <a:ext cx="9144000" cy="169164"/>
          </a:xfrm>
          <a:prstGeom prst="rect">
            <a:avLst/>
          </a:prstGeom>
          <a:solidFill>
            <a:srgbClr val="0D7C66"/>
          </a:solidFill>
          <a:ln w="12700">
            <a:solidFill>
              <a:srgbClr val="0D7C66"/>
            </a:solidFill>
            <a:prstDash val="solid"/>
          </a:ln>
        </p:spPr>
      </p:sp>
      <p:sp>
        <p:nvSpPr>
          <p:cNvPr id="4" name="Text 2"/>
          <p:cNvSpPr/>
          <p:nvPr/>
        </p:nvSpPr>
        <p:spPr>
          <a:xfrm>
            <a:off x="411480" y="182880"/>
            <a:ext cx="8321040" cy="566928"/>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5-Layer Model Stack</a:t>
            </a:r>
            <a:endParaRPr lang="en-US" sz="3000" dirty="0"/>
          </a:p>
        </p:txBody>
      </p:sp>
      <p:sp>
        <p:nvSpPr>
          <p:cNvPr id="5" name="Text 3"/>
          <p:cNvSpPr/>
          <p:nvPr/>
        </p:nvSpPr>
        <p:spPr>
          <a:xfrm>
            <a:off x="411480" y="749808"/>
            <a:ext cx="8321040" cy="256032"/>
          </a:xfrm>
          <a:prstGeom prst="rect">
            <a:avLst/>
          </a:prstGeom>
          <a:noFill/>
          <a:ln/>
        </p:spPr>
        <p:txBody>
          <a:bodyPr wrap="square" rtlCol="0" anchor="ctr"/>
          <a:lstStyle/>
          <a:p>
            <a:pPr indent="0" marL="0">
              <a:buNone/>
            </a:pPr>
            <a:r>
              <a:rPr lang="en-US" sz="1200" i="1" dirty="0">
                <a:solidFill>
                  <a:srgbClr val="7A9CBB"/>
                </a:solidFill>
                <a:latin typeface="Calibri" pitchFamily="34" charset="0"/>
                <a:ea typeface="Calibri" pitchFamily="34" charset="-122"/>
                <a:cs typeface="Calibri" pitchFamily="34" charset="-120"/>
              </a:rPr>
              <a:t>Each layer solves one specific problem. They are designed to work together, not independently.</a:t>
            </a:r>
            <a:endParaRPr lang="en-US" sz="1200" dirty="0"/>
          </a:p>
        </p:txBody>
      </p:sp>
      <p:sp>
        <p:nvSpPr>
          <p:cNvPr id="6" name="Shape 4"/>
          <p:cNvSpPr/>
          <p:nvPr/>
        </p:nvSpPr>
        <p:spPr>
          <a:xfrm>
            <a:off x="347472" y="1097280"/>
            <a:ext cx="566928" cy="566928"/>
          </a:xfrm>
          <a:prstGeom prst="ellipse">
            <a:avLst/>
          </a:prstGeom>
          <a:solidFill>
            <a:srgbClr val="0D7C66"/>
          </a:solidFill>
          <a:ln w="12700">
            <a:solidFill>
              <a:srgbClr val="0D7C66"/>
            </a:solidFill>
            <a:prstDash val="solid"/>
          </a:ln>
        </p:spPr>
      </p:sp>
      <p:sp>
        <p:nvSpPr>
          <p:cNvPr id="7" name="Text 5"/>
          <p:cNvSpPr/>
          <p:nvPr/>
        </p:nvSpPr>
        <p:spPr>
          <a:xfrm>
            <a:off x="347472" y="1097280"/>
            <a:ext cx="566928" cy="566928"/>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1</a:t>
            </a:r>
            <a:endParaRPr lang="en-US" sz="2000" dirty="0"/>
          </a:p>
        </p:txBody>
      </p:sp>
      <p:sp>
        <p:nvSpPr>
          <p:cNvPr id="8" name="Shape 6"/>
          <p:cNvSpPr/>
          <p:nvPr/>
        </p:nvSpPr>
        <p:spPr>
          <a:xfrm>
            <a:off x="1005840" y="1005840"/>
            <a:ext cx="7772400" cy="731520"/>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9" name="Shape 7"/>
          <p:cNvSpPr/>
          <p:nvPr/>
        </p:nvSpPr>
        <p:spPr>
          <a:xfrm>
            <a:off x="1005840" y="1005840"/>
            <a:ext cx="64008" cy="731520"/>
          </a:xfrm>
          <a:prstGeom prst="rect">
            <a:avLst/>
          </a:prstGeom>
          <a:solidFill>
            <a:srgbClr val="0D7C66"/>
          </a:solidFill>
          <a:ln w="12700">
            <a:solidFill>
              <a:srgbClr val="0D7C66"/>
            </a:solidFill>
            <a:prstDash val="solid"/>
          </a:ln>
        </p:spPr>
      </p:sp>
      <p:sp>
        <p:nvSpPr>
          <p:cNvPr id="10" name="Text 8"/>
          <p:cNvSpPr/>
          <p:nvPr/>
        </p:nvSpPr>
        <p:spPr>
          <a:xfrm>
            <a:off x="1188720" y="1069848"/>
            <a:ext cx="3657600" cy="274320"/>
          </a:xfrm>
          <a:prstGeom prst="rect">
            <a:avLst/>
          </a:prstGeom>
          <a:noFill/>
          <a:ln/>
        </p:spPr>
        <p:txBody>
          <a:bodyPr wrap="square" rtlCol="0" anchor="ctr"/>
          <a:lstStyle/>
          <a:p>
            <a:pPr indent="0" marL="0">
              <a:buNone/>
            </a:pPr>
            <a:r>
              <a:rPr lang="en-US" sz="1450" b="1" dirty="0">
                <a:solidFill>
                  <a:srgbClr val="FFFFFF"/>
                </a:solidFill>
                <a:latin typeface="Arial Black" pitchFamily="34" charset="0"/>
                <a:ea typeface="Arial Black" pitchFamily="34" charset="-122"/>
                <a:cs typeface="Arial Black" pitchFamily="34" charset="-120"/>
              </a:rPr>
              <a:t>ELO Rating System</a:t>
            </a:r>
            <a:endParaRPr lang="en-US" sz="1450" dirty="0"/>
          </a:p>
        </p:txBody>
      </p:sp>
      <p:sp>
        <p:nvSpPr>
          <p:cNvPr id="11" name="Text 9"/>
          <p:cNvSpPr/>
          <p:nvPr/>
        </p:nvSpPr>
        <p:spPr>
          <a:xfrm>
            <a:off x="1188720" y="1389888"/>
            <a:ext cx="7406640" cy="274320"/>
          </a:xfrm>
          <a:prstGeom prst="rect">
            <a:avLst/>
          </a:prstGeom>
          <a:noFill/>
          <a:ln/>
        </p:spPr>
        <p:txBody>
          <a:bodyPr wrap="square" rtlCol="0" anchor="ctr"/>
          <a:lstStyle/>
          <a:p>
            <a:pPr indent="0" marL="0">
              <a:buNone/>
            </a:pPr>
            <a:r>
              <a:rPr lang="en-US" sz="1150" dirty="0">
                <a:solidFill>
                  <a:srgbClr val="E8EEF4"/>
                </a:solidFill>
                <a:latin typeface="Calibri" pitchFamily="34" charset="0"/>
                <a:ea typeface="Calibri" pitchFamily="34" charset="-122"/>
                <a:cs typeface="Calibri" pitchFamily="34" charset="-120"/>
              </a:rPr>
              <a:t>Gives every team a quality score that survives the offseason — solves the Week-1 cold-start problem completely</a:t>
            </a:r>
            <a:endParaRPr lang="en-US" sz="1150" dirty="0"/>
          </a:p>
        </p:txBody>
      </p:sp>
      <p:sp>
        <p:nvSpPr>
          <p:cNvPr id="12" name="Shape 10"/>
          <p:cNvSpPr/>
          <p:nvPr/>
        </p:nvSpPr>
        <p:spPr>
          <a:xfrm>
            <a:off x="347472" y="1892808"/>
            <a:ext cx="566928" cy="566928"/>
          </a:xfrm>
          <a:prstGeom prst="ellipse">
            <a:avLst/>
          </a:prstGeom>
          <a:solidFill>
            <a:srgbClr val="1A7BAF"/>
          </a:solidFill>
          <a:ln w="12700">
            <a:solidFill>
              <a:srgbClr val="1A7BAF"/>
            </a:solidFill>
            <a:prstDash val="solid"/>
          </a:ln>
        </p:spPr>
      </p:sp>
      <p:sp>
        <p:nvSpPr>
          <p:cNvPr id="13" name="Text 11"/>
          <p:cNvSpPr/>
          <p:nvPr/>
        </p:nvSpPr>
        <p:spPr>
          <a:xfrm>
            <a:off x="347472" y="1892808"/>
            <a:ext cx="566928" cy="566928"/>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2</a:t>
            </a:r>
            <a:endParaRPr lang="en-US" sz="2000" dirty="0"/>
          </a:p>
        </p:txBody>
      </p:sp>
      <p:sp>
        <p:nvSpPr>
          <p:cNvPr id="14" name="Shape 12"/>
          <p:cNvSpPr/>
          <p:nvPr/>
        </p:nvSpPr>
        <p:spPr>
          <a:xfrm>
            <a:off x="1005840" y="1801368"/>
            <a:ext cx="7772400" cy="731520"/>
          </a:xfrm>
          <a:prstGeom prst="rect">
            <a:avLst/>
          </a:prstGeom>
          <a:solidFill>
            <a:srgbClr val="132A47"/>
          </a:solidFill>
          <a:ln w="12700">
            <a:solidFill>
              <a:srgbClr val="1A7BAF"/>
            </a:solidFill>
            <a:prstDash val="solid"/>
          </a:ln>
          <a:effectLst>
            <a:outerShdw sx="100000" sy="100000" kx="0" ky="0" algn="bl" rotWithShape="0" blurRad="101600" dist="38100" dir="8100000">
              <a:srgbClr val="000000">
                <a:alpha val="18000"/>
              </a:srgbClr>
            </a:outerShdw>
          </a:effectLst>
        </p:spPr>
      </p:sp>
      <p:sp>
        <p:nvSpPr>
          <p:cNvPr id="15" name="Shape 13"/>
          <p:cNvSpPr/>
          <p:nvPr/>
        </p:nvSpPr>
        <p:spPr>
          <a:xfrm>
            <a:off x="1005840" y="1801368"/>
            <a:ext cx="64008" cy="731520"/>
          </a:xfrm>
          <a:prstGeom prst="rect">
            <a:avLst/>
          </a:prstGeom>
          <a:solidFill>
            <a:srgbClr val="1A7BAF"/>
          </a:solidFill>
          <a:ln w="12700">
            <a:solidFill>
              <a:srgbClr val="1A7BAF"/>
            </a:solidFill>
            <a:prstDash val="solid"/>
          </a:ln>
        </p:spPr>
      </p:sp>
      <p:sp>
        <p:nvSpPr>
          <p:cNvPr id="16" name="Text 14"/>
          <p:cNvSpPr/>
          <p:nvPr/>
        </p:nvSpPr>
        <p:spPr>
          <a:xfrm>
            <a:off x="1188720" y="1865376"/>
            <a:ext cx="3657600" cy="274320"/>
          </a:xfrm>
          <a:prstGeom prst="rect">
            <a:avLst/>
          </a:prstGeom>
          <a:noFill/>
          <a:ln/>
        </p:spPr>
        <p:txBody>
          <a:bodyPr wrap="square" rtlCol="0" anchor="ctr"/>
          <a:lstStyle/>
          <a:p>
            <a:pPr indent="0" marL="0">
              <a:buNone/>
            </a:pPr>
            <a:r>
              <a:rPr lang="en-US" sz="1450" b="1" dirty="0">
                <a:solidFill>
                  <a:srgbClr val="FFFFFF"/>
                </a:solidFill>
                <a:latin typeface="Arial Black" pitchFamily="34" charset="0"/>
                <a:ea typeface="Arial Black" pitchFamily="34" charset="-122"/>
                <a:cs typeface="Arial Black" pitchFamily="34" charset="-120"/>
              </a:rPr>
              <a:t>Feature Engineering</a:t>
            </a:r>
            <a:endParaRPr lang="en-US" sz="1450" dirty="0"/>
          </a:p>
        </p:txBody>
      </p:sp>
      <p:sp>
        <p:nvSpPr>
          <p:cNvPr id="17" name="Text 15"/>
          <p:cNvSpPr/>
          <p:nvPr/>
        </p:nvSpPr>
        <p:spPr>
          <a:xfrm>
            <a:off x="1188720" y="2185416"/>
            <a:ext cx="7406640" cy="274320"/>
          </a:xfrm>
          <a:prstGeom prst="rect">
            <a:avLst/>
          </a:prstGeom>
          <a:noFill/>
          <a:ln/>
        </p:spPr>
        <p:txBody>
          <a:bodyPr wrap="square" rtlCol="0" anchor="ctr"/>
          <a:lstStyle/>
          <a:p>
            <a:pPr indent="0" marL="0">
              <a:buNone/>
            </a:pPr>
            <a:r>
              <a:rPr lang="en-US" sz="1150" dirty="0">
                <a:solidFill>
                  <a:srgbClr val="E8EEF4"/>
                </a:solidFill>
                <a:latin typeface="Calibri" pitchFamily="34" charset="0"/>
                <a:ea typeface="Calibri" pitchFamily="34" charset="-122"/>
                <a:cs typeface="Calibri" pitchFamily="34" charset="-120"/>
              </a:rPr>
              <a:t>Converts raw PBP, injury and draft data into 32 clean ML-ready numbers per game — with strict anti-leakage</a:t>
            </a:r>
            <a:endParaRPr lang="en-US" sz="1150" dirty="0"/>
          </a:p>
        </p:txBody>
      </p:sp>
      <p:sp>
        <p:nvSpPr>
          <p:cNvPr id="18" name="Shape 16"/>
          <p:cNvSpPr/>
          <p:nvPr/>
        </p:nvSpPr>
        <p:spPr>
          <a:xfrm>
            <a:off x="347472" y="2688336"/>
            <a:ext cx="566928" cy="566928"/>
          </a:xfrm>
          <a:prstGeom prst="ellipse">
            <a:avLst/>
          </a:prstGeom>
          <a:solidFill>
            <a:srgbClr val="7B4F9E"/>
          </a:solidFill>
          <a:ln w="12700">
            <a:solidFill>
              <a:srgbClr val="7B4F9E"/>
            </a:solidFill>
            <a:prstDash val="solid"/>
          </a:ln>
        </p:spPr>
      </p:sp>
      <p:sp>
        <p:nvSpPr>
          <p:cNvPr id="19" name="Text 17"/>
          <p:cNvSpPr/>
          <p:nvPr/>
        </p:nvSpPr>
        <p:spPr>
          <a:xfrm>
            <a:off x="347472" y="2688336"/>
            <a:ext cx="566928" cy="566928"/>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3</a:t>
            </a:r>
            <a:endParaRPr lang="en-US" sz="2000" dirty="0"/>
          </a:p>
        </p:txBody>
      </p:sp>
      <p:sp>
        <p:nvSpPr>
          <p:cNvPr id="20" name="Shape 18"/>
          <p:cNvSpPr/>
          <p:nvPr/>
        </p:nvSpPr>
        <p:spPr>
          <a:xfrm>
            <a:off x="1005840" y="2596896"/>
            <a:ext cx="7772400" cy="731520"/>
          </a:xfrm>
          <a:prstGeom prst="rect">
            <a:avLst/>
          </a:prstGeom>
          <a:solidFill>
            <a:srgbClr val="132A47"/>
          </a:solidFill>
          <a:ln w="12700">
            <a:solidFill>
              <a:srgbClr val="7B4F9E"/>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1005840" y="2596896"/>
            <a:ext cx="64008" cy="731520"/>
          </a:xfrm>
          <a:prstGeom prst="rect">
            <a:avLst/>
          </a:prstGeom>
          <a:solidFill>
            <a:srgbClr val="7B4F9E"/>
          </a:solidFill>
          <a:ln w="12700">
            <a:solidFill>
              <a:srgbClr val="7B4F9E"/>
            </a:solidFill>
            <a:prstDash val="solid"/>
          </a:ln>
        </p:spPr>
      </p:sp>
      <p:sp>
        <p:nvSpPr>
          <p:cNvPr id="22" name="Text 20"/>
          <p:cNvSpPr/>
          <p:nvPr/>
        </p:nvSpPr>
        <p:spPr>
          <a:xfrm>
            <a:off x="1188720" y="2660904"/>
            <a:ext cx="3657600" cy="274320"/>
          </a:xfrm>
          <a:prstGeom prst="rect">
            <a:avLst/>
          </a:prstGeom>
          <a:noFill/>
          <a:ln/>
        </p:spPr>
        <p:txBody>
          <a:bodyPr wrap="square" rtlCol="0" anchor="ctr"/>
          <a:lstStyle/>
          <a:p>
            <a:pPr indent="0" marL="0">
              <a:buNone/>
            </a:pPr>
            <a:r>
              <a:rPr lang="en-US" sz="1450" b="1" dirty="0">
                <a:solidFill>
                  <a:srgbClr val="FFFFFF"/>
                </a:solidFill>
                <a:latin typeface="Arial Black" pitchFamily="34" charset="0"/>
                <a:ea typeface="Arial Black" pitchFamily="34" charset="-122"/>
                <a:cs typeface="Arial Black" pitchFamily="34" charset="-120"/>
              </a:rPr>
              <a:t>XGBoost Win Probability</a:t>
            </a:r>
            <a:endParaRPr lang="en-US" sz="1450" dirty="0"/>
          </a:p>
        </p:txBody>
      </p:sp>
      <p:sp>
        <p:nvSpPr>
          <p:cNvPr id="23" name="Text 21"/>
          <p:cNvSpPr/>
          <p:nvPr/>
        </p:nvSpPr>
        <p:spPr>
          <a:xfrm>
            <a:off x="1188720" y="2980944"/>
            <a:ext cx="7406640" cy="274320"/>
          </a:xfrm>
          <a:prstGeom prst="rect">
            <a:avLst/>
          </a:prstGeom>
          <a:noFill/>
          <a:ln/>
        </p:spPr>
        <p:txBody>
          <a:bodyPr wrap="square" rtlCol="0" anchor="ctr"/>
          <a:lstStyle/>
          <a:p>
            <a:pPr indent="0" marL="0">
              <a:buNone/>
            </a:pPr>
            <a:r>
              <a:rPr lang="en-US" sz="1150" dirty="0">
                <a:solidFill>
                  <a:srgbClr val="E8EEF4"/>
                </a:solidFill>
                <a:latin typeface="Calibri" pitchFamily="34" charset="0"/>
                <a:ea typeface="Calibri" pitchFamily="34" charset="-122"/>
                <a:cs typeface="Calibri" pitchFamily="34" charset="-120"/>
              </a:rPr>
              <a:t>Learns from 2,227 historical games to output a calibrated win probability for any matchup, any week</a:t>
            </a:r>
            <a:endParaRPr lang="en-US" sz="1150" dirty="0"/>
          </a:p>
        </p:txBody>
      </p:sp>
      <p:sp>
        <p:nvSpPr>
          <p:cNvPr id="24" name="Shape 22"/>
          <p:cNvSpPr/>
          <p:nvPr/>
        </p:nvSpPr>
        <p:spPr>
          <a:xfrm>
            <a:off x="347472" y="3483864"/>
            <a:ext cx="566928" cy="566928"/>
          </a:xfrm>
          <a:prstGeom prst="ellipse">
            <a:avLst/>
          </a:prstGeom>
          <a:solidFill>
            <a:srgbClr val="D4821A"/>
          </a:solidFill>
          <a:ln w="12700">
            <a:solidFill>
              <a:srgbClr val="D4821A"/>
            </a:solidFill>
            <a:prstDash val="solid"/>
          </a:ln>
        </p:spPr>
      </p:sp>
      <p:sp>
        <p:nvSpPr>
          <p:cNvPr id="25" name="Text 23"/>
          <p:cNvSpPr/>
          <p:nvPr/>
        </p:nvSpPr>
        <p:spPr>
          <a:xfrm>
            <a:off x="347472" y="3483864"/>
            <a:ext cx="566928" cy="566928"/>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4</a:t>
            </a:r>
            <a:endParaRPr lang="en-US" sz="2000" dirty="0"/>
          </a:p>
        </p:txBody>
      </p:sp>
      <p:sp>
        <p:nvSpPr>
          <p:cNvPr id="26" name="Shape 24"/>
          <p:cNvSpPr/>
          <p:nvPr/>
        </p:nvSpPr>
        <p:spPr>
          <a:xfrm>
            <a:off x="1005840" y="3392424"/>
            <a:ext cx="7772400" cy="731520"/>
          </a:xfrm>
          <a:prstGeom prst="rect">
            <a:avLst/>
          </a:prstGeom>
          <a:solidFill>
            <a:srgbClr val="132A47"/>
          </a:solidFill>
          <a:ln w="12700">
            <a:solidFill>
              <a:srgbClr val="D4821A"/>
            </a:solidFill>
            <a:prstDash val="solid"/>
          </a:ln>
          <a:effectLst>
            <a:outerShdw sx="100000" sy="100000" kx="0" ky="0" algn="bl" rotWithShape="0" blurRad="101600" dist="38100" dir="8100000">
              <a:srgbClr val="000000">
                <a:alpha val="18000"/>
              </a:srgbClr>
            </a:outerShdw>
          </a:effectLst>
        </p:spPr>
      </p:sp>
      <p:sp>
        <p:nvSpPr>
          <p:cNvPr id="27" name="Shape 25"/>
          <p:cNvSpPr/>
          <p:nvPr/>
        </p:nvSpPr>
        <p:spPr>
          <a:xfrm>
            <a:off x="1005840" y="3392424"/>
            <a:ext cx="64008" cy="731520"/>
          </a:xfrm>
          <a:prstGeom prst="rect">
            <a:avLst/>
          </a:prstGeom>
          <a:solidFill>
            <a:srgbClr val="D4821A"/>
          </a:solidFill>
          <a:ln w="12700">
            <a:solidFill>
              <a:srgbClr val="D4821A"/>
            </a:solidFill>
            <a:prstDash val="solid"/>
          </a:ln>
        </p:spPr>
      </p:sp>
      <p:sp>
        <p:nvSpPr>
          <p:cNvPr id="28" name="Text 26"/>
          <p:cNvSpPr/>
          <p:nvPr/>
        </p:nvSpPr>
        <p:spPr>
          <a:xfrm>
            <a:off x="1188720" y="3456432"/>
            <a:ext cx="3657600" cy="274320"/>
          </a:xfrm>
          <a:prstGeom prst="rect">
            <a:avLst/>
          </a:prstGeom>
          <a:noFill/>
          <a:ln/>
        </p:spPr>
        <p:txBody>
          <a:bodyPr wrap="square" rtlCol="0" anchor="ctr"/>
          <a:lstStyle/>
          <a:p>
            <a:pPr indent="0" marL="0">
              <a:buNone/>
            </a:pPr>
            <a:r>
              <a:rPr lang="en-US" sz="1450" b="1" dirty="0">
                <a:solidFill>
                  <a:srgbClr val="FFFFFF"/>
                </a:solidFill>
                <a:latin typeface="Arial Black" pitchFamily="34" charset="0"/>
                <a:ea typeface="Arial Black" pitchFamily="34" charset="-122"/>
                <a:cs typeface="Arial Black" pitchFamily="34" charset="-120"/>
              </a:rPr>
              <a:t>SHAP Explainability</a:t>
            </a:r>
            <a:endParaRPr lang="en-US" sz="1450" dirty="0"/>
          </a:p>
        </p:txBody>
      </p:sp>
      <p:sp>
        <p:nvSpPr>
          <p:cNvPr id="29" name="Text 27"/>
          <p:cNvSpPr/>
          <p:nvPr/>
        </p:nvSpPr>
        <p:spPr>
          <a:xfrm>
            <a:off x="1188720" y="3776472"/>
            <a:ext cx="7406640" cy="274320"/>
          </a:xfrm>
          <a:prstGeom prst="rect">
            <a:avLst/>
          </a:prstGeom>
          <a:noFill/>
          <a:ln/>
        </p:spPr>
        <p:txBody>
          <a:bodyPr wrap="square" rtlCol="0" anchor="ctr"/>
          <a:lstStyle/>
          <a:p>
            <a:pPr indent="0" marL="0">
              <a:buNone/>
            </a:pPr>
            <a:r>
              <a:rPr lang="en-US" sz="1150" dirty="0">
                <a:solidFill>
                  <a:srgbClr val="E8EEF4"/>
                </a:solidFill>
                <a:latin typeface="Calibri" pitchFamily="34" charset="0"/>
                <a:ea typeface="Calibri" pitchFamily="34" charset="-122"/>
                <a:cs typeface="Calibri" pitchFamily="34" charset="-120"/>
              </a:rPr>
              <a:t>Opens the black box — shows exactly which features pushed each prediction above or below 50%</a:t>
            </a:r>
            <a:endParaRPr lang="en-US" sz="1150" dirty="0"/>
          </a:p>
        </p:txBody>
      </p:sp>
      <p:sp>
        <p:nvSpPr>
          <p:cNvPr id="30" name="Shape 28"/>
          <p:cNvSpPr/>
          <p:nvPr/>
        </p:nvSpPr>
        <p:spPr>
          <a:xfrm>
            <a:off x="347472" y="4279392"/>
            <a:ext cx="566928" cy="566928"/>
          </a:xfrm>
          <a:prstGeom prst="ellipse">
            <a:avLst/>
          </a:prstGeom>
          <a:solidFill>
            <a:srgbClr val="C8102E"/>
          </a:solidFill>
          <a:ln w="12700">
            <a:solidFill>
              <a:srgbClr val="C8102E"/>
            </a:solidFill>
            <a:prstDash val="solid"/>
          </a:ln>
        </p:spPr>
      </p:sp>
      <p:sp>
        <p:nvSpPr>
          <p:cNvPr id="31" name="Text 29"/>
          <p:cNvSpPr/>
          <p:nvPr/>
        </p:nvSpPr>
        <p:spPr>
          <a:xfrm>
            <a:off x="347472" y="4279392"/>
            <a:ext cx="566928" cy="566928"/>
          </a:xfrm>
          <a:prstGeom prst="rect">
            <a:avLst/>
          </a:prstGeom>
          <a:noFill/>
          <a:ln/>
        </p:spPr>
        <p:txBody>
          <a:bodyPr wrap="square" rtlCol="0" anchor="ctr"/>
          <a:lstStyle/>
          <a:p>
            <a:pPr algn="ctr" indent="0" marL="0">
              <a:buNone/>
            </a:pPr>
            <a:r>
              <a:rPr lang="en-US" sz="2000" b="1" dirty="0">
                <a:solidFill>
                  <a:srgbClr val="FFFFFF"/>
                </a:solidFill>
                <a:latin typeface="Arial Black" pitchFamily="34" charset="0"/>
                <a:ea typeface="Arial Black" pitchFamily="34" charset="-122"/>
                <a:cs typeface="Arial Black" pitchFamily="34" charset="-120"/>
              </a:rPr>
              <a:t>5</a:t>
            </a:r>
            <a:endParaRPr lang="en-US" sz="2000" dirty="0"/>
          </a:p>
        </p:txBody>
      </p:sp>
      <p:sp>
        <p:nvSpPr>
          <p:cNvPr id="32" name="Shape 30"/>
          <p:cNvSpPr/>
          <p:nvPr/>
        </p:nvSpPr>
        <p:spPr>
          <a:xfrm>
            <a:off x="1005840" y="4187952"/>
            <a:ext cx="7772400" cy="731520"/>
          </a:xfrm>
          <a:prstGeom prst="rect">
            <a:avLst/>
          </a:prstGeom>
          <a:solidFill>
            <a:srgbClr val="132A47"/>
          </a:solidFill>
          <a:ln w="12700">
            <a:solidFill>
              <a:srgbClr val="C8102E"/>
            </a:solidFill>
            <a:prstDash val="solid"/>
          </a:ln>
          <a:effectLst>
            <a:outerShdw sx="100000" sy="100000" kx="0" ky="0" algn="bl" rotWithShape="0" blurRad="101600" dist="38100" dir="8100000">
              <a:srgbClr val="000000">
                <a:alpha val="18000"/>
              </a:srgbClr>
            </a:outerShdw>
          </a:effectLst>
        </p:spPr>
      </p:sp>
      <p:sp>
        <p:nvSpPr>
          <p:cNvPr id="33" name="Shape 31"/>
          <p:cNvSpPr/>
          <p:nvPr/>
        </p:nvSpPr>
        <p:spPr>
          <a:xfrm>
            <a:off x="1005840" y="4187952"/>
            <a:ext cx="64008" cy="731520"/>
          </a:xfrm>
          <a:prstGeom prst="rect">
            <a:avLst/>
          </a:prstGeom>
          <a:solidFill>
            <a:srgbClr val="C8102E"/>
          </a:solidFill>
          <a:ln w="12700">
            <a:solidFill>
              <a:srgbClr val="C8102E"/>
            </a:solidFill>
            <a:prstDash val="solid"/>
          </a:ln>
        </p:spPr>
      </p:sp>
      <p:sp>
        <p:nvSpPr>
          <p:cNvPr id="34" name="Text 32"/>
          <p:cNvSpPr/>
          <p:nvPr/>
        </p:nvSpPr>
        <p:spPr>
          <a:xfrm>
            <a:off x="1188720" y="4251960"/>
            <a:ext cx="3657600" cy="274320"/>
          </a:xfrm>
          <a:prstGeom prst="rect">
            <a:avLst/>
          </a:prstGeom>
          <a:noFill/>
          <a:ln/>
        </p:spPr>
        <p:txBody>
          <a:bodyPr wrap="square" rtlCol="0" anchor="ctr"/>
          <a:lstStyle/>
          <a:p>
            <a:pPr indent="0" marL="0">
              <a:buNone/>
            </a:pPr>
            <a:r>
              <a:rPr lang="en-US" sz="1450" b="1" dirty="0">
                <a:solidFill>
                  <a:srgbClr val="FFFFFF"/>
                </a:solidFill>
                <a:latin typeface="Arial Black" pitchFamily="34" charset="0"/>
                <a:ea typeface="Arial Black" pitchFamily="34" charset="-122"/>
                <a:cs typeface="Arial Black" pitchFamily="34" charset="-120"/>
              </a:rPr>
              <a:t>Monte Carlo Simulation</a:t>
            </a:r>
            <a:endParaRPr lang="en-US" sz="1450" dirty="0"/>
          </a:p>
        </p:txBody>
      </p:sp>
      <p:sp>
        <p:nvSpPr>
          <p:cNvPr id="35" name="Text 33"/>
          <p:cNvSpPr/>
          <p:nvPr/>
        </p:nvSpPr>
        <p:spPr>
          <a:xfrm>
            <a:off x="1188720" y="4572000"/>
            <a:ext cx="7406640" cy="274320"/>
          </a:xfrm>
          <a:prstGeom prst="rect">
            <a:avLst/>
          </a:prstGeom>
          <a:noFill/>
          <a:ln/>
        </p:spPr>
        <p:txBody>
          <a:bodyPr wrap="square" rtlCol="0" anchor="ctr"/>
          <a:lstStyle/>
          <a:p>
            <a:pPr indent="0" marL="0">
              <a:buNone/>
            </a:pPr>
            <a:r>
              <a:rPr lang="en-US" sz="1150" dirty="0">
                <a:solidFill>
                  <a:srgbClr val="E8EEF4"/>
                </a:solidFill>
                <a:latin typeface="Calibri" pitchFamily="34" charset="0"/>
                <a:ea typeface="Calibri" pitchFamily="34" charset="-122"/>
                <a:cs typeface="Calibri" pitchFamily="34" charset="-120"/>
              </a:rPr>
              <a:t>Runs 10,000 full playoff simulations to convert per-game probabilities into team-level Super Bowl probability</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128016"/>
          </a:xfrm>
          <a:prstGeom prst="rect">
            <a:avLst/>
          </a:prstGeom>
          <a:solidFill>
            <a:srgbClr val="F5A623"/>
          </a:solidFill>
          <a:ln w="12700">
            <a:solidFill>
              <a:srgbClr val="F5A623"/>
            </a:solidFill>
            <a:prstDash val="solid"/>
          </a:ln>
        </p:spPr>
      </p:sp>
      <p:sp>
        <p:nvSpPr>
          <p:cNvPr id="3" name="Shape 1"/>
          <p:cNvSpPr/>
          <p:nvPr/>
        </p:nvSpPr>
        <p:spPr>
          <a:xfrm>
            <a:off x="0" y="4974336"/>
            <a:ext cx="9144000" cy="169164"/>
          </a:xfrm>
          <a:prstGeom prst="rect">
            <a:avLst/>
          </a:prstGeom>
          <a:solidFill>
            <a:srgbClr val="0D7C66"/>
          </a:solidFill>
          <a:ln w="12700">
            <a:solidFill>
              <a:srgbClr val="0D7C66"/>
            </a:solidFill>
            <a:prstDash val="solid"/>
          </a:ln>
        </p:spPr>
      </p:sp>
      <p:sp>
        <p:nvSpPr>
          <p:cNvPr id="4" name="Text 2"/>
          <p:cNvSpPr/>
          <p:nvPr/>
        </p:nvSpPr>
        <p:spPr>
          <a:xfrm>
            <a:off x="411480" y="182880"/>
            <a:ext cx="8321040" cy="566928"/>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Layer 1: ELO Rating System</a:t>
            </a:r>
            <a:endParaRPr lang="en-US" sz="3000" dirty="0"/>
          </a:p>
        </p:txBody>
      </p:sp>
      <p:sp>
        <p:nvSpPr>
          <p:cNvPr id="5" name="Text 3"/>
          <p:cNvSpPr/>
          <p:nvPr/>
        </p:nvSpPr>
        <p:spPr>
          <a:xfrm>
            <a:off x="411480" y="749808"/>
            <a:ext cx="8321040" cy="256032"/>
          </a:xfrm>
          <a:prstGeom prst="rect">
            <a:avLst/>
          </a:prstGeom>
          <a:noFill/>
          <a:ln/>
        </p:spPr>
        <p:txBody>
          <a:bodyPr wrap="square" rtlCol="0" anchor="ctr"/>
          <a:lstStyle/>
          <a:p>
            <a:pPr indent="0" marL="0">
              <a:buNone/>
            </a:pPr>
            <a:r>
              <a:rPr lang="en-US" sz="1200" i="1" dirty="0">
                <a:solidFill>
                  <a:srgbClr val="7A9CBB"/>
                </a:solidFill>
                <a:latin typeface="Calibri" pitchFamily="34" charset="0"/>
                <a:ea typeface="Calibri" pitchFamily="34" charset="-122"/>
                <a:cs typeface="Calibri" pitchFamily="34" charset="-120"/>
              </a:rPr>
              <a:t>Every team gets a number that represents its true quality. That number updates after every game and survives the offseason.</a:t>
            </a:r>
            <a:endParaRPr lang="en-US" sz="1200" dirty="0"/>
          </a:p>
        </p:txBody>
      </p:sp>
      <p:sp>
        <p:nvSpPr>
          <p:cNvPr id="6" name="Shape 4"/>
          <p:cNvSpPr/>
          <p:nvPr/>
        </p:nvSpPr>
        <p:spPr>
          <a:xfrm>
            <a:off x="365760" y="1051560"/>
            <a:ext cx="4297680" cy="822960"/>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7" name="Text 5"/>
          <p:cNvSpPr/>
          <p:nvPr/>
        </p:nvSpPr>
        <p:spPr>
          <a:xfrm>
            <a:off x="502920" y="1097280"/>
            <a:ext cx="1645920" cy="228600"/>
          </a:xfrm>
          <a:prstGeom prst="rect">
            <a:avLst/>
          </a:prstGeom>
          <a:noFill/>
          <a:ln/>
        </p:spPr>
        <p:txBody>
          <a:bodyPr wrap="square" rtlCol="0" anchor="ctr"/>
          <a:lstStyle/>
          <a:p>
            <a:pPr indent="0" marL="0">
              <a:buNone/>
            </a:pPr>
            <a:r>
              <a:rPr lang="en-US" sz="1050" dirty="0">
                <a:solidFill>
                  <a:srgbClr val="7A9CBB"/>
                </a:solidFill>
                <a:latin typeface="Calibri" pitchFamily="34" charset="0"/>
                <a:ea typeface="Calibri" pitchFamily="34" charset="-122"/>
                <a:cs typeface="Calibri" pitchFamily="34" charset="-120"/>
              </a:rPr>
              <a:t>K-Factor</a:t>
            </a:r>
            <a:endParaRPr lang="en-US" sz="1050" dirty="0"/>
          </a:p>
        </p:txBody>
      </p:sp>
      <p:sp>
        <p:nvSpPr>
          <p:cNvPr id="8" name="Text 6"/>
          <p:cNvSpPr/>
          <p:nvPr/>
        </p:nvSpPr>
        <p:spPr>
          <a:xfrm>
            <a:off x="502920" y="1344168"/>
            <a:ext cx="1828800" cy="384048"/>
          </a:xfrm>
          <a:prstGeom prst="rect">
            <a:avLst/>
          </a:prstGeom>
          <a:noFill/>
          <a:ln/>
        </p:spPr>
        <p:txBody>
          <a:bodyPr wrap="square" rtlCol="0" anchor="ctr"/>
          <a:lstStyle/>
          <a:p>
            <a:pPr indent="0" marL="0">
              <a:buNone/>
            </a:pPr>
            <a:r>
              <a:rPr lang="en-US" sz="1800" b="1" dirty="0">
                <a:solidFill>
                  <a:srgbClr val="F5A623"/>
                </a:solidFill>
                <a:latin typeface="Arial Black" pitchFamily="34" charset="0"/>
                <a:ea typeface="Arial Black" pitchFamily="34" charset="-122"/>
                <a:cs typeface="Arial Black" pitchFamily="34" charset="-120"/>
              </a:rPr>
              <a:t>22</a:t>
            </a:r>
            <a:endParaRPr lang="en-US" sz="1800" dirty="0"/>
          </a:p>
        </p:txBody>
      </p:sp>
      <p:sp>
        <p:nvSpPr>
          <p:cNvPr id="9" name="Text 7"/>
          <p:cNvSpPr/>
          <p:nvPr/>
        </p:nvSpPr>
        <p:spPr>
          <a:xfrm>
            <a:off x="2377440" y="1143000"/>
            <a:ext cx="2176272" cy="64008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How fast ratings change per game. Chess uses 6-10. NFL is higher because a single game can genuinely reveal team quality due to the small 17-game sample.</a:t>
            </a:r>
            <a:endParaRPr lang="en-US" sz="1050" dirty="0"/>
          </a:p>
        </p:txBody>
      </p:sp>
      <p:sp>
        <p:nvSpPr>
          <p:cNvPr id="10" name="Shape 8"/>
          <p:cNvSpPr/>
          <p:nvPr/>
        </p:nvSpPr>
        <p:spPr>
          <a:xfrm>
            <a:off x="365760" y="1984248"/>
            <a:ext cx="4297680" cy="822960"/>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11" name="Text 9"/>
          <p:cNvSpPr/>
          <p:nvPr/>
        </p:nvSpPr>
        <p:spPr>
          <a:xfrm>
            <a:off x="502920" y="2029968"/>
            <a:ext cx="1645920" cy="228600"/>
          </a:xfrm>
          <a:prstGeom prst="rect">
            <a:avLst/>
          </a:prstGeom>
          <a:noFill/>
          <a:ln/>
        </p:spPr>
        <p:txBody>
          <a:bodyPr wrap="square" rtlCol="0" anchor="ctr"/>
          <a:lstStyle/>
          <a:p>
            <a:pPr indent="0" marL="0">
              <a:buNone/>
            </a:pPr>
            <a:r>
              <a:rPr lang="en-US" sz="1050" dirty="0">
                <a:solidFill>
                  <a:srgbClr val="7A9CBB"/>
                </a:solidFill>
                <a:latin typeface="Calibri" pitchFamily="34" charset="0"/>
                <a:ea typeface="Calibri" pitchFamily="34" charset="-122"/>
                <a:cs typeface="Calibri" pitchFamily="34" charset="-120"/>
              </a:rPr>
              <a:t>Home Advantage</a:t>
            </a:r>
            <a:endParaRPr lang="en-US" sz="1050" dirty="0"/>
          </a:p>
        </p:txBody>
      </p:sp>
      <p:sp>
        <p:nvSpPr>
          <p:cNvPr id="12" name="Text 10"/>
          <p:cNvSpPr/>
          <p:nvPr/>
        </p:nvSpPr>
        <p:spPr>
          <a:xfrm>
            <a:off x="502920" y="2276856"/>
            <a:ext cx="1828800" cy="384048"/>
          </a:xfrm>
          <a:prstGeom prst="rect">
            <a:avLst/>
          </a:prstGeom>
          <a:noFill/>
          <a:ln/>
        </p:spPr>
        <p:txBody>
          <a:bodyPr wrap="square" rtlCol="0" anchor="ctr"/>
          <a:lstStyle/>
          <a:p>
            <a:pPr indent="0" marL="0">
              <a:buNone/>
            </a:pPr>
            <a:r>
              <a:rPr lang="en-US" sz="1800" b="1" dirty="0">
                <a:solidFill>
                  <a:srgbClr val="F5A623"/>
                </a:solidFill>
                <a:latin typeface="Arial Black" pitchFamily="34" charset="0"/>
                <a:ea typeface="Arial Black" pitchFamily="34" charset="-122"/>
                <a:cs typeface="Arial Black" pitchFamily="34" charset="-120"/>
              </a:rPr>
              <a:t>+65 pts</a:t>
            </a:r>
            <a:endParaRPr lang="en-US" sz="1800" dirty="0"/>
          </a:p>
        </p:txBody>
      </p:sp>
      <p:sp>
        <p:nvSpPr>
          <p:cNvPr id="13" name="Text 11"/>
          <p:cNvSpPr/>
          <p:nvPr/>
        </p:nvSpPr>
        <p:spPr>
          <a:xfrm>
            <a:off x="2377440" y="2075688"/>
            <a:ext cx="2176272" cy="64008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Home teams win ~57% of NFL games. Adding 65 ELO points to the home team's pre-game rating calibrates this advantage accurately.</a:t>
            </a:r>
            <a:endParaRPr lang="en-US" sz="1050" dirty="0"/>
          </a:p>
        </p:txBody>
      </p:sp>
      <p:sp>
        <p:nvSpPr>
          <p:cNvPr id="14" name="Shape 12"/>
          <p:cNvSpPr/>
          <p:nvPr/>
        </p:nvSpPr>
        <p:spPr>
          <a:xfrm>
            <a:off x="365760" y="2916936"/>
            <a:ext cx="4297680" cy="822960"/>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15" name="Text 13"/>
          <p:cNvSpPr/>
          <p:nvPr/>
        </p:nvSpPr>
        <p:spPr>
          <a:xfrm>
            <a:off x="502920" y="2962656"/>
            <a:ext cx="1645920" cy="228600"/>
          </a:xfrm>
          <a:prstGeom prst="rect">
            <a:avLst/>
          </a:prstGeom>
          <a:noFill/>
          <a:ln/>
        </p:spPr>
        <p:txBody>
          <a:bodyPr wrap="square" rtlCol="0" anchor="ctr"/>
          <a:lstStyle/>
          <a:p>
            <a:pPr indent="0" marL="0">
              <a:buNone/>
            </a:pPr>
            <a:r>
              <a:rPr lang="en-US" sz="1050" dirty="0">
                <a:solidFill>
                  <a:srgbClr val="7A9CBB"/>
                </a:solidFill>
                <a:latin typeface="Calibri" pitchFamily="34" charset="0"/>
                <a:ea typeface="Calibri" pitchFamily="34" charset="-122"/>
                <a:cs typeface="Calibri" pitchFamily="34" charset="-120"/>
              </a:rPr>
              <a:t>Season Regression</a:t>
            </a:r>
            <a:endParaRPr lang="en-US" sz="1050" dirty="0"/>
          </a:p>
        </p:txBody>
      </p:sp>
      <p:sp>
        <p:nvSpPr>
          <p:cNvPr id="16" name="Text 14"/>
          <p:cNvSpPr/>
          <p:nvPr/>
        </p:nvSpPr>
        <p:spPr>
          <a:xfrm>
            <a:off x="502920" y="3209544"/>
            <a:ext cx="1828800" cy="384048"/>
          </a:xfrm>
          <a:prstGeom prst="rect">
            <a:avLst/>
          </a:prstGeom>
          <a:noFill/>
          <a:ln/>
        </p:spPr>
        <p:txBody>
          <a:bodyPr wrap="square" rtlCol="0" anchor="ctr"/>
          <a:lstStyle/>
          <a:p>
            <a:pPr indent="0" marL="0">
              <a:buNone/>
            </a:pPr>
            <a:r>
              <a:rPr lang="en-US" sz="1800" b="1" dirty="0">
                <a:solidFill>
                  <a:srgbClr val="F5A623"/>
                </a:solidFill>
                <a:latin typeface="Arial Black" pitchFamily="34" charset="0"/>
                <a:ea typeface="Arial Black" pitchFamily="34" charset="-122"/>
                <a:cs typeface="Arial Black" pitchFamily="34" charset="-120"/>
              </a:rPr>
              <a:t>33% toward mean</a:t>
            </a:r>
            <a:endParaRPr lang="en-US" sz="1800" dirty="0"/>
          </a:p>
        </p:txBody>
      </p:sp>
      <p:sp>
        <p:nvSpPr>
          <p:cNvPr id="17" name="Text 15"/>
          <p:cNvSpPr/>
          <p:nvPr/>
        </p:nvSpPr>
        <p:spPr>
          <a:xfrm>
            <a:off x="2377440" y="3008376"/>
            <a:ext cx="2176272" cy="64008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Every offseason, rosters change dramatically. Regressing 33% toward 1500 prevents old ELO from overpowering current form and keeps predictions fresh.</a:t>
            </a:r>
            <a:endParaRPr lang="en-US" sz="1050" dirty="0"/>
          </a:p>
        </p:txBody>
      </p:sp>
      <p:sp>
        <p:nvSpPr>
          <p:cNvPr id="18" name="Shape 16"/>
          <p:cNvSpPr/>
          <p:nvPr/>
        </p:nvSpPr>
        <p:spPr>
          <a:xfrm>
            <a:off x="365760" y="3849624"/>
            <a:ext cx="4297680" cy="822960"/>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19" name="Text 17"/>
          <p:cNvSpPr/>
          <p:nvPr/>
        </p:nvSpPr>
        <p:spPr>
          <a:xfrm>
            <a:off x="502920" y="3895344"/>
            <a:ext cx="1645920" cy="228600"/>
          </a:xfrm>
          <a:prstGeom prst="rect">
            <a:avLst/>
          </a:prstGeom>
          <a:noFill/>
          <a:ln/>
        </p:spPr>
        <p:txBody>
          <a:bodyPr wrap="square" rtlCol="0" anchor="ctr"/>
          <a:lstStyle/>
          <a:p>
            <a:pPr indent="0" marL="0">
              <a:buNone/>
            </a:pPr>
            <a:r>
              <a:rPr lang="en-US" sz="1050" dirty="0">
                <a:solidFill>
                  <a:srgbClr val="7A9CBB"/>
                </a:solidFill>
                <a:latin typeface="Calibri" pitchFamily="34" charset="0"/>
                <a:ea typeface="Calibri" pitchFamily="34" charset="-122"/>
                <a:cs typeface="Calibri" pitchFamily="34" charset="-120"/>
              </a:rPr>
              <a:t>Warmup Seasons</a:t>
            </a:r>
            <a:endParaRPr lang="en-US" sz="1050" dirty="0"/>
          </a:p>
        </p:txBody>
      </p:sp>
      <p:sp>
        <p:nvSpPr>
          <p:cNvPr id="20" name="Text 18"/>
          <p:cNvSpPr/>
          <p:nvPr/>
        </p:nvSpPr>
        <p:spPr>
          <a:xfrm>
            <a:off x="502920" y="4142232"/>
            <a:ext cx="1828800" cy="384048"/>
          </a:xfrm>
          <a:prstGeom prst="rect">
            <a:avLst/>
          </a:prstGeom>
          <a:noFill/>
          <a:ln/>
        </p:spPr>
        <p:txBody>
          <a:bodyPr wrap="square" rtlCol="0" anchor="ctr"/>
          <a:lstStyle/>
          <a:p>
            <a:pPr indent="0" marL="0">
              <a:buNone/>
            </a:pPr>
            <a:r>
              <a:rPr lang="en-US" sz="1800" b="1" dirty="0">
                <a:solidFill>
                  <a:srgbClr val="F5A623"/>
                </a:solidFill>
                <a:latin typeface="Arial Black" pitchFamily="34" charset="0"/>
                <a:ea typeface="Arial Black" pitchFamily="34" charset="-122"/>
                <a:cs typeface="Arial Black" pitchFamily="34" charset="-120"/>
              </a:rPr>
              <a:t>2015–2017</a:t>
            </a:r>
            <a:endParaRPr lang="en-US" sz="1800" dirty="0"/>
          </a:p>
        </p:txBody>
      </p:sp>
      <p:sp>
        <p:nvSpPr>
          <p:cNvPr id="21" name="Text 19"/>
          <p:cNvSpPr/>
          <p:nvPr/>
        </p:nvSpPr>
        <p:spPr>
          <a:xfrm>
            <a:off x="2377440" y="3941064"/>
            <a:ext cx="2176272" cy="64008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Three seasons used only to initialise ratings so they reflect real team quality before 2018 training begins. Not used in model training.</a:t>
            </a:r>
            <a:endParaRPr lang="en-US" sz="1050" dirty="0"/>
          </a:p>
        </p:txBody>
      </p:sp>
      <p:sp>
        <p:nvSpPr>
          <p:cNvPr id="22" name="Shape 20"/>
          <p:cNvSpPr/>
          <p:nvPr/>
        </p:nvSpPr>
        <p:spPr>
          <a:xfrm>
            <a:off x="4846320" y="1024128"/>
            <a:ext cx="3931920" cy="3767328"/>
          </a:xfrm>
          <a:prstGeom prst="rect">
            <a:avLst/>
          </a:prstGeom>
          <a:solidFill>
            <a:srgbClr val="132A47"/>
          </a:solidFill>
          <a:ln w="12700">
            <a:solidFill>
              <a:srgbClr val="F5A623"/>
            </a:solidFill>
            <a:prstDash val="solid"/>
          </a:ln>
          <a:effectLst>
            <a:outerShdw sx="100000" sy="100000" kx="0" ky="0" algn="bl" rotWithShape="0" blurRad="101600" dist="38100" dir="8100000">
              <a:srgbClr val="000000">
                <a:alpha val="18000"/>
              </a:srgbClr>
            </a:outerShdw>
          </a:effectLst>
        </p:spPr>
      </p:sp>
      <p:sp>
        <p:nvSpPr>
          <p:cNvPr id="23" name="Text 21"/>
          <p:cNvSpPr/>
          <p:nvPr/>
        </p:nvSpPr>
        <p:spPr>
          <a:xfrm>
            <a:off x="4983480" y="1106424"/>
            <a:ext cx="3657600" cy="310896"/>
          </a:xfrm>
          <a:prstGeom prst="rect">
            <a:avLst/>
          </a:prstGeom>
          <a:noFill/>
          <a:ln/>
        </p:spPr>
        <p:txBody>
          <a:bodyPr wrap="square" rtlCol="0" anchor="ctr"/>
          <a:lstStyle/>
          <a:p>
            <a:pPr indent="0" marL="0">
              <a:buNone/>
            </a:pPr>
            <a:r>
              <a:rPr lang="en-US" sz="1350" b="1" dirty="0">
                <a:solidFill>
                  <a:srgbClr val="F5A623"/>
                </a:solidFill>
                <a:latin typeface="Arial Black" pitchFamily="34" charset="0"/>
                <a:ea typeface="Arial Black" pitchFamily="34" charset="-122"/>
                <a:cs typeface="Arial Black" pitchFamily="34" charset="-120"/>
              </a:rPr>
              <a:t>Why Not Win-Loss Record?</a:t>
            </a:r>
            <a:endParaRPr lang="en-US" sz="1350" dirty="0"/>
          </a:p>
        </p:txBody>
      </p:sp>
      <p:sp>
        <p:nvSpPr>
          <p:cNvPr id="24" name="Text 22"/>
          <p:cNvSpPr/>
          <p:nvPr/>
        </p:nvSpPr>
        <p:spPr>
          <a:xfrm>
            <a:off x="4983480" y="1527048"/>
            <a:ext cx="3657600" cy="274320"/>
          </a:xfrm>
          <a:prstGeom prst="rect">
            <a:avLst/>
          </a:prstGeom>
          <a:noFill/>
          <a:ln/>
        </p:spPr>
        <p:txBody>
          <a:bodyPr wrap="square" rtlCol="0" anchor="ctr"/>
          <a:lstStyle/>
          <a:p>
            <a:pPr indent="0" marL="0">
              <a:buNone/>
            </a:pPr>
            <a:r>
              <a:rPr lang="en-US" sz="1150" dirty="0">
                <a:solidFill>
                  <a:srgbClr val="C8102E"/>
                </a:solidFill>
                <a:latin typeface="Calibri" pitchFamily="34" charset="0"/>
                <a:ea typeface="Calibri" pitchFamily="34" charset="-122"/>
                <a:cs typeface="Calibri" pitchFamily="34" charset="-120"/>
              </a:rPr>
              <a:t>✗  Treats a 34-0 blowout the same as a 17-16 overtime win</a:t>
            </a:r>
            <a:endParaRPr lang="en-US" sz="1150" dirty="0"/>
          </a:p>
        </p:txBody>
      </p:sp>
      <p:sp>
        <p:nvSpPr>
          <p:cNvPr id="25" name="Text 23"/>
          <p:cNvSpPr/>
          <p:nvPr/>
        </p:nvSpPr>
        <p:spPr>
          <a:xfrm>
            <a:off x="4983480" y="1874520"/>
            <a:ext cx="3657600" cy="274320"/>
          </a:xfrm>
          <a:prstGeom prst="rect">
            <a:avLst/>
          </a:prstGeom>
          <a:noFill/>
          <a:ln/>
        </p:spPr>
        <p:txBody>
          <a:bodyPr wrap="square" rtlCol="0" anchor="ctr"/>
          <a:lstStyle/>
          <a:p>
            <a:pPr indent="0" marL="0">
              <a:buNone/>
            </a:pPr>
            <a:r>
              <a:rPr lang="en-US" sz="1150" dirty="0">
                <a:solidFill>
                  <a:srgbClr val="C8102E"/>
                </a:solidFill>
                <a:latin typeface="Calibri" pitchFamily="34" charset="0"/>
                <a:ea typeface="Calibri" pitchFamily="34" charset="-122"/>
                <a:cs typeface="Calibri" pitchFamily="34" charset="-120"/>
              </a:rPr>
              <a:t>✗  Ignores opponent strength — beating the Chiefs means more</a:t>
            </a:r>
            <a:endParaRPr lang="en-US" sz="1150" dirty="0"/>
          </a:p>
        </p:txBody>
      </p:sp>
      <p:sp>
        <p:nvSpPr>
          <p:cNvPr id="26" name="Text 24"/>
          <p:cNvSpPr/>
          <p:nvPr/>
        </p:nvSpPr>
        <p:spPr>
          <a:xfrm>
            <a:off x="4983480" y="2221992"/>
            <a:ext cx="3657600" cy="274320"/>
          </a:xfrm>
          <a:prstGeom prst="rect">
            <a:avLst/>
          </a:prstGeom>
          <a:noFill/>
          <a:ln/>
        </p:spPr>
        <p:txBody>
          <a:bodyPr wrap="square" rtlCol="0" anchor="ctr"/>
          <a:lstStyle/>
          <a:p>
            <a:pPr indent="0" marL="0">
              <a:buNone/>
            </a:pPr>
            <a:r>
              <a:rPr lang="en-US" sz="1150" dirty="0">
                <a:solidFill>
                  <a:srgbClr val="C8102E"/>
                </a:solidFill>
                <a:latin typeface="Calibri" pitchFamily="34" charset="0"/>
                <a:ea typeface="Calibri" pitchFamily="34" charset="-122"/>
                <a:cs typeface="Calibri" pitchFamily="34" charset="-120"/>
              </a:rPr>
              <a:t>✗  Resets to zero every season — loses years of signal</a:t>
            </a:r>
            <a:endParaRPr lang="en-US" sz="1150" dirty="0"/>
          </a:p>
        </p:txBody>
      </p:sp>
      <p:sp>
        <p:nvSpPr>
          <p:cNvPr id="27" name="Text 25"/>
          <p:cNvSpPr/>
          <p:nvPr/>
        </p:nvSpPr>
        <p:spPr>
          <a:xfrm>
            <a:off x="4983480" y="2569464"/>
            <a:ext cx="3657600" cy="274320"/>
          </a:xfrm>
          <a:prstGeom prst="rect">
            <a:avLst/>
          </a:prstGeom>
          <a:noFill/>
          <a:ln/>
        </p:spPr>
        <p:txBody>
          <a:bodyPr wrap="square" rtlCol="0" anchor="ctr"/>
          <a:lstStyle/>
          <a:p>
            <a:pPr indent="0" marL="0">
              <a:buNone/>
            </a:pPr>
            <a:r>
              <a:rPr lang="en-US" sz="1150" dirty="0">
                <a:solidFill>
                  <a:srgbClr val="C8102E"/>
                </a:solidFill>
                <a:latin typeface="Calibri" pitchFamily="34" charset="0"/>
                <a:ea typeface="Calibri" pitchFamily="34" charset="-122"/>
                <a:cs typeface="Calibri" pitchFamily="34" charset="-120"/>
              </a:rPr>
              <a:t>✗  Cannot generate any Week 1 prediction at all</a:t>
            </a:r>
            <a:endParaRPr lang="en-US" sz="1150" dirty="0"/>
          </a:p>
        </p:txBody>
      </p:sp>
      <p:sp>
        <p:nvSpPr>
          <p:cNvPr id="28" name="Text 26"/>
          <p:cNvSpPr/>
          <p:nvPr/>
        </p:nvSpPr>
        <p:spPr>
          <a:xfrm>
            <a:off x="4983480" y="2916936"/>
            <a:ext cx="3657600" cy="274320"/>
          </a:xfrm>
          <a:prstGeom prst="rect">
            <a:avLst/>
          </a:prstGeom>
          <a:noFill/>
          <a:ln/>
        </p:spPr>
        <p:txBody>
          <a:bodyPr wrap="square" rtlCol="0" anchor="ctr"/>
          <a:lstStyle/>
          <a:p>
            <a:pPr indent="0" marL="0">
              <a:buNone/>
            </a:pPr>
            <a:r>
              <a:rPr lang="en-US" sz="1150" b="1" dirty="0">
                <a:solidFill>
                  <a:srgbClr val="F5A623"/>
                </a:solidFill>
                <a:latin typeface="Calibri" pitchFamily="34" charset="0"/>
                <a:ea typeface="Calibri" pitchFamily="34" charset="-122"/>
                <a:cs typeface="Calibri" pitchFamily="34" charset="-120"/>
              </a:rPr>
              <a:t>  Why ELO wins instead:</a:t>
            </a:r>
            <a:endParaRPr lang="en-US" sz="1150" dirty="0"/>
          </a:p>
        </p:txBody>
      </p:sp>
      <p:sp>
        <p:nvSpPr>
          <p:cNvPr id="29" name="Text 27"/>
          <p:cNvSpPr/>
          <p:nvPr/>
        </p:nvSpPr>
        <p:spPr>
          <a:xfrm>
            <a:off x="4983480" y="3264408"/>
            <a:ext cx="3657600" cy="274320"/>
          </a:xfrm>
          <a:prstGeom prst="rect">
            <a:avLst/>
          </a:prstGeom>
          <a:noFill/>
          <a:ln/>
        </p:spPr>
        <p:txBody>
          <a:bodyPr wrap="square" rtlCol="0" anchor="ctr"/>
          <a:lstStyle/>
          <a:p>
            <a:pPr indent="0" marL="0">
              <a:buNone/>
            </a:pPr>
            <a:r>
              <a:rPr lang="en-US" sz="1150" dirty="0">
                <a:solidFill>
                  <a:srgbClr val="27AE60"/>
                </a:solidFill>
                <a:latin typeface="Calibri" pitchFamily="34" charset="0"/>
                <a:ea typeface="Calibri" pitchFamily="34" charset="-122"/>
                <a:cs typeface="Calibri" pitchFamily="34" charset="-120"/>
              </a:rPr>
              <a:t>✓  Rewards beating stronger opponents more</a:t>
            </a:r>
            <a:endParaRPr lang="en-US" sz="1150" dirty="0"/>
          </a:p>
        </p:txBody>
      </p:sp>
      <p:sp>
        <p:nvSpPr>
          <p:cNvPr id="30" name="Text 28"/>
          <p:cNvSpPr/>
          <p:nvPr/>
        </p:nvSpPr>
        <p:spPr>
          <a:xfrm>
            <a:off x="4983480" y="3611880"/>
            <a:ext cx="3657600" cy="274320"/>
          </a:xfrm>
          <a:prstGeom prst="rect">
            <a:avLst/>
          </a:prstGeom>
          <a:noFill/>
          <a:ln/>
        </p:spPr>
        <p:txBody>
          <a:bodyPr wrap="square" rtlCol="0" anchor="ctr"/>
          <a:lstStyle/>
          <a:p>
            <a:pPr indent="0" marL="0">
              <a:buNone/>
            </a:pPr>
            <a:r>
              <a:rPr lang="en-US" sz="1150" dirty="0">
                <a:solidFill>
                  <a:srgbClr val="27AE60"/>
                </a:solidFill>
                <a:latin typeface="Calibri" pitchFamily="34" charset="0"/>
                <a:ea typeface="Calibri" pitchFamily="34" charset="-122"/>
                <a:cs typeface="Calibri" pitchFamily="34" charset="-120"/>
              </a:rPr>
              <a:t>✓  Carries the multi-year quality signal forward</a:t>
            </a:r>
            <a:endParaRPr lang="en-US" sz="1150" dirty="0"/>
          </a:p>
        </p:txBody>
      </p:sp>
      <p:sp>
        <p:nvSpPr>
          <p:cNvPr id="31" name="Text 29"/>
          <p:cNvSpPr/>
          <p:nvPr/>
        </p:nvSpPr>
        <p:spPr>
          <a:xfrm>
            <a:off x="4983480" y="3959352"/>
            <a:ext cx="3657600" cy="274320"/>
          </a:xfrm>
          <a:prstGeom prst="rect">
            <a:avLst/>
          </a:prstGeom>
          <a:noFill/>
          <a:ln/>
        </p:spPr>
        <p:txBody>
          <a:bodyPr wrap="square" rtlCol="0" anchor="ctr"/>
          <a:lstStyle/>
          <a:p>
            <a:pPr indent="0" marL="0">
              <a:buNone/>
            </a:pPr>
            <a:r>
              <a:rPr lang="en-US" sz="1150" dirty="0">
                <a:solidFill>
                  <a:srgbClr val="27AE60"/>
                </a:solidFill>
                <a:latin typeface="Calibri" pitchFamily="34" charset="0"/>
                <a:ea typeface="Calibri" pitchFamily="34" charset="-122"/>
                <a:cs typeface="Calibri" pitchFamily="34" charset="-120"/>
              </a:rPr>
              <a:t>✓  SHAP importance 0.45 — the single strongest feature</a:t>
            </a:r>
            <a:endParaRPr lang="en-US" sz="1150" dirty="0"/>
          </a:p>
        </p:txBody>
      </p:sp>
      <p:sp>
        <p:nvSpPr>
          <p:cNvPr id="32" name="Text 30"/>
          <p:cNvSpPr/>
          <p:nvPr/>
        </p:nvSpPr>
        <p:spPr>
          <a:xfrm>
            <a:off x="4983480" y="4306824"/>
            <a:ext cx="3657600" cy="274320"/>
          </a:xfrm>
          <a:prstGeom prst="rect">
            <a:avLst/>
          </a:prstGeom>
          <a:noFill/>
          <a:ln/>
        </p:spPr>
        <p:txBody>
          <a:bodyPr wrap="square" rtlCol="0" anchor="ctr"/>
          <a:lstStyle/>
          <a:p>
            <a:pPr indent="0" marL="0">
              <a:buNone/>
            </a:pPr>
            <a:r>
              <a:rPr lang="en-US" sz="1150" dirty="0">
                <a:solidFill>
                  <a:srgbClr val="27AE60"/>
                </a:solidFill>
                <a:latin typeface="Calibri" pitchFamily="34" charset="0"/>
                <a:ea typeface="Calibri" pitchFamily="34" charset="-122"/>
                <a:cs typeface="Calibri" pitchFamily="34" charset="-120"/>
              </a:rPr>
              <a:t>✓  63% standalone accuracy before any EPA data is added</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128016"/>
          </a:xfrm>
          <a:prstGeom prst="rect">
            <a:avLst/>
          </a:prstGeom>
          <a:solidFill>
            <a:srgbClr val="F5A623"/>
          </a:solidFill>
          <a:ln w="12700">
            <a:solidFill>
              <a:srgbClr val="F5A623"/>
            </a:solidFill>
            <a:prstDash val="solid"/>
          </a:ln>
        </p:spPr>
      </p:sp>
      <p:sp>
        <p:nvSpPr>
          <p:cNvPr id="3" name="Shape 1"/>
          <p:cNvSpPr/>
          <p:nvPr/>
        </p:nvSpPr>
        <p:spPr>
          <a:xfrm>
            <a:off x="0" y="4974336"/>
            <a:ext cx="9144000" cy="169164"/>
          </a:xfrm>
          <a:prstGeom prst="rect">
            <a:avLst/>
          </a:prstGeom>
          <a:solidFill>
            <a:srgbClr val="0D7C66"/>
          </a:solidFill>
          <a:ln w="12700">
            <a:solidFill>
              <a:srgbClr val="0D7C66"/>
            </a:solidFill>
            <a:prstDash val="solid"/>
          </a:ln>
        </p:spPr>
      </p:sp>
      <p:sp>
        <p:nvSpPr>
          <p:cNvPr id="4" name="Text 2"/>
          <p:cNvSpPr/>
          <p:nvPr/>
        </p:nvSpPr>
        <p:spPr>
          <a:xfrm>
            <a:off x="411480" y="182880"/>
            <a:ext cx="8321040" cy="566928"/>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Layer 2: Feature Engineering</a:t>
            </a:r>
            <a:endParaRPr lang="en-US" sz="3000" dirty="0"/>
          </a:p>
        </p:txBody>
      </p:sp>
      <p:sp>
        <p:nvSpPr>
          <p:cNvPr id="5" name="Text 3"/>
          <p:cNvSpPr/>
          <p:nvPr/>
        </p:nvSpPr>
        <p:spPr>
          <a:xfrm>
            <a:off x="411480" y="749808"/>
            <a:ext cx="8321040" cy="256032"/>
          </a:xfrm>
          <a:prstGeom prst="rect">
            <a:avLst/>
          </a:prstGeom>
          <a:noFill/>
          <a:ln/>
        </p:spPr>
        <p:txBody>
          <a:bodyPr wrap="square" rtlCol="0" anchor="ctr"/>
          <a:lstStyle/>
          <a:p>
            <a:pPr indent="0" marL="0">
              <a:buNone/>
            </a:pPr>
            <a:r>
              <a:rPr lang="en-US" sz="1200" i="1" dirty="0">
                <a:solidFill>
                  <a:srgbClr val="7A9CBB"/>
                </a:solidFill>
                <a:latin typeface="Calibri" pitchFamily="34" charset="0"/>
                <a:ea typeface="Calibri" pitchFamily="34" charset="-122"/>
                <a:cs typeface="Calibri" pitchFamily="34" charset="-120"/>
              </a:rPr>
              <a:t>Raw play-by-play, injury and draft data is useless until converted into clean numbers a model can learn from. We build 32.</a:t>
            </a:r>
            <a:endParaRPr lang="en-US" sz="1200" dirty="0"/>
          </a:p>
        </p:txBody>
      </p:sp>
      <p:sp>
        <p:nvSpPr>
          <p:cNvPr id="6" name="Shape 4"/>
          <p:cNvSpPr/>
          <p:nvPr/>
        </p:nvSpPr>
        <p:spPr>
          <a:xfrm>
            <a:off x="347472" y="987552"/>
            <a:ext cx="4892040" cy="749808"/>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347472" y="987552"/>
            <a:ext cx="64008" cy="749808"/>
          </a:xfrm>
          <a:prstGeom prst="rect">
            <a:avLst/>
          </a:prstGeom>
          <a:solidFill>
            <a:srgbClr val="0D7C66"/>
          </a:solidFill>
          <a:ln w="12700">
            <a:solidFill>
              <a:srgbClr val="0D7C66"/>
            </a:solidFill>
            <a:prstDash val="solid"/>
          </a:ln>
        </p:spPr>
      </p:sp>
      <p:sp>
        <p:nvSpPr>
          <p:cNvPr id="8" name="Text 6"/>
          <p:cNvSpPr/>
          <p:nvPr/>
        </p:nvSpPr>
        <p:spPr>
          <a:xfrm>
            <a:off x="530352" y="1042416"/>
            <a:ext cx="4572000" cy="256032"/>
          </a:xfrm>
          <a:prstGeom prst="rect">
            <a:avLst/>
          </a:prstGeom>
          <a:noFill/>
          <a:ln/>
        </p:spPr>
        <p:txBody>
          <a:bodyPr wrap="square" rtlCol="0" anchor="ctr"/>
          <a:lstStyle/>
          <a:p>
            <a:pPr indent="0" marL="0">
              <a:buNone/>
            </a:pPr>
            <a:r>
              <a:rPr lang="en-US" sz="1200" b="1" dirty="0">
                <a:solidFill>
                  <a:srgbClr val="0D7C66"/>
                </a:solidFill>
                <a:latin typeface="Arial Black" pitchFamily="34" charset="0"/>
                <a:ea typeface="Arial Black" pitchFamily="34" charset="-122"/>
                <a:cs typeface="Arial Black" pitchFamily="34" charset="-120"/>
              </a:rPr>
              <a:t>ELO Features (2)</a:t>
            </a:r>
            <a:endParaRPr lang="en-US" sz="1200" dirty="0"/>
          </a:p>
        </p:txBody>
      </p:sp>
      <p:sp>
        <p:nvSpPr>
          <p:cNvPr id="9" name="Text 7"/>
          <p:cNvSpPr/>
          <p:nvPr/>
        </p:nvSpPr>
        <p:spPr>
          <a:xfrm>
            <a:off x="530352" y="1335024"/>
            <a:ext cx="4572000" cy="18288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elo_diff — home ELO minus away ELO</a:t>
            </a:r>
            <a:endParaRPr lang="en-US" sz="1050" dirty="0"/>
          </a:p>
        </p:txBody>
      </p:sp>
      <p:sp>
        <p:nvSpPr>
          <p:cNvPr id="10" name="Text 8"/>
          <p:cNvSpPr/>
          <p:nvPr/>
        </p:nvSpPr>
        <p:spPr>
          <a:xfrm>
            <a:off x="530352" y="1536192"/>
            <a:ext cx="4572000" cy="18288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home_win_prob_elo — win prob from ELO gap</a:t>
            </a:r>
            <a:endParaRPr lang="en-US" sz="1050" dirty="0"/>
          </a:p>
        </p:txBody>
      </p:sp>
      <p:sp>
        <p:nvSpPr>
          <p:cNvPr id="11" name="Shape 9"/>
          <p:cNvSpPr/>
          <p:nvPr/>
        </p:nvSpPr>
        <p:spPr>
          <a:xfrm>
            <a:off x="347472" y="1792224"/>
            <a:ext cx="4892040" cy="749808"/>
          </a:xfrm>
          <a:prstGeom prst="rect">
            <a:avLst/>
          </a:prstGeom>
          <a:solidFill>
            <a:srgbClr val="132A47"/>
          </a:solidFill>
          <a:ln w="12700">
            <a:solidFill>
              <a:srgbClr val="1A7BAF"/>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347472" y="1792224"/>
            <a:ext cx="64008" cy="749808"/>
          </a:xfrm>
          <a:prstGeom prst="rect">
            <a:avLst/>
          </a:prstGeom>
          <a:solidFill>
            <a:srgbClr val="1A7BAF"/>
          </a:solidFill>
          <a:ln w="12700">
            <a:solidFill>
              <a:srgbClr val="1A7BAF"/>
            </a:solidFill>
            <a:prstDash val="solid"/>
          </a:ln>
        </p:spPr>
      </p:sp>
      <p:sp>
        <p:nvSpPr>
          <p:cNvPr id="13" name="Text 11"/>
          <p:cNvSpPr/>
          <p:nvPr/>
        </p:nvSpPr>
        <p:spPr>
          <a:xfrm>
            <a:off x="530352" y="1847088"/>
            <a:ext cx="4572000" cy="256032"/>
          </a:xfrm>
          <a:prstGeom prst="rect">
            <a:avLst/>
          </a:prstGeom>
          <a:noFill/>
          <a:ln/>
        </p:spPr>
        <p:txBody>
          <a:bodyPr wrap="square" rtlCol="0" anchor="ctr"/>
          <a:lstStyle/>
          <a:p>
            <a:pPr indent="0" marL="0">
              <a:buNone/>
            </a:pPr>
            <a:r>
              <a:rPr lang="en-US" sz="1200" b="1" dirty="0">
                <a:solidFill>
                  <a:srgbClr val="1A7BAF"/>
                </a:solidFill>
                <a:latin typeface="Arial Black" pitchFamily="34" charset="0"/>
                <a:ea typeface="Arial Black" pitchFamily="34" charset="-122"/>
                <a:cs typeface="Arial Black" pitchFamily="34" charset="-120"/>
              </a:rPr>
              <a:t>Rolling EPA Features (8)</a:t>
            </a:r>
            <a:endParaRPr lang="en-US" sz="1200" dirty="0"/>
          </a:p>
        </p:txBody>
      </p:sp>
      <p:sp>
        <p:nvSpPr>
          <p:cNvPr id="14" name="Text 12"/>
          <p:cNvSpPr/>
          <p:nvPr/>
        </p:nvSpPr>
        <p:spPr>
          <a:xfrm>
            <a:off x="530352" y="2139696"/>
            <a:ext cx="4572000" cy="18288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4-week offensive &amp; defensive EPA</a:t>
            </a:r>
            <a:endParaRPr lang="en-US" sz="1050" dirty="0"/>
          </a:p>
        </p:txBody>
      </p:sp>
      <p:sp>
        <p:nvSpPr>
          <p:cNvPr id="15" name="Text 13"/>
          <p:cNvSpPr/>
          <p:nvPr/>
        </p:nvSpPr>
        <p:spPr>
          <a:xfrm>
            <a:off x="530352" y="2340864"/>
            <a:ext cx="4572000" cy="18288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Pass EPA and rush EPA per play</a:t>
            </a:r>
            <a:endParaRPr lang="en-US" sz="1050" dirty="0"/>
          </a:p>
        </p:txBody>
      </p:sp>
      <p:sp>
        <p:nvSpPr>
          <p:cNvPr id="16" name="Text 14"/>
          <p:cNvSpPr/>
          <p:nvPr/>
        </p:nvSpPr>
        <p:spPr>
          <a:xfrm>
            <a:off x="530352" y="2542032"/>
            <a:ext cx="4572000" cy="18288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Home-minus-away EPA differentials</a:t>
            </a:r>
            <a:endParaRPr lang="en-US" sz="1050" dirty="0"/>
          </a:p>
        </p:txBody>
      </p:sp>
      <p:sp>
        <p:nvSpPr>
          <p:cNvPr id="17" name="Shape 15"/>
          <p:cNvSpPr/>
          <p:nvPr/>
        </p:nvSpPr>
        <p:spPr>
          <a:xfrm>
            <a:off x="347472" y="2596896"/>
            <a:ext cx="4892040" cy="749808"/>
          </a:xfrm>
          <a:prstGeom prst="rect">
            <a:avLst/>
          </a:prstGeom>
          <a:solidFill>
            <a:srgbClr val="132A47"/>
          </a:solidFill>
          <a:ln w="12700">
            <a:solidFill>
              <a:srgbClr val="D4821A"/>
            </a:solidFill>
            <a:prstDash val="solid"/>
          </a:ln>
          <a:effectLst>
            <a:outerShdw sx="100000" sy="100000" kx="0" ky="0" algn="bl" rotWithShape="0" blurRad="101600" dist="38100" dir="8100000">
              <a:srgbClr val="000000">
                <a:alpha val="18000"/>
              </a:srgbClr>
            </a:outerShdw>
          </a:effectLst>
        </p:spPr>
      </p:sp>
      <p:sp>
        <p:nvSpPr>
          <p:cNvPr id="18" name="Shape 16"/>
          <p:cNvSpPr/>
          <p:nvPr/>
        </p:nvSpPr>
        <p:spPr>
          <a:xfrm>
            <a:off x="347472" y="2596896"/>
            <a:ext cx="64008" cy="749808"/>
          </a:xfrm>
          <a:prstGeom prst="rect">
            <a:avLst/>
          </a:prstGeom>
          <a:solidFill>
            <a:srgbClr val="D4821A"/>
          </a:solidFill>
          <a:ln w="12700">
            <a:solidFill>
              <a:srgbClr val="D4821A"/>
            </a:solidFill>
            <a:prstDash val="solid"/>
          </a:ln>
        </p:spPr>
      </p:sp>
      <p:sp>
        <p:nvSpPr>
          <p:cNvPr id="19" name="Text 17"/>
          <p:cNvSpPr/>
          <p:nvPr/>
        </p:nvSpPr>
        <p:spPr>
          <a:xfrm>
            <a:off x="530352" y="2651760"/>
            <a:ext cx="4572000" cy="256032"/>
          </a:xfrm>
          <a:prstGeom prst="rect">
            <a:avLst/>
          </a:prstGeom>
          <a:noFill/>
          <a:ln/>
        </p:spPr>
        <p:txBody>
          <a:bodyPr wrap="square" rtlCol="0" anchor="ctr"/>
          <a:lstStyle/>
          <a:p>
            <a:pPr indent="0" marL="0">
              <a:buNone/>
            </a:pPr>
            <a:r>
              <a:rPr lang="en-US" sz="1200" b="1" dirty="0">
                <a:solidFill>
                  <a:srgbClr val="D4821A"/>
                </a:solidFill>
                <a:latin typeface="Arial Black" pitchFamily="34" charset="0"/>
                <a:ea typeface="Arial Black" pitchFamily="34" charset="-122"/>
                <a:cs typeface="Arial Black" pitchFamily="34" charset="-120"/>
              </a:rPr>
              <a:t>Efficiency Features (4)</a:t>
            </a:r>
            <a:endParaRPr lang="en-US" sz="1200" dirty="0"/>
          </a:p>
        </p:txBody>
      </p:sp>
      <p:sp>
        <p:nvSpPr>
          <p:cNvPr id="20" name="Text 18"/>
          <p:cNvSpPr/>
          <p:nvPr/>
        </p:nvSpPr>
        <p:spPr>
          <a:xfrm>
            <a:off x="530352" y="2944368"/>
            <a:ext cx="4572000" cy="18288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Turnover margin (forced minus given)</a:t>
            </a:r>
            <a:endParaRPr lang="en-US" sz="1050" dirty="0"/>
          </a:p>
        </p:txBody>
      </p:sp>
      <p:sp>
        <p:nvSpPr>
          <p:cNvPr id="21" name="Text 19"/>
          <p:cNvSpPr/>
          <p:nvPr/>
        </p:nvSpPr>
        <p:spPr>
          <a:xfrm>
            <a:off x="530352" y="3145536"/>
            <a:ext cx="4572000" cy="18288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Sack rate &amp; 3rd down conversion rate</a:t>
            </a:r>
            <a:endParaRPr lang="en-US" sz="1050" dirty="0"/>
          </a:p>
        </p:txBody>
      </p:sp>
      <p:sp>
        <p:nvSpPr>
          <p:cNvPr id="22" name="Shape 20"/>
          <p:cNvSpPr/>
          <p:nvPr/>
        </p:nvSpPr>
        <p:spPr>
          <a:xfrm>
            <a:off x="347472" y="3401568"/>
            <a:ext cx="4892040" cy="749808"/>
          </a:xfrm>
          <a:prstGeom prst="rect">
            <a:avLst/>
          </a:prstGeom>
          <a:solidFill>
            <a:srgbClr val="132A47"/>
          </a:solidFill>
          <a:ln w="12700">
            <a:solidFill>
              <a:srgbClr val="C8102E"/>
            </a:solidFill>
            <a:prstDash val="solid"/>
          </a:ln>
          <a:effectLst>
            <a:outerShdw sx="100000" sy="100000" kx="0" ky="0" algn="bl" rotWithShape="0" blurRad="101600" dist="38100" dir="8100000">
              <a:srgbClr val="000000">
                <a:alpha val="18000"/>
              </a:srgbClr>
            </a:outerShdw>
          </a:effectLst>
        </p:spPr>
      </p:sp>
      <p:sp>
        <p:nvSpPr>
          <p:cNvPr id="23" name="Shape 21"/>
          <p:cNvSpPr/>
          <p:nvPr/>
        </p:nvSpPr>
        <p:spPr>
          <a:xfrm>
            <a:off x="347472" y="3401568"/>
            <a:ext cx="64008" cy="749808"/>
          </a:xfrm>
          <a:prstGeom prst="rect">
            <a:avLst/>
          </a:prstGeom>
          <a:solidFill>
            <a:srgbClr val="C8102E"/>
          </a:solidFill>
          <a:ln w="12700">
            <a:solidFill>
              <a:srgbClr val="C8102E"/>
            </a:solidFill>
            <a:prstDash val="solid"/>
          </a:ln>
        </p:spPr>
      </p:sp>
      <p:sp>
        <p:nvSpPr>
          <p:cNvPr id="24" name="Text 22"/>
          <p:cNvSpPr/>
          <p:nvPr/>
        </p:nvSpPr>
        <p:spPr>
          <a:xfrm>
            <a:off x="530352" y="3456432"/>
            <a:ext cx="4572000" cy="256032"/>
          </a:xfrm>
          <a:prstGeom prst="rect">
            <a:avLst/>
          </a:prstGeom>
          <a:noFill/>
          <a:ln/>
        </p:spPr>
        <p:txBody>
          <a:bodyPr wrap="square" rtlCol="0" anchor="ctr"/>
          <a:lstStyle/>
          <a:p>
            <a:pPr indent="0" marL="0">
              <a:buNone/>
            </a:pPr>
            <a:r>
              <a:rPr lang="en-US" sz="1200" b="1" dirty="0">
                <a:solidFill>
                  <a:srgbClr val="C8102E"/>
                </a:solidFill>
                <a:latin typeface="Arial Black" pitchFamily="34" charset="0"/>
                <a:ea typeface="Arial Black" pitchFamily="34" charset="-122"/>
                <a:cs typeface="Arial Black" pitchFamily="34" charset="-120"/>
              </a:rPr>
              <a:t>Injury Features (6)</a:t>
            </a:r>
            <a:endParaRPr lang="en-US" sz="1200" dirty="0"/>
          </a:p>
        </p:txBody>
      </p:sp>
      <p:sp>
        <p:nvSpPr>
          <p:cNvPr id="25" name="Text 23"/>
          <p:cNvSpPr/>
          <p:nvPr/>
        </p:nvSpPr>
        <p:spPr>
          <a:xfrm>
            <a:off x="530352" y="3749040"/>
            <a:ext cx="4572000" cy="18288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Position-weighted injury impact score</a:t>
            </a:r>
            <a:endParaRPr lang="en-US" sz="1050" dirty="0"/>
          </a:p>
        </p:txBody>
      </p:sp>
      <p:sp>
        <p:nvSpPr>
          <p:cNvPr id="26" name="Text 24"/>
          <p:cNvSpPr/>
          <p:nvPr/>
        </p:nvSpPr>
        <p:spPr>
          <a:xfrm>
            <a:off x="530352" y="3950208"/>
            <a:ext cx="4572000" cy="18288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QB injured flag  ·  Skill position count</a:t>
            </a:r>
            <a:endParaRPr lang="en-US" sz="1050" dirty="0"/>
          </a:p>
        </p:txBody>
      </p:sp>
      <p:sp>
        <p:nvSpPr>
          <p:cNvPr id="27" name="Shape 25"/>
          <p:cNvSpPr/>
          <p:nvPr/>
        </p:nvSpPr>
        <p:spPr>
          <a:xfrm>
            <a:off x="347472" y="4206240"/>
            <a:ext cx="4892040" cy="749808"/>
          </a:xfrm>
          <a:prstGeom prst="rect">
            <a:avLst/>
          </a:prstGeom>
          <a:solidFill>
            <a:srgbClr val="132A47"/>
          </a:solidFill>
          <a:ln w="12700">
            <a:solidFill>
              <a:srgbClr val="F5A623"/>
            </a:solidFill>
            <a:prstDash val="solid"/>
          </a:ln>
          <a:effectLst>
            <a:outerShdw sx="100000" sy="100000" kx="0" ky="0" algn="bl" rotWithShape="0" blurRad="101600" dist="38100" dir="8100000">
              <a:srgbClr val="000000">
                <a:alpha val="18000"/>
              </a:srgbClr>
            </a:outerShdw>
          </a:effectLst>
        </p:spPr>
      </p:sp>
      <p:sp>
        <p:nvSpPr>
          <p:cNvPr id="28" name="Shape 26"/>
          <p:cNvSpPr/>
          <p:nvPr/>
        </p:nvSpPr>
        <p:spPr>
          <a:xfrm>
            <a:off x="347472" y="4206240"/>
            <a:ext cx="64008" cy="749808"/>
          </a:xfrm>
          <a:prstGeom prst="rect">
            <a:avLst/>
          </a:prstGeom>
          <a:solidFill>
            <a:srgbClr val="F5A623"/>
          </a:solidFill>
          <a:ln w="12700">
            <a:solidFill>
              <a:srgbClr val="F5A623"/>
            </a:solidFill>
            <a:prstDash val="solid"/>
          </a:ln>
        </p:spPr>
      </p:sp>
      <p:sp>
        <p:nvSpPr>
          <p:cNvPr id="29" name="Text 27"/>
          <p:cNvSpPr/>
          <p:nvPr/>
        </p:nvSpPr>
        <p:spPr>
          <a:xfrm>
            <a:off x="530352" y="4261104"/>
            <a:ext cx="4572000" cy="256032"/>
          </a:xfrm>
          <a:prstGeom prst="rect">
            <a:avLst/>
          </a:prstGeom>
          <a:noFill/>
          <a:ln/>
        </p:spPr>
        <p:txBody>
          <a:bodyPr wrap="square" rtlCol="0" anchor="ctr"/>
          <a:lstStyle/>
          <a:p>
            <a:pPr indent="0" marL="0">
              <a:buNone/>
            </a:pPr>
            <a:r>
              <a:rPr lang="en-US" sz="1200" b="1" dirty="0">
                <a:solidFill>
                  <a:srgbClr val="F5A623"/>
                </a:solidFill>
                <a:latin typeface="Arial Black" pitchFamily="34" charset="0"/>
                <a:ea typeface="Arial Black" pitchFamily="34" charset="-122"/>
                <a:cs typeface="Arial Black" pitchFamily="34" charset="-120"/>
              </a:rPr>
              <a:t>Draft Features (6)</a:t>
            </a:r>
            <a:endParaRPr lang="en-US" sz="1200" dirty="0"/>
          </a:p>
        </p:txBody>
      </p:sp>
      <p:sp>
        <p:nvSpPr>
          <p:cNvPr id="30" name="Text 28"/>
          <p:cNvSpPr/>
          <p:nvPr/>
        </p:nvSpPr>
        <p:spPr>
          <a:xfrm>
            <a:off x="530352" y="4553712"/>
            <a:ext cx="4572000" cy="18288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Top pick talent value (by pick number)</a:t>
            </a:r>
            <a:endParaRPr lang="en-US" sz="1050" dirty="0"/>
          </a:p>
        </p:txBody>
      </p:sp>
      <p:sp>
        <p:nvSpPr>
          <p:cNvPr id="31" name="Text 29"/>
          <p:cNvSpPr/>
          <p:nvPr/>
        </p:nvSpPr>
        <p:spPr>
          <a:xfrm>
            <a:off x="530352" y="4754880"/>
            <a:ext cx="4572000" cy="18288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Draft class quality  ·  EPA delta yr-on-yr</a:t>
            </a:r>
            <a:endParaRPr lang="en-US" sz="1050" dirty="0"/>
          </a:p>
        </p:txBody>
      </p:sp>
      <p:sp>
        <p:nvSpPr>
          <p:cNvPr id="32" name="Shape 30"/>
          <p:cNvSpPr/>
          <p:nvPr/>
        </p:nvSpPr>
        <p:spPr>
          <a:xfrm>
            <a:off x="5394960" y="987552"/>
            <a:ext cx="3383280" cy="2395728"/>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33" name="Text 31"/>
          <p:cNvSpPr/>
          <p:nvPr/>
        </p:nvSpPr>
        <p:spPr>
          <a:xfrm>
            <a:off x="5532120" y="1060704"/>
            <a:ext cx="3108960" cy="310896"/>
          </a:xfrm>
          <a:prstGeom prst="rect">
            <a:avLst/>
          </a:prstGeom>
          <a:noFill/>
          <a:ln/>
        </p:spPr>
        <p:txBody>
          <a:bodyPr wrap="square" rtlCol="0" anchor="ctr"/>
          <a:lstStyle/>
          <a:p>
            <a:pPr indent="0" marL="0">
              <a:buNone/>
            </a:pPr>
            <a:r>
              <a:rPr lang="en-US" sz="1300" b="1" dirty="0">
                <a:solidFill>
                  <a:srgbClr val="0D7C66"/>
                </a:solidFill>
                <a:latin typeface="Arial Black" pitchFamily="34" charset="0"/>
                <a:ea typeface="Arial Black" pitchFamily="34" charset="-122"/>
                <a:cs typeface="Arial Black" pitchFamily="34" charset="-120"/>
              </a:rPr>
              <a:t>Anti-Leakage: shift(1)</a:t>
            </a:r>
            <a:endParaRPr lang="en-US" sz="1300" dirty="0"/>
          </a:p>
        </p:txBody>
      </p:sp>
      <p:sp>
        <p:nvSpPr>
          <p:cNvPr id="34" name="Text 32"/>
          <p:cNvSpPr/>
          <p:nvPr/>
        </p:nvSpPr>
        <p:spPr>
          <a:xfrm>
            <a:off x="5532120" y="1444752"/>
            <a:ext cx="3108960" cy="54864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Week N features ONLY contain data from Weeks 1 to N-1. The current game never sees its own data during training.</a:t>
            </a:r>
            <a:endParaRPr lang="en-US" sz="1050" dirty="0"/>
          </a:p>
        </p:txBody>
      </p:sp>
      <p:sp>
        <p:nvSpPr>
          <p:cNvPr id="35" name="Text 33"/>
          <p:cNvSpPr/>
          <p:nvPr/>
        </p:nvSpPr>
        <p:spPr>
          <a:xfrm>
            <a:off x="5532120" y="2066544"/>
            <a:ext cx="3108960" cy="54864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Without shift(1), a model accidentally learns from the result it is trying to predict — inflating CV scores by 5-8%.</a:t>
            </a:r>
            <a:endParaRPr lang="en-US" sz="1050" dirty="0"/>
          </a:p>
        </p:txBody>
      </p:sp>
      <p:sp>
        <p:nvSpPr>
          <p:cNvPr id="36" name="Text 34"/>
          <p:cNvSpPr/>
          <p:nvPr/>
        </p:nvSpPr>
        <p:spPr>
          <a:xfrm>
            <a:off x="5532120" y="2688336"/>
            <a:ext cx="3108960" cy="548640"/>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Enforced for every rolling feature. Verified by test: TestFeatureEngineer::test_rolling_features_no_leakage</a:t>
            </a:r>
            <a:endParaRPr lang="en-US" sz="1050" dirty="0"/>
          </a:p>
        </p:txBody>
      </p:sp>
      <p:sp>
        <p:nvSpPr>
          <p:cNvPr id="37" name="Shape 35"/>
          <p:cNvSpPr/>
          <p:nvPr/>
        </p:nvSpPr>
        <p:spPr>
          <a:xfrm>
            <a:off x="5394960" y="3511296"/>
            <a:ext cx="3383280" cy="1280160"/>
          </a:xfrm>
          <a:prstGeom prst="rect">
            <a:avLst/>
          </a:prstGeom>
          <a:solidFill>
            <a:srgbClr val="132A47"/>
          </a:solidFill>
          <a:ln w="12700">
            <a:solidFill>
              <a:srgbClr val="F5A623"/>
            </a:solidFill>
            <a:prstDash val="solid"/>
          </a:ln>
          <a:effectLst>
            <a:outerShdw sx="100000" sy="100000" kx="0" ky="0" algn="bl" rotWithShape="0" blurRad="101600" dist="38100" dir="8100000">
              <a:srgbClr val="000000">
                <a:alpha val="18000"/>
              </a:srgbClr>
            </a:outerShdw>
          </a:effectLst>
        </p:spPr>
      </p:sp>
      <p:sp>
        <p:nvSpPr>
          <p:cNvPr id="38" name="Text 36"/>
          <p:cNvSpPr/>
          <p:nvPr/>
        </p:nvSpPr>
        <p:spPr>
          <a:xfrm>
            <a:off x="5532120" y="3584448"/>
            <a:ext cx="3108960" cy="292608"/>
          </a:xfrm>
          <a:prstGeom prst="rect">
            <a:avLst/>
          </a:prstGeom>
          <a:noFill/>
          <a:ln/>
        </p:spPr>
        <p:txBody>
          <a:bodyPr wrap="square" rtlCol="0" anchor="ctr"/>
          <a:lstStyle/>
          <a:p>
            <a:pPr indent="0" marL="0">
              <a:buNone/>
            </a:pPr>
            <a:r>
              <a:rPr lang="en-US" sz="1300" b="1" dirty="0">
                <a:solidFill>
                  <a:srgbClr val="F5A623"/>
                </a:solidFill>
                <a:latin typeface="Arial Black" pitchFamily="34" charset="0"/>
                <a:ea typeface="Arial Black" pitchFamily="34" charset="-122"/>
                <a:cs typeface="Arial Black" pitchFamily="34" charset="-120"/>
              </a:rPr>
              <a:t>Why exactly 32 features?</a:t>
            </a:r>
            <a:endParaRPr lang="en-US" sz="1300" dirty="0"/>
          </a:p>
        </p:txBody>
      </p:sp>
      <p:sp>
        <p:nvSpPr>
          <p:cNvPr id="39" name="Text 37"/>
          <p:cNvSpPr/>
          <p:nvPr/>
        </p:nvSpPr>
        <p:spPr>
          <a:xfrm>
            <a:off x="5532120" y="3931920"/>
            <a:ext cx="3108960" cy="384048"/>
          </a:xfrm>
          <a:prstGeom prst="rect">
            <a:avLst/>
          </a:prstGeom>
          <a:noFill/>
          <a:ln/>
        </p:spPr>
        <p:txBody>
          <a:bodyPr wrap="square"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Tested more — they added noise, not signal. Fewer features also makes SHAP explanations cleaner and the model less likely to overfit on 2,227 training games.</a:t>
            </a:r>
            <a:endParaRPr lang="en-US" sz="1000" dirty="0"/>
          </a:p>
        </p:txBody>
      </p:sp>
      <p:sp>
        <p:nvSpPr>
          <p:cNvPr id="40" name="Text 38"/>
          <p:cNvSpPr/>
          <p:nvPr/>
        </p:nvSpPr>
        <p:spPr>
          <a:xfrm>
            <a:off x="5532120" y="4352544"/>
            <a:ext cx="3108960" cy="384048"/>
          </a:xfrm>
          <a:prstGeom prst="rect">
            <a:avLst/>
          </a:prstGeom>
          <a:noFill/>
          <a:ln/>
        </p:spPr>
        <p:txBody>
          <a:bodyPr wrap="square" rtlCol="0" anchor="ctr"/>
          <a:lstStyle/>
          <a:p>
            <a:pPr indent="0" marL="0">
              <a:buNone/>
            </a:pPr>
            <a:r>
              <a:rPr lang="en-US" sz="1000" dirty="0">
                <a:solidFill>
                  <a:srgbClr val="E8EEF4"/>
                </a:solidFill>
                <a:latin typeface="Calibri" pitchFamily="34" charset="0"/>
                <a:ea typeface="Calibri" pitchFamily="34" charset="-122"/>
                <a:cs typeface="Calibri" pitchFamily="34" charset="-120"/>
              </a:rPr>
              <a:t>▸  All features computed as both raw values AND home-minus-away differentials to give the model relative team context.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128016"/>
          </a:xfrm>
          <a:prstGeom prst="rect">
            <a:avLst/>
          </a:prstGeom>
          <a:solidFill>
            <a:srgbClr val="F5A623"/>
          </a:solidFill>
          <a:ln w="12700">
            <a:solidFill>
              <a:srgbClr val="F5A623"/>
            </a:solidFill>
            <a:prstDash val="solid"/>
          </a:ln>
        </p:spPr>
      </p:sp>
      <p:sp>
        <p:nvSpPr>
          <p:cNvPr id="3" name="Shape 1"/>
          <p:cNvSpPr/>
          <p:nvPr/>
        </p:nvSpPr>
        <p:spPr>
          <a:xfrm>
            <a:off x="0" y="4974336"/>
            <a:ext cx="9144000" cy="169164"/>
          </a:xfrm>
          <a:prstGeom prst="rect">
            <a:avLst/>
          </a:prstGeom>
          <a:solidFill>
            <a:srgbClr val="0D7C66"/>
          </a:solidFill>
          <a:ln w="12700">
            <a:solidFill>
              <a:srgbClr val="0D7C66"/>
            </a:solidFill>
            <a:prstDash val="solid"/>
          </a:ln>
        </p:spPr>
      </p:sp>
      <p:sp>
        <p:nvSpPr>
          <p:cNvPr id="4" name="Text 2"/>
          <p:cNvSpPr/>
          <p:nvPr/>
        </p:nvSpPr>
        <p:spPr>
          <a:xfrm>
            <a:off x="411480" y="182880"/>
            <a:ext cx="8321040" cy="566928"/>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Layer 3: Why XGBoost?</a:t>
            </a:r>
            <a:endParaRPr lang="en-US" sz="3000" dirty="0"/>
          </a:p>
        </p:txBody>
      </p:sp>
      <p:sp>
        <p:nvSpPr>
          <p:cNvPr id="5" name="Text 3"/>
          <p:cNvSpPr/>
          <p:nvPr/>
        </p:nvSpPr>
        <p:spPr>
          <a:xfrm>
            <a:off x="411480" y="749808"/>
            <a:ext cx="8321040" cy="256032"/>
          </a:xfrm>
          <a:prstGeom prst="rect">
            <a:avLst/>
          </a:prstGeom>
          <a:noFill/>
          <a:ln/>
        </p:spPr>
        <p:txBody>
          <a:bodyPr wrap="square" rtlCol="0" anchor="ctr"/>
          <a:lstStyle/>
          <a:p>
            <a:pPr indent="0" marL="0">
              <a:buNone/>
            </a:pPr>
            <a:r>
              <a:rPr lang="en-US" sz="1200" i="1" dirty="0">
                <a:solidFill>
                  <a:srgbClr val="7A9CBB"/>
                </a:solidFill>
                <a:latin typeface="Calibri" pitchFamily="34" charset="0"/>
                <a:ea typeface="Calibri" pitchFamily="34" charset="-122"/>
                <a:cs typeface="Calibri" pitchFamily="34" charset="-120"/>
              </a:rPr>
              <a:t>We tested every major ML algorithm. XGBoost won on every metric that matters for this problem.</a:t>
            </a:r>
            <a:endParaRPr lang="en-US" sz="1200" dirty="0"/>
          </a:p>
        </p:txBody>
      </p:sp>
      <p:sp>
        <p:nvSpPr>
          <p:cNvPr id="6" name="Shape 4"/>
          <p:cNvSpPr/>
          <p:nvPr/>
        </p:nvSpPr>
        <p:spPr>
          <a:xfrm>
            <a:off x="365760" y="960120"/>
            <a:ext cx="8412480" cy="402336"/>
          </a:xfrm>
          <a:prstGeom prst="rect">
            <a:avLst/>
          </a:prstGeom>
          <a:solidFill>
            <a:srgbClr val="0D7C66"/>
          </a:solidFill>
          <a:ln w="12700">
            <a:solidFill>
              <a:srgbClr val="0D7C66"/>
            </a:solidFill>
            <a:prstDash val="solid"/>
          </a:ln>
        </p:spPr>
      </p:sp>
      <p:sp>
        <p:nvSpPr>
          <p:cNvPr id="7" name="Text 5"/>
          <p:cNvSpPr/>
          <p:nvPr/>
        </p:nvSpPr>
        <p:spPr>
          <a:xfrm>
            <a:off x="502920" y="1005840"/>
            <a:ext cx="2926080" cy="329184"/>
          </a:xfrm>
          <a:prstGeom prst="rect">
            <a:avLst/>
          </a:prstGeom>
          <a:noFill/>
          <a:ln/>
        </p:spPr>
        <p:txBody>
          <a:bodyPr wrap="square" rtlCol="0" anchor="ctr"/>
          <a:lstStyle/>
          <a:p>
            <a:pPr indent="0" marL="0">
              <a:buNone/>
            </a:pPr>
            <a:r>
              <a:rPr lang="en-US" sz="1250" b="1" dirty="0">
                <a:solidFill>
                  <a:srgbClr val="FFFFFF"/>
                </a:solidFill>
                <a:latin typeface="Arial Black" pitchFamily="34" charset="0"/>
                <a:ea typeface="Arial Black" pitchFamily="34" charset="-122"/>
                <a:cs typeface="Arial Black" pitchFamily="34" charset="-120"/>
              </a:rPr>
              <a:t>Model</a:t>
            </a:r>
            <a:endParaRPr lang="en-US" sz="1250" dirty="0"/>
          </a:p>
        </p:txBody>
      </p:sp>
      <p:sp>
        <p:nvSpPr>
          <p:cNvPr id="8" name="Text 6"/>
          <p:cNvSpPr/>
          <p:nvPr/>
        </p:nvSpPr>
        <p:spPr>
          <a:xfrm>
            <a:off x="2606040" y="1005840"/>
            <a:ext cx="2926080" cy="329184"/>
          </a:xfrm>
          <a:prstGeom prst="rect">
            <a:avLst/>
          </a:prstGeom>
          <a:noFill/>
          <a:ln/>
        </p:spPr>
        <p:txBody>
          <a:bodyPr wrap="square" rtlCol="0" anchor="ctr"/>
          <a:lstStyle/>
          <a:p>
            <a:pPr indent="0" marL="0">
              <a:buNone/>
            </a:pPr>
            <a:r>
              <a:rPr lang="en-US" sz="1250" b="1" dirty="0">
                <a:solidFill>
                  <a:srgbClr val="FFFFFF"/>
                </a:solidFill>
                <a:latin typeface="Arial Black" pitchFamily="34" charset="0"/>
                <a:ea typeface="Arial Black" pitchFamily="34" charset="-122"/>
                <a:cs typeface="Arial Black" pitchFamily="34" charset="-120"/>
              </a:rPr>
              <a:t>Why Rejected</a:t>
            </a:r>
            <a:endParaRPr lang="en-US" sz="1250" dirty="0"/>
          </a:p>
        </p:txBody>
      </p:sp>
      <p:sp>
        <p:nvSpPr>
          <p:cNvPr id="9" name="Text 7"/>
          <p:cNvSpPr/>
          <p:nvPr/>
        </p:nvSpPr>
        <p:spPr>
          <a:xfrm>
            <a:off x="5577840" y="1005840"/>
            <a:ext cx="2926080" cy="329184"/>
          </a:xfrm>
          <a:prstGeom prst="rect">
            <a:avLst/>
          </a:prstGeom>
          <a:noFill/>
          <a:ln/>
        </p:spPr>
        <p:txBody>
          <a:bodyPr wrap="square" rtlCol="0" anchor="ctr"/>
          <a:lstStyle/>
          <a:p>
            <a:pPr indent="0" marL="0">
              <a:buNone/>
            </a:pPr>
            <a:r>
              <a:rPr lang="en-US" sz="1250" b="1" dirty="0">
                <a:solidFill>
                  <a:srgbClr val="FFFFFF"/>
                </a:solidFill>
                <a:latin typeface="Arial Black" pitchFamily="34" charset="0"/>
                <a:ea typeface="Arial Black" pitchFamily="34" charset="-122"/>
                <a:cs typeface="Arial Black" pitchFamily="34" charset="-120"/>
              </a:rPr>
              <a:t>Key Weakness for This Problem</a:t>
            </a:r>
            <a:endParaRPr lang="en-US" sz="1250" dirty="0"/>
          </a:p>
        </p:txBody>
      </p:sp>
      <p:sp>
        <p:nvSpPr>
          <p:cNvPr id="10" name="Shape 8"/>
          <p:cNvSpPr/>
          <p:nvPr/>
        </p:nvSpPr>
        <p:spPr>
          <a:xfrm>
            <a:off x="365760" y="1389888"/>
            <a:ext cx="8412480" cy="530352"/>
          </a:xfrm>
          <a:prstGeom prst="rect">
            <a:avLst/>
          </a:prstGeom>
          <a:solidFill>
            <a:srgbClr val="132A47"/>
          </a:solidFill>
          <a:ln w="12700">
            <a:solidFill>
              <a:srgbClr val="132A47"/>
            </a:solidFill>
            <a:prstDash val="solid"/>
          </a:ln>
        </p:spPr>
      </p:sp>
      <p:sp>
        <p:nvSpPr>
          <p:cNvPr id="11" name="Text 9"/>
          <p:cNvSpPr/>
          <p:nvPr/>
        </p:nvSpPr>
        <p:spPr>
          <a:xfrm>
            <a:off x="502920" y="1481328"/>
            <a:ext cx="2011680" cy="329184"/>
          </a:xfrm>
          <a:prstGeom prst="rect">
            <a:avLst/>
          </a:prstGeom>
          <a:noFill/>
          <a:ln/>
        </p:spPr>
        <p:txBody>
          <a:bodyPr wrap="square"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Logistic Regression</a:t>
            </a:r>
            <a:endParaRPr lang="en-US" sz="1200" dirty="0"/>
          </a:p>
        </p:txBody>
      </p:sp>
      <p:sp>
        <p:nvSpPr>
          <p:cNvPr id="12" name="Text 10"/>
          <p:cNvSpPr/>
          <p:nvPr/>
        </p:nvSpPr>
        <p:spPr>
          <a:xfrm>
            <a:off x="2606040" y="1481328"/>
            <a:ext cx="2834640" cy="329184"/>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Cannot capture non-linear feature interactions</a:t>
            </a:r>
            <a:endParaRPr lang="en-US" sz="1100" dirty="0"/>
          </a:p>
        </p:txBody>
      </p:sp>
      <p:sp>
        <p:nvSpPr>
          <p:cNvPr id="13" name="Text 11"/>
          <p:cNvSpPr/>
          <p:nvPr/>
        </p:nvSpPr>
        <p:spPr>
          <a:xfrm>
            <a:off x="5577840" y="1481328"/>
            <a:ext cx="3063240" cy="329184"/>
          </a:xfrm>
          <a:prstGeom prst="rect">
            <a:avLst/>
          </a:prstGeom>
          <a:noFill/>
          <a:ln/>
        </p:spPr>
        <p:txBody>
          <a:bodyPr wrap="square" rtlCol="0" anchor="ctr"/>
          <a:lstStyle/>
          <a:p>
            <a:pPr indent="0" marL="0">
              <a:buNone/>
            </a:pPr>
            <a:r>
              <a:rPr lang="en-US" sz="1050" dirty="0">
                <a:solidFill>
                  <a:srgbClr val="7A9CBB"/>
                </a:solidFill>
                <a:latin typeface="Calibri" pitchFamily="34" charset="0"/>
                <a:ea typeface="Calibri" pitchFamily="34" charset="-122"/>
                <a:cs typeface="Calibri" pitchFamily="34" charset="-120"/>
              </a:rPr>
              <a:t>A team's ELO × injury interaction matters — logistic regression misses this entirely</a:t>
            </a:r>
            <a:endParaRPr lang="en-US" sz="1050" dirty="0"/>
          </a:p>
        </p:txBody>
      </p:sp>
      <p:sp>
        <p:nvSpPr>
          <p:cNvPr id="14" name="Shape 12"/>
          <p:cNvSpPr/>
          <p:nvPr/>
        </p:nvSpPr>
        <p:spPr>
          <a:xfrm>
            <a:off x="365760" y="1975104"/>
            <a:ext cx="8412480" cy="530352"/>
          </a:xfrm>
          <a:prstGeom prst="rect">
            <a:avLst/>
          </a:prstGeom>
          <a:solidFill>
            <a:srgbClr val="1E3D5C"/>
          </a:solidFill>
          <a:ln w="12700">
            <a:solidFill>
              <a:srgbClr val="1E3D5C"/>
            </a:solidFill>
            <a:prstDash val="solid"/>
          </a:ln>
        </p:spPr>
      </p:sp>
      <p:sp>
        <p:nvSpPr>
          <p:cNvPr id="15" name="Text 13"/>
          <p:cNvSpPr/>
          <p:nvPr/>
        </p:nvSpPr>
        <p:spPr>
          <a:xfrm>
            <a:off x="502920" y="2066544"/>
            <a:ext cx="2011680" cy="329184"/>
          </a:xfrm>
          <a:prstGeom prst="rect">
            <a:avLst/>
          </a:prstGeom>
          <a:noFill/>
          <a:ln/>
        </p:spPr>
        <p:txBody>
          <a:bodyPr wrap="square"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Neural Networks</a:t>
            </a:r>
            <a:endParaRPr lang="en-US" sz="1200" dirty="0"/>
          </a:p>
        </p:txBody>
      </p:sp>
      <p:sp>
        <p:nvSpPr>
          <p:cNvPr id="16" name="Text 14"/>
          <p:cNvSpPr/>
          <p:nvPr/>
        </p:nvSpPr>
        <p:spPr>
          <a:xfrm>
            <a:off x="2606040" y="2066544"/>
            <a:ext cx="2834640" cy="329184"/>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Needs 50K+ samples — we have 2,227 games</a:t>
            </a:r>
            <a:endParaRPr lang="en-US" sz="1100" dirty="0"/>
          </a:p>
        </p:txBody>
      </p:sp>
      <p:sp>
        <p:nvSpPr>
          <p:cNvPr id="17" name="Text 15"/>
          <p:cNvSpPr/>
          <p:nvPr/>
        </p:nvSpPr>
        <p:spPr>
          <a:xfrm>
            <a:off x="5577840" y="2066544"/>
            <a:ext cx="3063240" cy="329184"/>
          </a:xfrm>
          <a:prstGeom prst="rect">
            <a:avLst/>
          </a:prstGeom>
          <a:noFill/>
          <a:ln/>
        </p:spPr>
        <p:txBody>
          <a:bodyPr wrap="square" rtlCol="0" anchor="ctr"/>
          <a:lstStyle/>
          <a:p>
            <a:pPr indent="0" marL="0">
              <a:buNone/>
            </a:pPr>
            <a:r>
              <a:rPr lang="en-US" sz="1050" dirty="0">
                <a:solidFill>
                  <a:srgbClr val="7A9CBB"/>
                </a:solidFill>
                <a:latin typeface="Calibri" pitchFamily="34" charset="0"/>
                <a:ea typeface="Calibri" pitchFamily="34" charset="-122"/>
                <a:cs typeface="Calibri" pitchFamily="34" charset="-120"/>
              </a:rPr>
              <a:t>Would overfit badly, produce no SHAP explanations, and take 100× longer to train</a:t>
            </a:r>
            <a:endParaRPr lang="en-US" sz="1050" dirty="0"/>
          </a:p>
        </p:txBody>
      </p:sp>
      <p:sp>
        <p:nvSpPr>
          <p:cNvPr id="18" name="Shape 16"/>
          <p:cNvSpPr/>
          <p:nvPr/>
        </p:nvSpPr>
        <p:spPr>
          <a:xfrm>
            <a:off x="365760" y="2560320"/>
            <a:ext cx="8412480" cy="530352"/>
          </a:xfrm>
          <a:prstGeom prst="rect">
            <a:avLst/>
          </a:prstGeom>
          <a:solidFill>
            <a:srgbClr val="132A47"/>
          </a:solidFill>
          <a:ln w="12700">
            <a:solidFill>
              <a:srgbClr val="132A47"/>
            </a:solidFill>
            <a:prstDash val="solid"/>
          </a:ln>
        </p:spPr>
      </p:sp>
      <p:sp>
        <p:nvSpPr>
          <p:cNvPr id="19" name="Text 17"/>
          <p:cNvSpPr/>
          <p:nvPr/>
        </p:nvSpPr>
        <p:spPr>
          <a:xfrm>
            <a:off x="502920" y="2651760"/>
            <a:ext cx="2011680" cy="329184"/>
          </a:xfrm>
          <a:prstGeom prst="rect">
            <a:avLst/>
          </a:prstGeom>
          <a:noFill/>
          <a:ln/>
        </p:spPr>
        <p:txBody>
          <a:bodyPr wrap="square"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Random Forest</a:t>
            </a:r>
            <a:endParaRPr lang="en-US" sz="1200" dirty="0"/>
          </a:p>
        </p:txBody>
      </p:sp>
      <p:sp>
        <p:nvSpPr>
          <p:cNvPr id="20" name="Text 18"/>
          <p:cNvSpPr/>
          <p:nvPr/>
        </p:nvSpPr>
        <p:spPr>
          <a:xfrm>
            <a:off x="2606040" y="2651760"/>
            <a:ext cx="2834640" cy="329184"/>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Bagging (independent trees) not boosting (sequential correction)</a:t>
            </a:r>
            <a:endParaRPr lang="en-US" sz="1100" dirty="0"/>
          </a:p>
        </p:txBody>
      </p:sp>
      <p:sp>
        <p:nvSpPr>
          <p:cNvPr id="21" name="Text 19"/>
          <p:cNvSpPr/>
          <p:nvPr/>
        </p:nvSpPr>
        <p:spPr>
          <a:xfrm>
            <a:off x="5577840" y="2651760"/>
            <a:ext cx="3063240" cy="329184"/>
          </a:xfrm>
          <a:prstGeom prst="rect">
            <a:avLst/>
          </a:prstGeom>
          <a:noFill/>
          <a:ln/>
        </p:spPr>
        <p:txBody>
          <a:bodyPr wrap="square" rtlCol="0" anchor="ctr"/>
          <a:lstStyle/>
          <a:p>
            <a:pPr indent="0" marL="0">
              <a:buNone/>
            </a:pPr>
            <a:r>
              <a:rPr lang="en-US" sz="1050" dirty="0">
                <a:solidFill>
                  <a:srgbClr val="7A9CBB"/>
                </a:solidFill>
                <a:latin typeface="Calibri" pitchFamily="34" charset="0"/>
                <a:ea typeface="Calibri" pitchFamily="34" charset="-122"/>
                <a:cs typeface="Calibri" pitchFamily="34" charset="-120"/>
              </a:rPr>
              <a:t>XGBoost consistently outperforms Random Forest on tabular data of this size</a:t>
            </a:r>
            <a:endParaRPr lang="en-US" sz="1050" dirty="0"/>
          </a:p>
        </p:txBody>
      </p:sp>
      <p:sp>
        <p:nvSpPr>
          <p:cNvPr id="22" name="Shape 20"/>
          <p:cNvSpPr/>
          <p:nvPr/>
        </p:nvSpPr>
        <p:spPr>
          <a:xfrm>
            <a:off x="365760" y="3145536"/>
            <a:ext cx="8412480" cy="530352"/>
          </a:xfrm>
          <a:prstGeom prst="rect">
            <a:avLst/>
          </a:prstGeom>
          <a:solidFill>
            <a:srgbClr val="1E3D5C"/>
          </a:solidFill>
          <a:ln w="12700">
            <a:solidFill>
              <a:srgbClr val="1E3D5C"/>
            </a:solidFill>
            <a:prstDash val="solid"/>
          </a:ln>
        </p:spPr>
      </p:sp>
      <p:sp>
        <p:nvSpPr>
          <p:cNvPr id="23" name="Text 21"/>
          <p:cNvSpPr/>
          <p:nvPr/>
        </p:nvSpPr>
        <p:spPr>
          <a:xfrm>
            <a:off x="502920" y="3236976"/>
            <a:ext cx="2011680" cy="329184"/>
          </a:xfrm>
          <a:prstGeom prst="rect">
            <a:avLst/>
          </a:prstGeom>
          <a:noFill/>
          <a:ln/>
        </p:spPr>
        <p:txBody>
          <a:bodyPr wrap="square"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SVM</a:t>
            </a:r>
            <a:endParaRPr lang="en-US" sz="1200" dirty="0"/>
          </a:p>
        </p:txBody>
      </p:sp>
      <p:sp>
        <p:nvSpPr>
          <p:cNvPr id="24" name="Text 22"/>
          <p:cNvSpPr/>
          <p:nvPr/>
        </p:nvSpPr>
        <p:spPr>
          <a:xfrm>
            <a:off x="2606040" y="3236976"/>
            <a:ext cx="2834640" cy="329184"/>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Cannot produce calibrated probabilities natively</a:t>
            </a:r>
            <a:endParaRPr lang="en-US" sz="1100" dirty="0"/>
          </a:p>
        </p:txBody>
      </p:sp>
      <p:sp>
        <p:nvSpPr>
          <p:cNvPr id="25" name="Text 23"/>
          <p:cNvSpPr/>
          <p:nvPr/>
        </p:nvSpPr>
        <p:spPr>
          <a:xfrm>
            <a:off x="5577840" y="3236976"/>
            <a:ext cx="3063240" cy="329184"/>
          </a:xfrm>
          <a:prstGeom prst="rect">
            <a:avLst/>
          </a:prstGeom>
          <a:noFill/>
          <a:ln/>
        </p:spPr>
        <p:txBody>
          <a:bodyPr wrap="square" rtlCol="0" anchor="ctr"/>
          <a:lstStyle/>
          <a:p>
            <a:pPr indent="0" marL="0">
              <a:buNone/>
            </a:pPr>
            <a:r>
              <a:rPr lang="en-US" sz="1050" dirty="0">
                <a:solidFill>
                  <a:srgbClr val="7A9CBB"/>
                </a:solidFill>
                <a:latin typeface="Calibri" pitchFamily="34" charset="0"/>
                <a:ea typeface="Calibri" pitchFamily="34" charset="-122"/>
                <a:cs typeface="Calibri" pitchFamily="34" charset="-120"/>
              </a:rPr>
              <a:t>Brier score and leaderboard require honest probabilities — SVM cannot provide them</a:t>
            </a:r>
            <a:endParaRPr lang="en-US" sz="1050" dirty="0"/>
          </a:p>
        </p:txBody>
      </p:sp>
      <p:sp>
        <p:nvSpPr>
          <p:cNvPr id="26" name="Shape 24"/>
          <p:cNvSpPr/>
          <p:nvPr/>
        </p:nvSpPr>
        <p:spPr>
          <a:xfrm>
            <a:off x="365760" y="3730752"/>
            <a:ext cx="8412480" cy="530352"/>
          </a:xfrm>
          <a:prstGeom prst="rect">
            <a:avLst/>
          </a:prstGeom>
          <a:solidFill>
            <a:srgbClr val="132A47"/>
          </a:solidFill>
          <a:ln w="12700">
            <a:solidFill>
              <a:srgbClr val="132A47"/>
            </a:solidFill>
            <a:prstDash val="solid"/>
          </a:ln>
        </p:spPr>
      </p:sp>
      <p:sp>
        <p:nvSpPr>
          <p:cNvPr id="27" name="Text 25"/>
          <p:cNvSpPr/>
          <p:nvPr/>
        </p:nvSpPr>
        <p:spPr>
          <a:xfrm>
            <a:off x="502920" y="3822192"/>
            <a:ext cx="2011680" cy="329184"/>
          </a:xfrm>
          <a:prstGeom prst="rect">
            <a:avLst/>
          </a:prstGeom>
          <a:noFill/>
          <a:ln/>
        </p:spPr>
        <p:txBody>
          <a:bodyPr wrap="square"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Naive Bayes</a:t>
            </a:r>
            <a:endParaRPr lang="en-US" sz="1200" dirty="0"/>
          </a:p>
        </p:txBody>
      </p:sp>
      <p:sp>
        <p:nvSpPr>
          <p:cNvPr id="28" name="Text 26"/>
          <p:cNvSpPr/>
          <p:nvPr/>
        </p:nvSpPr>
        <p:spPr>
          <a:xfrm>
            <a:off x="2606040" y="3822192"/>
            <a:ext cx="2834640" cy="329184"/>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Assumes all features are completely independent</a:t>
            </a:r>
            <a:endParaRPr lang="en-US" sz="1100" dirty="0"/>
          </a:p>
        </p:txBody>
      </p:sp>
      <p:sp>
        <p:nvSpPr>
          <p:cNvPr id="29" name="Text 27"/>
          <p:cNvSpPr/>
          <p:nvPr/>
        </p:nvSpPr>
        <p:spPr>
          <a:xfrm>
            <a:off x="5577840" y="3822192"/>
            <a:ext cx="3063240" cy="329184"/>
          </a:xfrm>
          <a:prstGeom prst="rect">
            <a:avLst/>
          </a:prstGeom>
          <a:noFill/>
          <a:ln/>
        </p:spPr>
        <p:txBody>
          <a:bodyPr wrap="square" rtlCol="0" anchor="ctr"/>
          <a:lstStyle/>
          <a:p>
            <a:pPr indent="0" marL="0">
              <a:buNone/>
            </a:pPr>
            <a:r>
              <a:rPr lang="en-US" sz="1050" dirty="0">
                <a:solidFill>
                  <a:srgbClr val="7A9CBB"/>
                </a:solidFill>
                <a:latin typeface="Calibri" pitchFamily="34" charset="0"/>
                <a:ea typeface="Calibri" pitchFamily="34" charset="-122"/>
                <a:cs typeface="Calibri" pitchFamily="34" charset="-120"/>
              </a:rPr>
              <a:t>EPA and ELO are correlated — this assumption is fundamentally wrong for NFL data</a:t>
            </a:r>
            <a:endParaRPr lang="en-US" sz="1050" dirty="0"/>
          </a:p>
        </p:txBody>
      </p:sp>
      <p:sp>
        <p:nvSpPr>
          <p:cNvPr id="30" name="Shape 28"/>
          <p:cNvSpPr/>
          <p:nvPr/>
        </p:nvSpPr>
        <p:spPr>
          <a:xfrm>
            <a:off x="365760" y="4361688"/>
            <a:ext cx="8412480" cy="502920"/>
          </a:xfrm>
          <a:prstGeom prst="rect">
            <a:avLst/>
          </a:prstGeom>
          <a:solidFill>
            <a:srgbClr val="0D7C66"/>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31" name="Text 29"/>
          <p:cNvSpPr/>
          <p:nvPr/>
        </p:nvSpPr>
        <p:spPr>
          <a:xfrm>
            <a:off x="548640" y="4407408"/>
            <a:ext cx="8138160" cy="347472"/>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   XGBoost wins: boosted trees  ·  handles non-linear interactions  ·  produces calibrated probabilities  ·  fully SHAP-compatible  ·  68.1% accuracy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128016"/>
          </a:xfrm>
          <a:prstGeom prst="rect">
            <a:avLst/>
          </a:prstGeom>
          <a:solidFill>
            <a:srgbClr val="F5A623"/>
          </a:solidFill>
          <a:ln w="12700">
            <a:solidFill>
              <a:srgbClr val="F5A623"/>
            </a:solidFill>
            <a:prstDash val="solid"/>
          </a:ln>
        </p:spPr>
      </p:sp>
      <p:sp>
        <p:nvSpPr>
          <p:cNvPr id="3" name="Shape 1"/>
          <p:cNvSpPr/>
          <p:nvPr/>
        </p:nvSpPr>
        <p:spPr>
          <a:xfrm>
            <a:off x="0" y="4974336"/>
            <a:ext cx="9144000" cy="169164"/>
          </a:xfrm>
          <a:prstGeom prst="rect">
            <a:avLst/>
          </a:prstGeom>
          <a:solidFill>
            <a:srgbClr val="0D7C66"/>
          </a:solidFill>
          <a:ln w="12700">
            <a:solidFill>
              <a:srgbClr val="0D7C66"/>
            </a:solidFill>
            <a:prstDash val="solid"/>
          </a:ln>
        </p:spPr>
      </p:sp>
      <p:sp>
        <p:nvSpPr>
          <p:cNvPr id="4" name="Text 2"/>
          <p:cNvSpPr/>
          <p:nvPr/>
        </p:nvSpPr>
        <p:spPr>
          <a:xfrm>
            <a:off x="411480" y="182880"/>
            <a:ext cx="8321040" cy="566928"/>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Layer 4: SHAP Explainability</a:t>
            </a:r>
            <a:endParaRPr lang="en-US" sz="3000" dirty="0"/>
          </a:p>
        </p:txBody>
      </p:sp>
      <p:sp>
        <p:nvSpPr>
          <p:cNvPr id="5" name="Text 3"/>
          <p:cNvSpPr/>
          <p:nvPr/>
        </p:nvSpPr>
        <p:spPr>
          <a:xfrm>
            <a:off x="411480" y="749808"/>
            <a:ext cx="8321040" cy="256032"/>
          </a:xfrm>
          <a:prstGeom prst="rect">
            <a:avLst/>
          </a:prstGeom>
          <a:noFill/>
          <a:ln/>
        </p:spPr>
        <p:txBody>
          <a:bodyPr wrap="square" rtlCol="0" anchor="ctr"/>
          <a:lstStyle/>
          <a:p>
            <a:pPr indent="0" marL="0">
              <a:buNone/>
            </a:pPr>
            <a:r>
              <a:rPr lang="en-US" sz="1200" i="1" dirty="0">
                <a:solidFill>
                  <a:srgbClr val="7A9CBB"/>
                </a:solidFill>
                <a:latin typeface="Calibri" pitchFamily="34" charset="0"/>
                <a:ea typeface="Calibri" pitchFamily="34" charset="-122"/>
                <a:cs typeface="Calibri" pitchFamily="34" charset="-120"/>
              </a:rPr>
              <a:t>Without SHAP, the model is a black box. With SHAP, every single prediction comes with a full explanation.</a:t>
            </a:r>
            <a:endParaRPr lang="en-US" sz="1200" dirty="0"/>
          </a:p>
        </p:txBody>
      </p:sp>
      <p:sp>
        <p:nvSpPr>
          <p:cNvPr id="6" name="Shape 4"/>
          <p:cNvSpPr/>
          <p:nvPr/>
        </p:nvSpPr>
        <p:spPr>
          <a:xfrm>
            <a:off x="365760" y="987552"/>
            <a:ext cx="4251960" cy="3767328"/>
          </a:xfrm>
          <a:prstGeom prst="rect">
            <a:avLst/>
          </a:prstGeom>
          <a:solidFill>
            <a:srgbClr val="132A47"/>
          </a:solidFill>
          <a:ln w="12700">
            <a:solidFill>
              <a:srgbClr val="F5A623"/>
            </a:solidFill>
            <a:prstDash val="solid"/>
          </a:ln>
          <a:effectLst>
            <a:outerShdw sx="100000" sy="100000" kx="0" ky="0" algn="bl" rotWithShape="0" blurRad="101600" dist="38100" dir="8100000">
              <a:srgbClr val="000000">
                <a:alpha val="18000"/>
              </a:srgbClr>
            </a:outerShdw>
          </a:effectLst>
        </p:spPr>
      </p:sp>
      <p:sp>
        <p:nvSpPr>
          <p:cNvPr id="7" name="Text 5"/>
          <p:cNvSpPr/>
          <p:nvPr/>
        </p:nvSpPr>
        <p:spPr>
          <a:xfrm>
            <a:off x="502920" y="1060704"/>
            <a:ext cx="3931920" cy="310896"/>
          </a:xfrm>
          <a:prstGeom prst="rect">
            <a:avLst/>
          </a:prstGeom>
          <a:noFill/>
          <a:ln/>
        </p:spPr>
        <p:txBody>
          <a:bodyPr wrap="square" rtlCol="0" anchor="ctr"/>
          <a:lstStyle/>
          <a:p>
            <a:pPr indent="0" marL="0">
              <a:buNone/>
            </a:pPr>
            <a:r>
              <a:rPr lang="en-US" sz="1350" b="1" dirty="0">
                <a:solidFill>
                  <a:srgbClr val="F5A623"/>
                </a:solidFill>
                <a:latin typeface="Arial Black" pitchFamily="34" charset="0"/>
                <a:ea typeface="Arial Black" pitchFamily="34" charset="-122"/>
                <a:cs typeface="Arial Black" pitchFamily="34" charset="-120"/>
              </a:rPr>
              <a:t>What SHAP Does</a:t>
            </a:r>
            <a:endParaRPr lang="en-US" sz="1350" dirty="0"/>
          </a:p>
        </p:txBody>
      </p:sp>
      <p:sp>
        <p:nvSpPr>
          <p:cNvPr id="8" name="Text 6"/>
          <p:cNvSpPr/>
          <p:nvPr/>
        </p:nvSpPr>
        <p:spPr>
          <a:xfrm>
            <a:off x="502920" y="1444752"/>
            <a:ext cx="4023360" cy="566928"/>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  Assigns a contribution value to every feature for every single prediction — not just average importance across all games.</a:t>
            </a:r>
            <a:endParaRPr lang="en-US" sz="1100" dirty="0"/>
          </a:p>
        </p:txBody>
      </p:sp>
      <p:sp>
        <p:nvSpPr>
          <p:cNvPr id="9" name="Text 7"/>
          <p:cNvSpPr/>
          <p:nvPr/>
        </p:nvSpPr>
        <p:spPr>
          <a:xfrm>
            <a:off x="502920" y="2103120"/>
            <a:ext cx="4023360" cy="566928"/>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  Those contributions sum to the gap between the prediction and the 50% base rate. Every number is fully accountable.</a:t>
            </a:r>
            <a:endParaRPr lang="en-US" sz="1100" dirty="0"/>
          </a:p>
        </p:txBody>
      </p:sp>
      <p:sp>
        <p:nvSpPr>
          <p:cNvPr id="10" name="Text 8"/>
          <p:cNvSpPr/>
          <p:nvPr/>
        </p:nvSpPr>
        <p:spPr>
          <a:xfrm>
            <a:off x="502920" y="2761488"/>
            <a:ext cx="4023360" cy="566928"/>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  Built on cooperative game theory (Shapley values). It is mathematically the only fair way to distribute credit across features.</a:t>
            </a:r>
            <a:endParaRPr lang="en-US" sz="1100" dirty="0"/>
          </a:p>
        </p:txBody>
      </p:sp>
      <p:sp>
        <p:nvSpPr>
          <p:cNvPr id="11" name="Text 9"/>
          <p:cNvSpPr/>
          <p:nvPr/>
        </p:nvSpPr>
        <p:spPr>
          <a:xfrm>
            <a:off x="502920" y="3419856"/>
            <a:ext cx="3931920" cy="274320"/>
          </a:xfrm>
          <a:prstGeom prst="rect">
            <a:avLst/>
          </a:prstGeom>
          <a:noFill/>
          <a:ln/>
        </p:spPr>
        <p:txBody>
          <a:bodyPr wrap="square"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Top 7 Features by Mean |SHAP|</a:t>
            </a:r>
            <a:endParaRPr lang="en-US" sz="1200" dirty="0"/>
          </a:p>
        </p:txBody>
      </p:sp>
      <p:sp>
        <p:nvSpPr>
          <p:cNvPr id="12" name="Text 10"/>
          <p:cNvSpPr/>
          <p:nvPr/>
        </p:nvSpPr>
        <p:spPr>
          <a:xfrm>
            <a:off x="502920" y="3749040"/>
            <a:ext cx="1920240" cy="155448"/>
          </a:xfrm>
          <a:prstGeom prst="rect">
            <a:avLst/>
          </a:prstGeom>
          <a:noFill/>
          <a:ln/>
        </p:spPr>
        <p:txBody>
          <a:bodyPr wrap="square" rtlCol="0" anchor="ctr"/>
          <a:lstStyle/>
          <a:p>
            <a:pPr algn="r" indent="0" marL="0">
              <a:buNone/>
            </a:pPr>
            <a:r>
              <a:rPr lang="en-US" sz="850" dirty="0">
                <a:solidFill>
                  <a:srgbClr val="7A9CBB"/>
                </a:solidFill>
                <a:latin typeface="Calibri" pitchFamily="34" charset="0"/>
                <a:ea typeface="Calibri" pitchFamily="34" charset="-122"/>
                <a:cs typeface="Calibri" pitchFamily="34" charset="-120"/>
              </a:rPr>
              <a:t>ELO Win Probability</a:t>
            </a:r>
            <a:endParaRPr lang="en-US" sz="850" dirty="0"/>
          </a:p>
        </p:txBody>
      </p:sp>
      <p:sp>
        <p:nvSpPr>
          <p:cNvPr id="13" name="Shape 11"/>
          <p:cNvSpPr/>
          <p:nvPr/>
        </p:nvSpPr>
        <p:spPr>
          <a:xfrm>
            <a:off x="2487168" y="3758184"/>
            <a:ext cx="2194560" cy="128016"/>
          </a:xfrm>
          <a:prstGeom prst="rect">
            <a:avLst/>
          </a:prstGeom>
          <a:solidFill>
            <a:srgbClr val="0D7C66"/>
          </a:solidFill>
          <a:ln w="12700">
            <a:solidFill>
              <a:srgbClr val="0D7C66"/>
            </a:solidFill>
            <a:prstDash val="solid"/>
          </a:ln>
        </p:spPr>
      </p:sp>
      <p:sp>
        <p:nvSpPr>
          <p:cNvPr id="14" name="Text 12"/>
          <p:cNvSpPr/>
          <p:nvPr/>
        </p:nvSpPr>
        <p:spPr>
          <a:xfrm>
            <a:off x="4727448" y="3749040"/>
            <a:ext cx="457200" cy="155448"/>
          </a:xfrm>
          <a:prstGeom prst="rect">
            <a:avLst/>
          </a:prstGeom>
          <a:noFill/>
          <a:ln/>
        </p:spPr>
        <p:txBody>
          <a:bodyPr wrap="square" rtlCol="0" anchor="ctr"/>
          <a:lstStyle/>
          <a:p>
            <a:pPr indent="0" marL="0">
              <a:buNone/>
            </a:pPr>
            <a:r>
              <a:rPr lang="en-US" sz="800" b="1" dirty="0">
                <a:solidFill>
                  <a:srgbClr val="0D7C66"/>
                </a:solidFill>
                <a:latin typeface="Calibri" pitchFamily="34" charset="0"/>
                <a:ea typeface="Calibri" pitchFamily="34" charset="-122"/>
                <a:cs typeface="Calibri" pitchFamily="34" charset="-120"/>
              </a:rPr>
              <a:t>0.233</a:t>
            </a:r>
            <a:endParaRPr lang="en-US" sz="800" dirty="0"/>
          </a:p>
        </p:txBody>
      </p:sp>
      <p:sp>
        <p:nvSpPr>
          <p:cNvPr id="15" name="Text 13"/>
          <p:cNvSpPr/>
          <p:nvPr/>
        </p:nvSpPr>
        <p:spPr>
          <a:xfrm>
            <a:off x="502920" y="3922776"/>
            <a:ext cx="1920240" cy="155448"/>
          </a:xfrm>
          <a:prstGeom prst="rect">
            <a:avLst/>
          </a:prstGeom>
          <a:noFill/>
          <a:ln/>
        </p:spPr>
        <p:txBody>
          <a:bodyPr wrap="square" rtlCol="0" anchor="ctr"/>
          <a:lstStyle/>
          <a:p>
            <a:pPr algn="r" indent="0" marL="0">
              <a:buNone/>
            </a:pPr>
            <a:r>
              <a:rPr lang="en-US" sz="850" dirty="0">
                <a:solidFill>
                  <a:srgbClr val="7A9CBB"/>
                </a:solidFill>
                <a:latin typeface="Calibri" pitchFamily="34" charset="0"/>
                <a:ea typeface="Calibri" pitchFamily="34" charset="-122"/>
                <a:cs typeface="Calibri" pitchFamily="34" charset="-120"/>
              </a:rPr>
              <a:t>ELO Rating Difference</a:t>
            </a:r>
            <a:endParaRPr lang="en-US" sz="850" dirty="0"/>
          </a:p>
        </p:txBody>
      </p:sp>
      <p:sp>
        <p:nvSpPr>
          <p:cNvPr id="16" name="Shape 14"/>
          <p:cNvSpPr/>
          <p:nvPr/>
        </p:nvSpPr>
        <p:spPr>
          <a:xfrm>
            <a:off x="2487168" y="3931920"/>
            <a:ext cx="1902580" cy="128016"/>
          </a:xfrm>
          <a:prstGeom prst="rect">
            <a:avLst/>
          </a:prstGeom>
          <a:solidFill>
            <a:srgbClr val="0D7C66"/>
          </a:solidFill>
          <a:ln w="12700">
            <a:solidFill>
              <a:srgbClr val="0D7C66"/>
            </a:solidFill>
            <a:prstDash val="solid"/>
          </a:ln>
        </p:spPr>
      </p:sp>
      <p:sp>
        <p:nvSpPr>
          <p:cNvPr id="17" name="Text 15"/>
          <p:cNvSpPr/>
          <p:nvPr/>
        </p:nvSpPr>
        <p:spPr>
          <a:xfrm>
            <a:off x="4435468" y="3922776"/>
            <a:ext cx="457200" cy="155448"/>
          </a:xfrm>
          <a:prstGeom prst="rect">
            <a:avLst/>
          </a:prstGeom>
          <a:noFill/>
          <a:ln/>
        </p:spPr>
        <p:txBody>
          <a:bodyPr wrap="square" rtlCol="0" anchor="ctr"/>
          <a:lstStyle/>
          <a:p>
            <a:pPr indent="0" marL="0">
              <a:buNone/>
            </a:pPr>
            <a:r>
              <a:rPr lang="en-US" sz="800" b="1" dirty="0">
                <a:solidFill>
                  <a:srgbClr val="0D7C66"/>
                </a:solidFill>
                <a:latin typeface="Calibri" pitchFamily="34" charset="0"/>
                <a:ea typeface="Calibri" pitchFamily="34" charset="-122"/>
                <a:cs typeface="Calibri" pitchFamily="34" charset="-120"/>
              </a:rPr>
              <a:t>0.202</a:t>
            </a:r>
            <a:endParaRPr lang="en-US" sz="800" dirty="0"/>
          </a:p>
        </p:txBody>
      </p:sp>
      <p:sp>
        <p:nvSpPr>
          <p:cNvPr id="18" name="Text 16"/>
          <p:cNvSpPr/>
          <p:nvPr/>
        </p:nvSpPr>
        <p:spPr>
          <a:xfrm>
            <a:off x="502920" y="4096512"/>
            <a:ext cx="1920240" cy="155448"/>
          </a:xfrm>
          <a:prstGeom prst="rect">
            <a:avLst/>
          </a:prstGeom>
          <a:noFill/>
          <a:ln/>
        </p:spPr>
        <p:txBody>
          <a:bodyPr wrap="square" rtlCol="0" anchor="ctr"/>
          <a:lstStyle/>
          <a:p>
            <a:pPr algn="r" indent="0" marL="0">
              <a:buNone/>
            </a:pPr>
            <a:r>
              <a:rPr lang="en-US" sz="850" dirty="0">
                <a:solidFill>
                  <a:srgbClr val="7A9CBB"/>
                </a:solidFill>
                <a:latin typeface="Calibri" pitchFamily="34" charset="0"/>
                <a:ea typeface="Calibri" pitchFamily="34" charset="-122"/>
                <a:cs typeface="Calibri" pitchFamily="34" charset="-120"/>
              </a:rPr>
              <a:t>Away Draft EPA Delta</a:t>
            </a:r>
            <a:endParaRPr lang="en-US" sz="850" dirty="0"/>
          </a:p>
        </p:txBody>
      </p:sp>
      <p:sp>
        <p:nvSpPr>
          <p:cNvPr id="19" name="Shape 17"/>
          <p:cNvSpPr/>
          <p:nvPr/>
        </p:nvSpPr>
        <p:spPr>
          <a:xfrm>
            <a:off x="2487168" y="4105656"/>
            <a:ext cx="1101989" cy="128016"/>
          </a:xfrm>
          <a:prstGeom prst="rect">
            <a:avLst/>
          </a:prstGeom>
          <a:solidFill>
            <a:srgbClr val="1A7BAF"/>
          </a:solidFill>
          <a:ln w="12700">
            <a:solidFill>
              <a:srgbClr val="1A7BAF"/>
            </a:solidFill>
            <a:prstDash val="solid"/>
          </a:ln>
        </p:spPr>
      </p:sp>
      <p:sp>
        <p:nvSpPr>
          <p:cNvPr id="20" name="Text 18"/>
          <p:cNvSpPr/>
          <p:nvPr/>
        </p:nvSpPr>
        <p:spPr>
          <a:xfrm>
            <a:off x="3634877" y="4096512"/>
            <a:ext cx="457200" cy="155448"/>
          </a:xfrm>
          <a:prstGeom prst="rect">
            <a:avLst/>
          </a:prstGeom>
          <a:noFill/>
          <a:ln/>
        </p:spPr>
        <p:txBody>
          <a:bodyPr wrap="square" rtlCol="0" anchor="ctr"/>
          <a:lstStyle/>
          <a:p>
            <a:pPr indent="0" marL="0">
              <a:buNone/>
            </a:pPr>
            <a:r>
              <a:rPr lang="en-US" sz="800" b="1" dirty="0">
                <a:solidFill>
                  <a:srgbClr val="1A7BAF"/>
                </a:solidFill>
                <a:latin typeface="Calibri" pitchFamily="34" charset="0"/>
                <a:ea typeface="Calibri" pitchFamily="34" charset="-122"/>
                <a:cs typeface="Calibri" pitchFamily="34" charset="-120"/>
              </a:rPr>
              <a:t>0.117</a:t>
            </a:r>
            <a:endParaRPr lang="en-US" sz="800" dirty="0"/>
          </a:p>
        </p:txBody>
      </p:sp>
      <p:sp>
        <p:nvSpPr>
          <p:cNvPr id="21" name="Text 19"/>
          <p:cNvSpPr/>
          <p:nvPr/>
        </p:nvSpPr>
        <p:spPr>
          <a:xfrm>
            <a:off x="502920" y="4270248"/>
            <a:ext cx="1920240" cy="155448"/>
          </a:xfrm>
          <a:prstGeom prst="rect">
            <a:avLst/>
          </a:prstGeom>
          <a:noFill/>
          <a:ln/>
        </p:spPr>
        <p:txBody>
          <a:bodyPr wrap="square" rtlCol="0" anchor="ctr"/>
          <a:lstStyle/>
          <a:p>
            <a:pPr algn="r" indent="0" marL="0">
              <a:buNone/>
            </a:pPr>
            <a:r>
              <a:rPr lang="en-US" sz="850" dirty="0">
                <a:solidFill>
                  <a:srgbClr val="7A9CBB"/>
                </a:solidFill>
                <a:latin typeface="Calibri" pitchFamily="34" charset="0"/>
                <a:ea typeface="Calibri" pitchFamily="34" charset="-122"/>
                <a:cs typeface="Calibri" pitchFamily="34" charset="-120"/>
              </a:rPr>
              <a:t>Rolling Offensive EPA Diff</a:t>
            </a:r>
            <a:endParaRPr lang="en-US" sz="850" dirty="0"/>
          </a:p>
        </p:txBody>
      </p:sp>
      <p:sp>
        <p:nvSpPr>
          <p:cNvPr id="22" name="Shape 20"/>
          <p:cNvSpPr/>
          <p:nvPr/>
        </p:nvSpPr>
        <p:spPr>
          <a:xfrm>
            <a:off x="2487168" y="4279392"/>
            <a:ext cx="838265" cy="128016"/>
          </a:xfrm>
          <a:prstGeom prst="rect">
            <a:avLst/>
          </a:prstGeom>
          <a:solidFill>
            <a:srgbClr val="1A7BAF"/>
          </a:solidFill>
          <a:ln w="12700">
            <a:solidFill>
              <a:srgbClr val="1A7BAF"/>
            </a:solidFill>
            <a:prstDash val="solid"/>
          </a:ln>
        </p:spPr>
      </p:sp>
      <p:sp>
        <p:nvSpPr>
          <p:cNvPr id="23" name="Text 21"/>
          <p:cNvSpPr/>
          <p:nvPr/>
        </p:nvSpPr>
        <p:spPr>
          <a:xfrm>
            <a:off x="3371153" y="4270248"/>
            <a:ext cx="457200" cy="155448"/>
          </a:xfrm>
          <a:prstGeom prst="rect">
            <a:avLst/>
          </a:prstGeom>
          <a:noFill/>
          <a:ln/>
        </p:spPr>
        <p:txBody>
          <a:bodyPr wrap="square" rtlCol="0" anchor="ctr"/>
          <a:lstStyle/>
          <a:p>
            <a:pPr indent="0" marL="0">
              <a:buNone/>
            </a:pPr>
            <a:r>
              <a:rPr lang="en-US" sz="800" b="1" dirty="0">
                <a:solidFill>
                  <a:srgbClr val="1A7BAF"/>
                </a:solidFill>
                <a:latin typeface="Calibri" pitchFamily="34" charset="0"/>
                <a:ea typeface="Calibri" pitchFamily="34" charset="-122"/>
                <a:cs typeface="Calibri" pitchFamily="34" charset="-120"/>
              </a:rPr>
              <a:t>0.089</a:t>
            </a:r>
            <a:endParaRPr lang="en-US" sz="800" dirty="0"/>
          </a:p>
        </p:txBody>
      </p:sp>
      <p:sp>
        <p:nvSpPr>
          <p:cNvPr id="24" name="Text 22"/>
          <p:cNvSpPr/>
          <p:nvPr/>
        </p:nvSpPr>
        <p:spPr>
          <a:xfrm>
            <a:off x="502920" y="4443984"/>
            <a:ext cx="1920240" cy="155448"/>
          </a:xfrm>
          <a:prstGeom prst="rect">
            <a:avLst/>
          </a:prstGeom>
          <a:noFill/>
          <a:ln/>
        </p:spPr>
        <p:txBody>
          <a:bodyPr wrap="square" rtlCol="0" anchor="ctr"/>
          <a:lstStyle/>
          <a:p>
            <a:pPr algn="r" indent="0" marL="0">
              <a:buNone/>
            </a:pPr>
            <a:r>
              <a:rPr lang="en-US" sz="850" dirty="0">
                <a:solidFill>
                  <a:srgbClr val="7A9CBB"/>
                </a:solidFill>
                <a:latin typeface="Calibri" pitchFamily="34" charset="0"/>
                <a:ea typeface="Calibri" pitchFamily="34" charset="-122"/>
                <a:cs typeface="Calibri" pitchFamily="34" charset="-120"/>
              </a:rPr>
              <a:t>Rolling Turnover Margin</a:t>
            </a:r>
            <a:endParaRPr lang="en-US" sz="850" dirty="0"/>
          </a:p>
        </p:txBody>
      </p:sp>
      <p:sp>
        <p:nvSpPr>
          <p:cNvPr id="25" name="Shape 23"/>
          <p:cNvSpPr/>
          <p:nvPr/>
        </p:nvSpPr>
        <p:spPr>
          <a:xfrm>
            <a:off x="2487168" y="4453128"/>
            <a:ext cx="668729" cy="128016"/>
          </a:xfrm>
          <a:prstGeom prst="rect">
            <a:avLst/>
          </a:prstGeom>
          <a:solidFill>
            <a:srgbClr val="F5A623"/>
          </a:solidFill>
          <a:ln w="12700">
            <a:solidFill>
              <a:srgbClr val="F5A623"/>
            </a:solidFill>
            <a:prstDash val="solid"/>
          </a:ln>
        </p:spPr>
      </p:sp>
      <p:sp>
        <p:nvSpPr>
          <p:cNvPr id="26" name="Text 24"/>
          <p:cNvSpPr/>
          <p:nvPr/>
        </p:nvSpPr>
        <p:spPr>
          <a:xfrm>
            <a:off x="3201617" y="4443984"/>
            <a:ext cx="457200" cy="155448"/>
          </a:xfrm>
          <a:prstGeom prst="rect">
            <a:avLst/>
          </a:prstGeom>
          <a:noFill/>
          <a:ln/>
        </p:spPr>
        <p:txBody>
          <a:bodyPr wrap="square" rtlCol="0" anchor="ctr"/>
          <a:lstStyle/>
          <a:p>
            <a:pPr indent="0" marL="0">
              <a:buNone/>
            </a:pPr>
            <a:r>
              <a:rPr lang="en-US" sz="800" b="1" dirty="0">
                <a:solidFill>
                  <a:srgbClr val="F5A623"/>
                </a:solidFill>
                <a:latin typeface="Calibri" pitchFamily="34" charset="0"/>
                <a:ea typeface="Calibri" pitchFamily="34" charset="-122"/>
                <a:cs typeface="Calibri" pitchFamily="34" charset="-120"/>
              </a:rPr>
              <a:t>0.071</a:t>
            </a:r>
            <a:endParaRPr lang="en-US" sz="800" dirty="0"/>
          </a:p>
        </p:txBody>
      </p:sp>
      <p:sp>
        <p:nvSpPr>
          <p:cNvPr id="27" name="Text 25"/>
          <p:cNvSpPr/>
          <p:nvPr/>
        </p:nvSpPr>
        <p:spPr>
          <a:xfrm>
            <a:off x="502920" y="4617720"/>
            <a:ext cx="1920240" cy="155448"/>
          </a:xfrm>
          <a:prstGeom prst="rect">
            <a:avLst/>
          </a:prstGeom>
          <a:noFill/>
          <a:ln/>
        </p:spPr>
        <p:txBody>
          <a:bodyPr wrap="square" rtlCol="0" anchor="ctr"/>
          <a:lstStyle/>
          <a:p>
            <a:pPr algn="r" indent="0" marL="0">
              <a:buNone/>
            </a:pPr>
            <a:r>
              <a:rPr lang="en-US" sz="850" dirty="0">
                <a:solidFill>
                  <a:srgbClr val="7A9CBB"/>
                </a:solidFill>
                <a:latin typeface="Calibri" pitchFamily="34" charset="0"/>
                <a:ea typeface="Calibri" pitchFamily="34" charset="-122"/>
                <a:cs typeface="Calibri" pitchFamily="34" charset="-120"/>
              </a:rPr>
              <a:t>Home Injury Impact Score</a:t>
            </a:r>
            <a:endParaRPr lang="en-US" sz="850" dirty="0"/>
          </a:p>
        </p:txBody>
      </p:sp>
      <p:sp>
        <p:nvSpPr>
          <p:cNvPr id="28" name="Shape 26"/>
          <p:cNvSpPr/>
          <p:nvPr/>
        </p:nvSpPr>
        <p:spPr>
          <a:xfrm>
            <a:off x="2487168" y="4626864"/>
            <a:ext cx="546285" cy="128016"/>
          </a:xfrm>
          <a:prstGeom prst="rect">
            <a:avLst/>
          </a:prstGeom>
          <a:solidFill>
            <a:srgbClr val="F5A623"/>
          </a:solidFill>
          <a:ln w="12700">
            <a:solidFill>
              <a:srgbClr val="F5A623"/>
            </a:solidFill>
            <a:prstDash val="solid"/>
          </a:ln>
        </p:spPr>
      </p:sp>
      <p:sp>
        <p:nvSpPr>
          <p:cNvPr id="29" name="Text 27"/>
          <p:cNvSpPr/>
          <p:nvPr/>
        </p:nvSpPr>
        <p:spPr>
          <a:xfrm>
            <a:off x="3079173" y="4617720"/>
            <a:ext cx="457200" cy="155448"/>
          </a:xfrm>
          <a:prstGeom prst="rect">
            <a:avLst/>
          </a:prstGeom>
          <a:noFill/>
          <a:ln/>
        </p:spPr>
        <p:txBody>
          <a:bodyPr wrap="square" rtlCol="0" anchor="ctr"/>
          <a:lstStyle/>
          <a:p>
            <a:pPr indent="0" marL="0">
              <a:buNone/>
            </a:pPr>
            <a:r>
              <a:rPr lang="en-US" sz="800" b="1" dirty="0">
                <a:solidFill>
                  <a:srgbClr val="F5A623"/>
                </a:solidFill>
                <a:latin typeface="Calibri" pitchFamily="34" charset="0"/>
                <a:ea typeface="Calibri" pitchFamily="34" charset="-122"/>
                <a:cs typeface="Calibri" pitchFamily="34" charset="-120"/>
              </a:rPr>
              <a:t>0.058</a:t>
            </a:r>
            <a:endParaRPr lang="en-US" sz="800" dirty="0"/>
          </a:p>
        </p:txBody>
      </p:sp>
      <p:sp>
        <p:nvSpPr>
          <p:cNvPr id="30" name="Text 28"/>
          <p:cNvSpPr/>
          <p:nvPr/>
        </p:nvSpPr>
        <p:spPr>
          <a:xfrm>
            <a:off x="502920" y="4791456"/>
            <a:ext cx="1920240" cy="155448"/>
          </a:xfrm>
          <a:prstGeom prst="rect">
            <a:avLst/>
          </a:prstGeom>
          <a:noFill/>
          <a:ln/>
        </p:spPr>
        <p:txBody>
          <a:bodyPr wrap="square" rtlCol="0" anchor="ctr"/>
          <a:lstStyle/>
          <a:p>
            <a:pPr algn="r" indent="0" marL="0">
              <a:buNone/>
            </a:pPr>
            <a:r>
              <a:rPr lang="en-US" sz="850" dirty="0">
                <a:solidFill>
                  <a:srgbClr val="7A9CBB"/>
                </a:solidFill>
                <a:latin typeface="Calibri" pitchFamily="34" charset="0"/>
                <a:ea typeface="Calibri" pitchFamily="34" charset="-122"/>
                <a:cs typeface="Calibri" pitchFamily="34" charset="-120"/>
              </a:rPr>
              <a:t>QB Injury Flag</a:t>
            </a:r>
            <a:endParaRPr lang="en-US" sz="850" dirty="0"/>
          </a:p>
        </p:txBody>
      </p:sp>
      <p:sp>
        <p:nvSpPr>
          <p:cNvPr id="31" name="Shape 29"/>
          <p:cNvSpPr/>
          <p:nvPr/>
        </p:nvSpPr>
        <p:spPr>
          <a:xfrm>
            <a:off x="2487168" y="4800600"/>
            <a:ext cx="414423" cy="128016"/>
          </a:xfrm>
          <a:prstGeom prst="rect">
            <a:avLst/>
          </a:prstGeom>
          <a:solidFill>
            <a:srgbClr val="F5A623"/>
          </a:solidFill>
          <a:ln w="12700">
            <a:solidFill>
              <a:srgbClr val="F5A623"/>
            </a:solidFill>
            <a:prstDash val="solid"/>
          </a:ln>
        </p:spPr>
      </p:sp>
      <p:sp>
        <p:nvSpPr>
          <p:cNvPr id="32" name="Text 30"/>
          <p:cNvSpPr/>
          <p:nvPr/>
        </p:nvSpPr>
        <p:spPr>
          <a:xfrm>
            <a:off x="2947311" y="4791456"/>
            <a:ext cx="457200" cy="155448"/>
          </a:xfrm>
          <a:prstGeom prst="rect">
            <a:avLst/>
          </a:prstGeom>
          <a:noFill/>
          <a:ln/>
        </p:spPr>
        <p:txBody>
          <a:bodyPr wrap="square" rtlCol="0" anchor="ctr"/>
          <a:lstStyle/>
          <a:p>
            <a:pPr indent="0" marL="0">
              <a:buNone/>
            </a:pPr>
            <a:r>
              <a:rPr lang="en-US" sz="800" b="1" dirty="0">
                <a:solidFill>
                  <a:srgbClr val="F5A623"/>
                </a:solidFill>
                <a:latin typeface="Calibri" pitchFamily="34" charset="0"/>
                <a:ea typeface="Calibri" pitchFamily="34" charset="-122"/>
                <a:cs typeface="Calibri" pitchFamily="34" charset="-120"/>
              </a:rPr>
              <a:t>0.044</a:t>
            </a:r>
            <a:endParaRPr lang="en-US" sz="800" dirty="0"/>
          </a:p>
        </p:txBody>
      </p:sp>
      <p:sp>
        <p:nvSpPr>
          <p:cNvPr id="33" name="Shape 31"/>
          <p:cNvSpPr/>
          <p:nvPr/>
        </p:nvSpPr>
        <p:spPr>
          <a:xfrm>
            <a:off x="4800600" y="987552"/>
            <a:ext cx="3977640" cy="3767328"/>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34" name="Text 32"/>
          <p:cNvSpPr/>
          <p:nvPr/>
        </p:nvSpPr>
        <p:spPr>
          <a:xfrm>
            <a:off x="4937760" y="1060704"/>
            <a:ext cx="3657600" cy="310896"/>
          </a:xfrm>
          <a:prstGeom prst="rect">
            <a:avLst/>
          </a:prstGeom>
          <a:noFill/>
          <a:ln/>
        </p:spPr>
        <p:txBody>
          <a:bodyPr wrap="square" rtlCol="0" anchor="ctr"/>
          <a:lstStyle/>
          <a:p>
            <a:pPr indent="0" marL="0">
              <a:buNone/>
            </a:pPr>
            <a:r>
              <a:rPr lang="en-US" sz="1350" b="1" dirty="0">
                <a:solidFill>
                  <a:srgbClr val="0D7C66"/>
                </a:solidFill>
                <a:latin typeface="Arial Black" pitchFamily="34" charset="0"/>
                <a:ea typeface="Arial Black" pitchFamily="34" charset="-122"/>
                <a:cs typeface="Arial Black" pitchFamily="34" charset="-120"/>
              </a:rPr>
              <a:t>Live Example: KC vs BAL</a:t>
            </a:r>
            <a:endParaRPr lang="en-US" sz="1350" dirty="0"/>
          </a:p>
        </p:txBody>
      </p:sp>
      <p:sp>
        <p:nvSpPr>
          <p:cNvPr id="35" name="Text 33"/>
          <p:cNvSpPr/>
          <p:nvPr/>
        </p:nvSpPr>
        <p:spPr>
          <a:xfrm>
            <a:off x="4937760" y="1426464"/>
            <a:ext cx="3657600" cy="347472"/>
          </a:xfrm>
          <a:prstGeom prst="rect">
            <a:avLst/>
          </a:prstGeom>
          <a:noFill/>
          <a:ln/>
        </p:spPr>
        <p:txBody>
          <a:bodyPr wrap="square" rtlCol="0" anchor="ctr"/>
          <a:lstStyle/>
          <a:p>
            <a:pPr indent="0" marL="0">
              <a:buNone/>
            </a:pPr>
            <a:r>
              <a:rPr lang="en-US" sz="1100" i="1" dirty="0">
                <a:solidFill>
                  <a:srgbClr val="7A9CBB"/>
                </a:solidFill>
                <a:latin typeface="Calibri" pitchFamily="34" charset="0"/>
                <a:ea typeface="Calibri" pitchFamily="34" charset="-122"/>
                <a:cs typeface="Calibri" pitchFamily="34" charset="-120"/>
              </a:rPr>
              <a:t>The model predicts KC wins with 68% probability. SHAP tells us exactly why:</a:t>
            </a:r>
            <a:endParaRPr lang="en-US" sz="1100" dirty="0"/>
          </a:p>
        </p:txBody>
      </p:sp>
      <p:sp>
        <p:nvSpPr>
          <p:cNvPr id="36" name="Shape 34"/>
          <p:cNvSpPr/>
          <p:nvPr/>
        </p:nvSpPr>
        <p:spPr>
          <a:xfrm>
            <a:off x="4892040" y="1847088"/>
            <a:ext cx="3794760" cy="420624"/>
          </a:xfrm>
          <a:prstGeom prst="rect">
            <a:avLst/>
          </a:prstGeom>
          <a:solidFill>
            <a:srgbClr val="1E3D5C"/>
          </a:solidFill>
          <a:ln w="12700">
            <a:solidFill>
              <a:srgbClr val="7A9CBB"/>
            </a:solidFill>
            <a:prstDash val="solid"/>
          </a:ln>
        </p:spPr>
      </p:sp>
      <p:sp>
        <p:nvSpPr>
          <p:cNvPr id="37" name="Text 35"/>
          <p:cNvSpPr/>
          <p:nvPr/>
        </p:nvSpPr>
        <p:spPr>
          <a:xfrm>
            <a:off x="5010912" y="1892808"/>
            <a:ext cx="3657600" cy="182880"/>
          </a:xfrm>
          <a:prstGeom prst="rect">
            <a:avLst/>
          </a:prstGeom>
          <a:noFill/>
          <a:ln/>
        </p:spPr>
        <p:txBody>
          <a:bodyPr wrap="square" rtlCol="0" anchor="ctr"/>
          <a:lstStyle/>
          <a:p>
            <a:pPr indent="0" marL="0">
              <a:buNone/>
            </a:pPr>
            <a:r>
              <a:rPr lang="en-US" sz="1100" b="1" dirty="0">
                <a:solidFill>
                  <a:srgbClr val="7A9CBB"/>
                </a:solidFill>
                <a:latin typeface="Calibri" pitchFamily="34" charset="0"/>
                <a:ea typeface="Calibri" pitchFamily="34" charset="-122"/>
                <a:cs typeface="Calibri" pitchFamily="34" charset="-120"/>
              </a:rPr>
              <a:t>Start: 50% base rate</a:t>
            </a:r>
            <a:endParaRPr lang="en-US" sz="1100" dirty="0"/>
          </a:p>
        </p:txBody>
      </p:sp>
      <p:sp>
        <p:nvSpPr>
          <p:cNvPr id="38" name="Text 36"/>
          <p:cNvSpPr/>
          <p:nvPr/>
        </p:nvSpPr>
        <p:spPr>
          <a:xfrm>
            <a:off x="5010912" y="2066544"/>
            <a:ext cx="3657600" cy="164592"/>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Every game starts here — the model's default before any features are applied</a:t>
            </a:r>
            <a:endParaRPr lang="en-US" sz="950" dirty="0"/>
          </a:p>
        </p:txBody>
      </p:sp>
      <p:sp>
        <p:nvSpPr>
          <p:cNvPr id="39" name="Shape 37"/>
          <p:cNvSpPr/>
          <p:nvPr/>
        </p:nvSpPr>
        <p:spPr>
          <a:xfrm>
            <a:off x="4892040" y="2322576"/>
            <a:ext cx="3794760" cy="420624"/>
          </a:xfrm>
          <a:prstGeom prst="rect">
            <a:avLst/>
          </a:prstGeom>
          <a:solidFill>
            <a:srgbClr val="1E3D5C"/>
          </a:solidFill>
          <a:ln w="12700">
            <a:solidFill>
              <a:srgbClr val="0D7C66"/>
            </a:solidFill>
            <a:prstDash val="solid"/>
          </a:ln>
        </p:spPr>
      </p:sp>
      <p:sp>
        <p:nvSpPr>
          <p:cNvPr id="40" name="Text 38"/>
          <p:cNvSpPr/>
          <p:nvPr/>
        </p:nvSpPr>
        <p:spPr>
          <a:xfrm>
            <a:off x="5010912" y="2368296"/>
            <a:ext cx="3657600" cy="182880"/>
          </a:xfrm>
          <a:prstGeom prst="rect">
            <a:avLst/>
          </a:prstGeom>
          <a:noFill/>
          <a:ln/>
        </p:spPr>
        <p:txBody>
          <a:bodyPr wrap="square" rtlCol="0" anchor="ctr"/>
          <a:lstStyle/>
          <a:p>
            <a:pPr indent="0" marL="0">
              <a:buNone/>
            </a:pPr>
            <a:r>
              <a:rPr lang="en-US" sz="1100" b="1" dirty="0">
                <a:solidFill>
                  <a:srgbClr val="0D7C66"/>
                </a:solidFill>
                <a:latin typeface="Calibri" pitchFamily="34" charset="0"/>
                <a:ea typeface="Calibri" pitchFamily="34" charset="-122"/>
                <a:cs typeface="Calibri" pitchFamily="34" charset="-120"/>
              </a:rPr>
              <a:t>ELO gap  →  +8%</a:t>
            </a:r>
            <a:endParaRPr lang="en-US" sz="1100" dirty="0"/>
          </a:p>
        </p:txBody>
      </p:sp>
      <p:sp>
        <p:nvSpPr>
          <p:cNvPr id="41" name="Text 39"/>
          <p:cNvSpPr/>
          <p:nvPr/>
        </p:nvSpPr>
        <p:spPr>
          <a:xfrm>
            <a:off x="5010912" y="2542032"/>
            <a:ext cx="3657600" cy="164592"/>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KC has a significantly higher ELO rating than BAL this week. Push toward KC.</a:t>
            </a:r>
            <a:endParaRPr lang="en-US" sz="950" dirty="0"/>
          </a:p>
        </p:txBody>
      </p:sp>
      <p:sp>
        <p:nvSpPr>
          <p:cNvPr id="42" name="Shape 40"/>
          <p:cNvSpPr/>
          <p:nvPr/>
        </p:nvSpPr>
        <p:spPr>
          <a:xfrm>
            <a:off x="4892040" y="2798064"/>
            <a:ext cx="3794760" cy="420624"/>
          </a:xfrm>
          <a:prstGeom prst="rect">
            <a:avLst/>
          </a:prstGeom>
          <a:solidFill>
            <a:srgbClr val="1E3D5C"/>
          </a:solidFill>
          <a:ln w="12700">
            <a:solidFill>
              <a:srgbClr val="0D7C66"/>
            </a:solidFill>
            <a:prstDash val="solid"/>
          </a:ln>
        </p:spPr>
      </p:sp>
      <p:sp>
        <p:nvSpPr>
          <p:cNvPr id="43" name="Text 41"/>
          <p:cNvSpPr/>
          <p:nvPr/>
        </p:nvSpPr>
        <p:spPr>
          <a:xfrm>
            <a:off x="5010912" y="2843784"/>
            <a:ext cx="3657600" cy="182880"/>
          </a:xfrm>
          <a:prstGeom prst="rect">
            <a:avLst/>
          </a:prstGeom>
          <a:noFill/>
          <a:ln/>
        </p:spPr>
        <p:txBody>
          <a:bodyPr wrap="square" rtlCol="0" anchor="ctr"/>
          <a:lstStyle/>
          <a:p>
            <a:pPr indent="0" marL="0">
              <a:buNone/>
            </a:pPr>
            <a:r>
              <a:rPr lang="en-US" sz="1100" b="1" dirty="0">
                <a:solidFill>
                  <a:srgbClr val="0D7C66"/>
                </a:solidFill>
                <a:latin typeface="Calibri" pitchFamily="34" charset="0"/>
                <a:ea typeface="Calibri" pitchFamily="34" charset="-122"/>
                <a:cs typeface="Calibri" pitchFamily="34" charset="-120"/>
              </a:rPr>
              <a:t>Turnover margin  →  +6%</a:t>
            </a:r>
            <a:endParaRPr lang="en-US" sz="1100" dirty="0"/>
          </a:p>
        </p:txBody>
      </p:sp>
      <p:sp>
        <p:nvSpPr>
          <p:cNvPr id="44" name="Text 42"/>
          <p:cNvSpPr/>
          <p:nvPr/>
        </p:nvSpPr>
        <p:spPr>
          <a:xfrm>
            <a:off x="5010912" y="3017520"/>
            <a:ext cx="3657600" cy="164592"/>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KC has won the turnover battle in their last 4 games. More momentum.</a:t>
            </a:r>
            <a:endParaRPr lang="en-US" sz="950" dirty="0"/>
          </a:p>
        </p:txBody>
      </p:sp>
      <p:sp>
        <p:nvSpPr>
          <p:cNvPr id="45" name="Shape 43"/>
          <p:cNvSpPr/>
          <p:nvPr/>
        </p:nvSpPr>
        <p:spPr>
          <a:xfrm>
            <a:off x="4892040" y="3273552"/>
            <a:ext cx="3794760" cy="420624"/>
          </a:xfrm>
          <a:prstGeom prst="rect">
            <a:avLst/>
          </a:prstGeom>
          <a:solidFill>
            <a:srgbClr val="1E3D5C"/>
          </a:solidFill>
          <a:ln w="12700">
            <a:solidFill>
              <a:srgbClr val="F5A623"/>
            </a:solidFill>
            <a:prstDash val="solid"/>
          </a:ln>
        </p:spPr>
      </p:sp>
      <p:sp>
        <p:nvSpPr>
          <p:cNvPr id="46" name="Text 44"/>
          <p:cNvSpPr/>
          <p:nvPr/>
        </p:nvSpPr>
        <p:spPr>
          <a:xfrm>
            <a:off x="5010912" y="3319272"/>
            <a:ext cx="3657600" cy="182880"/>
          </a:xfrm>
          <a:prstGeom prst="rect">
            <a:avLst/>
          </a:prstGeom>
          <a:noFill/>
          <a:ln/>
        </p:spPr>
        <p:txBody>
          <a:bodyPr wrap="square" rtlCol="0" anchor="ctr"/>
          <a:lstStyle/>
          <a:p>
            <a:pPr indent="0" marL="0">
              <a:buNone/>
            </a:pPr>
            <a:r>
              <a:rPr lang="en-US" sz="1100" b="1" dirty="0">
                <a:solidFill>
                  <a:srgbClr val="F5A623"/>
                </a:solidFill>
                <a:latin typeface="Calibri" pitchFamily="34" charset="0"/>
                <a:ea typeface="Calibri" pitchFamily="34" charset="-122"/>
                <a:cs typeface="Calibri" pitchFamily="34" charset="-120"/>
              </a:rPr>
              <a:t>BAL QB injury  →  +4%</a:t>
            </a:r>
            <a:endParaRPr lang="en-US" sz="1100" dirty="0"/>
          </a:p>
        </p:txBody>
      </p:sp>
      <p:sp>
        <p:nvSpPr>
          <p:cNvPr id="47" name="Text 45"/>
          <p:cNvSpPr/>
          <p:nvPr/>
        </p:nvSpPr>
        <p:spPr>
          <a:xfrm>
            <a:off x="5010912" y="3493008"/>
            <a:ext cx="3657600" cy="164592"/>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Lamar Jackson listed Questionable. KC edge increases further.</a:t>
            </a:r>
            <a:endParaRPr lang="en-US" sz="950" dirty="0"/>
          </a:p>
        </p:txBody>
      </p:sp>
      <p:sp>
        <p:nvSpPr>
          <p:cNvPr id="48" name="Shape 46"/>
          <p:cNvSpPr/>
          <p:nvPr/>
        </p:nvSpPr>
        <p:spPr>
          <a:xfrm>
            <a:off x="4892040" y="3749040"/>
            <a:ext cx="3794760" cy="420624"/>
          </a:xfrm>
          <a:prstGeom prst="rect">
            <a:avLst/>
          </a:prstGeom>
          <a:solidFill>
            <a:srgbClr val="1E3D5C"/>
          </a:solidFill>
          <a:ln w="12700">
            <a:solidFill>
              <a:srgbClr val="1A7BAF"/>
            </a:solidFill>
            <a:prstDash val="solid"/>
          </a:ln>
        </p:spPr>
      </p:sp>
      <p:sp>
        <p:nvSpPr>
          <p:cNvPr id="49" name="Text 47"/>
          <p:cNvSpPr/>
          <p:nvPr/>
        </p:nvSpPr>
        <p:spPr>
          <a:xfrm>
            <a:off x="5010912" y="3794760"/>
            <a:ext cx="3657600" cy="182880"/>
          </a:xfrm>
          <a:prstGeom prst="rect">
            <a:avLst/>
          </a:prstGeom>
          <a:noFill/>
          <a:ln/>
        </p:spPr>
        <p:txBody>
          <a:bodyPr wrap="square" rtlCol="0" anchor="ctr"/>
          <a:lstStyle/>
          <a:p>
            <a:pPr indent="0" marL="0">
              <a:buNone/>
            </a:pPr>
            <a:r>
              <a:rPr lang="en-US" sz="1100" b="1" dirty="0">
                <a:solidFill>
                  <a:srgbClr val="1A7BAF"/>
                </a:solidFill>
                <a:latin typeface="Calibri" pitchFamily="34" charset="0"/>
                <a:ea typeface="Calibri" pitchFamily="34" charset="-122"/>
                <a:cs typeface="Calibri" pitchFamily="34" charset="-120"/>
              </a:rPr>
              <a:t>EPA differential  →  +2%</a:t>
            </a:r>
            <a:endParaRPr lang="en-US" sz="1100" dirty="0"/>
          </a:p>
        </p:txBody>
      </p:sp>
      <p:sp>
        <p:nvSpPr>
          <p:cNvPr id="50" name="Text 48"/>
          <p:cNvSpPr/>
          <p:nvPr/>
        </p:nvSpPr>
        <p:spPr>
          <a:xfrm>
            <a:off x="5010912" y="3968496"/>
            <a:ext cx="3657600" cy="164592"/>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KC's rolling offensive EPA is slightly higher than BAL's this month.</a:t>
            </a:r>
            <a:endParaRPr lang="en-US" sz="950" dirty="0"/>
          </a:p>
        </p:txBody>
      </p:sp>
      <p:sp>
        <p:nvSpPr>
          <p:cNvPr id="51" name="Shape 49"/>
          <p:cNvSpPr/>
          <p:nvPr/>
        </p:nvSpPr>
        <p:spPr>
          <a:xfrm>
            <a:off x="4892040" y="4224528"/>
            <a:ext cx="3794760" cy="420624"/>
          </a:xfrm>
          <a:prstGeom prst="rect">
            <a:avLst/>
          </a:prstGeom>
          <a:solidFill>
            <a:srgbClr val="1E3D5C"/>
          </a:solidFill>
          <a:ln w="12700">
            <a:solidFill>
              <a:srgbClr val="27AE60"/>
            </a:solidFill>
            <a:prstDash val="solid"/>
          </a:ln>
        </p:spPr>
      </p:sp>
      <p:sp>
        <p:nvSpPr>
          <p:cNvPr id="52" name="Text 50"/>
          <p:cNvSpPr/>
          <p:nvPr/>
        </p:nvSpPr>
        <p:spPr>
          <a:xfrm>
            <a:off x="5010912" y="4270248"/>
            <a:ext cx="3657600" cy="182880"/>
          </a:xfrm>
          <a:prstGeom prst="rect">
            <a:avLst/>
          </a:prstGeom>
          <a:noFill/>
          <a:ln/>
        </p:spPr>
        <p:txBody>
          <a:bodyPr wrap="square" rtlCol="0" anchor="ctr"/>
          <a:lstStyle/>
          <a:p>
            <a:pPr indent="0" marL="0">
              <a:buNone/>
            </a:pPr>
            <a:r>
              <a:rPr lang="en-US" sz="1100" b="1" dirty="0">
                <a:solidFill>
                  <a:srgbClr val="27AE60"/>
                </a:solidFill>
                <a:latin typeface="Calibri" pitchFamily="34" charset="0"/>
                <a:ea typeface="Calibri" pitchFamily="34" charset="-122"/>
                <a:cs typeface="Calibri" pitchFamily="34" charset="-120"/>
              </a:rPr>
              <a:t>Final output: KC 68%</a:t>
            </a:r>
            <a:endParaRPr lang="en-US" sz="1100" dirty="0"/>
          </a:p>
        </p:txBody>
      </p:sp>
      <p:sp>
        <p:nvSpPr>
          <p:cNvPr id="53" name="Text 51"/>
          <p:cNvSpPr/>
          <p:nvPr/>
        </p:nvSpPr>
        <p:spPr>
          <a:xfrm>
            <a:off x="5010912" y="4443984"/>
            <a:ext cx="3657600" cy="164592"/>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50% base + 8 + 6 + 4 + 2 + small other contributions = 68% for KC</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128016"/>
          </a:xfrm>
          <a:prstGeom prst="rect">
            <a:avLst/>
          </a:prstGeom>
          <a:solidFill>
            <a:srgbClr val="F5A623"/>
          </a:solidFill>
          <a:ln w="12700">
            <a:solidFill>
              <a:srgbClr val="F5A623"/>
            </a:solidFill>
            <a:prstDash val="solid"/>
          </a:ln>
        </p:spPr>
      </p:sp>
      <p:sp>
        <p:nvSpPr>
          <p:cNvPr id="3" name="Shape 1"/>
          <p:cNvSpPr/>
          <p:nvPr/>
        </p:nvSpPr>
        <p:spPr>
          <a:xfrm>
            <a:off x="0" y="4974336"/>
            <a:ext cx="9144000" cy="169164"/>
          </a:xfrm>
          <a:prstGeom prst="rect">
            <a:avLst/>
          </a:prstGeom>
          <a:solidFill>
            <a:srgbClr val="0D7C66"/>
          </a:solidFill>
          <a:ln w="12700">
            <a:solidFill>
              <a:srgbClr val="0D7C66"/>
            </a:solidFill>
            <a:prstDash val="solid"/>
          </a:ln>
        </p:spPr>
      </p:sp>
      <p:sp>
        <p:nvSpPr>
          <p:cNvPr id="4" name="Text 2"/>
          <p:cNvSpPr/>
          <p:nvPr/>
        </p:nvSpPr>
        <p:spPr>
          <a:xfrm>
            <a:off x="411480" y="182880"/>
            <a:ext cx="8321040" cy="566928"/>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Layer 5: Why Monte Carlo Simulation?</a:t>
            </a:r>
            <a:endParaRPr lang="en-US" sz="3000" dirty="0"/>
          </a:p>
        </p:txBody>
      </p:sp>
      <p:sp>
        <p:nvSpPr>
          <p:cNvPr id="5" name="Text 3"/>
          <p:cNvSpPr/>
          <p:nvPr/>
        </p:nvSpPr>
        <p:spPr>
          <a:xfrm>
            <a:off x="411480" y="749808"/>
            <a:ext cx="8321040" cy="256032"/>
          </a:xfrm>
          <a:prstGeom prst="rect">
            <a:avLst/>
          </a:prstGeom>
          <a:noFill/>
          <a:ln/>
        </p:spPr>
        <p:txBody>
          <a:bodyPr wrap="square" rtlCol="0" anchor="ctr"/>
          <a:lstStyle/>
          <a:p>
            <a:pPr indent="0" marL="0">
              <a:buNone/>
            </a:pPr>
            <a:r>
              <a:rPr lang="en-US" sz="1200" i="1" dirty="0">
                <a:solidFill>
                  <a:srgbClr val="7A9CBB"/>
                </a:solidFill>
                <a:latin typeface="Calibri" pitchFamily="34" charset="0"/>
                <a:ea typeface="Calibri" pitchFamily="34" charset="-122"/>
                <a:cs typeface="Calibri" pitchFamily="34" charset="-120"/>
              </a:rPr>
              <a:t>We need to go from per-game predictions to full-season Super Bowl probability. Only simulation makes this tractable.</a:t>
            </a:r>
            <a:endParaRPr lang="en-US" sz="1200" dirty="0"/>
          </a:p>
        </p:txBody>
      </p:sp>
      <p:sp>
        <p:nvSpPr>
          <p:cNvPr id="6" name="Shape 4"/>
          <p:cNvSpPr/>
          <p:nvPr/>
        </p:nvSpPr>
        <p:spPr>
          <a:xfrm>
            <a:off x="365760" y="1024128"/>
            <a:ext cx="4251960" cy="3767328"/>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7" name="Text 5"/>
          <p:cNvSpPr/>
          <p:nvPr/>
        </p:nvSpPr>
        <p:spPr>
          <a:xfrm>
            <a:off x="502920" y="1097280"/>
            <a:ext cx="3931920" cy="310896"/>
          </a:xfrm>
          <a:prstGeom prst="rect">
            <a:avLst/>
          </a:prstGeom>
          <a:noFill/>
          <a:ln/>
        </p:spPr>
        <p:txBody>
          <a:bodyPr wrap="square" rtlCol="0" anchor="ctr"/>
          <a:lstStyle/>
          <a:p>
            <a:pPr indent="0" marL="0">
              <a:buNone/>
            </a:pPr>
            <a:r>
              <a:rPr lang="en-US" sz="1350" b="1" dirty="0">
                <a:solidFill>
                  <a:srgbClr val="0D7C66"/>
                </a:solidFill>
                <a:latin typeface="Arial Black" pitchFamily="34" charset="0"/>
                <a:ea typeface="Arial Black" pitchFamily="34" charset="-122"/>
                <a:cs typeface="Arial Black" pitchFamily="34" charset="-120"/>
              </a:rPr>
              <a:t>How It Works — 4 Steps</a:t>
            </a:r>
            <a:endParaRPr lang="en-US" sz="1350" dirty="0"/>
          </a:p>
        </p:txBody>
      </p:sp>
      <p:sp>
        <p:nvSpPr>
          <p:cNvPr id="8" name="Shape 6"/>
          <p:cNvSpPr/>
          <p:nvPr/>
        </p:nvSpPr>
        <p:spPr>
          <a:xfrm>
            <a:off x="502920" y="1527048"/>
            <a:ext cx="402336" cy="402336"/>
          </a:xfrm>
          <a:prstGeom prst="ellipse">
            <a:avLst/>
          </a:prstGeom>
          <a:solidFill>
            <a:srgbClr val="0D7C66"/>
          </a:solidFill>
          <a:ln w="12700">
            <a:solidFill>
              <a:srgbClr val="0D7C66"/>
            </a:solidFill>
            <a:prstDash val="solid"/>
          </a:ln>
        </p:spPr>
      </p:sp>
      <p:sp>
        <p:nvSpPr>
          <p:cNvPr id="9" name="Text 7"/>
          <p:cNvSpPr/>
          <p:nvPr/>
        </p:nvSpPr>
        <p:spPr>
          <a:xfrm>
            <a:off x="502920" y="1527048"/>
            <a:ext cx="402336" cy="402336"/>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1</a:t>
            </a:r>
            <a:endParaRPr lang="en-US" sz="1400" dirty="0"/>
          </a:p>
        </p:txBody>
      </p:sp>
      <p:sp>
        <p:nvSpPr>
          <p:cNvPr id="10" name="Text 8"/>
          <p:cNvSpPr/>
          <p:nvPr/>
        </p:nvSpPr>
        <p:spPr>
          <a:xfrm>
            <a:off x="1005840" y="1508760"/>
            <a:ext cx="3474720" cy="237744"/>
          </a:xfrm>
          <a:prstGeom prst="rect">
            <a:avLst/>
          </a:prstGeom>
          <a:noFill/>
          <a:ln/>
        </p:spPr>
        <p:txBody>
          <a:bodyPr wrap="square"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Flip a weighted coin</a:t>
            </a:r>
            <a:endParaRPr lang="en-US" sz="1200" dirty="0"/>
          </a:p>
        </p:txBody>
      </p:sp>
      <p:sp>
        <p:nvSpPr>
          <p:cNvPr id="11" name="Text 9"/>
          <p:cNvSpPr/>
          <p:nvPr/>
        </p:nvSpPr>
        <p:spPr>
          <a:xfrm>
            <a:off x="1005840" y="1764792"/>
            <a:ext cx="3474720" cy="457200"/>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For every remaining regular-season game, blend ELO (40%) + rolling EPA (40%) + turnover margin (20%) into a win probability and decide the result.</a:t>
            </a:r>
            <a:endParaRPr lang="en-US" sz="1100" dirty="0"/>
          </a:p>
        </p:txBody>
      </p:sp>
      <p:sp>
        <p:nvSpPr>
          <p:cNvPr id="12" name="Shape 10"/>
          <p:cNvSpPr/>
          <p:nvPr/>
        </p:nvSpPr>
        <p:spPr>
          <a:xfrm>
            <a:off x="502920" y="2322576"/>
            <a:ext cx="402336" cy="402336"/>
          </a:xfrm>
          <a:prstGeom prst="ellipse">
            <a:avLst/>
          </a:prstGeom>
          <a:solidFill>
            <a:srgbClr val="0D7C66"/>
          </a:solidFill>
          <a:ln w="12700">
            <a:solidFill>
              <a:srgbClr val="0D7C66"/>
            </a:solidFill>
            <a:prstDash val="solid"/>
          </a:ln>
        </p:spPr>
      </p:sp>
      <p:sp>
        <p:nvSpPr>
          <p:cNvPr id="13" name="Text 11"/>
          <p:cNvSpPr/>
          <p:nvPr/>
        </p:nvSpPr>
        <p:spPr>
          <a:xfrm>
            <a:off x="502920" y="2322576"/>
            <a:ext cx="402336" cy="402336"/>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2</a:t>
            </a:r>
            <a:endParaRPr lang="en-US" sz="1400" dirty="0"/>
          </a:p>
        </p:txBody>
      </p:sp>
      <p:sp>
        <p:nvSpPr>
          <p:cNvPr id="14" name="Text 12"/>
          <p:cNvSpPr/>
          <p:nvPr/>
        </p:nvSpPr>
        <p:spPr>
          <a:xfrm>
            <a:off x="1005840" y="2304288"/>
            <a:ext cx="3474720" cy="237744"/>
          </a:xfrm>
          <a:prstGeom prst="rect">
            <a:avLst/>
          </a:prstGeom>
          <a:noFill/>
          <a:ln/>
        </p:spPr>
        <p:txBody>
          <a:bodyPr wrap="square"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Seed the playoff bracket</a:t>
            </a:r>
            <a:endParaRPr lang="en-US" sz="1200" dirty="0"/>
          </a:p>
        </p:txBody>
      </p:sp>
      <p:sp>
        <p:nvSpPr>
          <p:cNvPr id="15" name="Text 13"/>
          <p:cNvSpPr/>
          <p:nvPr/>
        </p:nvSpPr>
        <p:spPr>
          <a:xfrm>
            <a:off x="1005840" y="2560320"/>
            <a:ext cx="3474720" cy="457200"/>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Final standings determine the 7-team playoff bracket per conference, exactly following real NFL seeding rules.</a:t>
            </a:r>
            <a:endParaRPr lang="en-US" sz="1100" dirty="0"/>
          </a:p>
        </p:txBody>
      </p:sp>
      <p:sp>
        <p:nvSpPr>
          <p:cNvPr id="16" name="Shape 14"/>
          <p:cNvSpPr/>
          <p:nvPr/>
        </p:nvSpPr>
        <p:spPr>
          <a:xfrm>
            <a:off x="502920" y="3118104"/>
            <a:ext cx="402336" cy="402336"/>
          </a:xfrm>
          <a:prstGeom prst="ellipse">
            <a:avLst/>
          </a:prstGeom>
          <a:solidFill>
            <a:srgbClr val="0D7C66"/>
          </a:solidFill>
          <a:ln w="12700">
            <a:solidFill>
              <a:srgbClr val="0D7C66"/>
            </a:solidFill>
            <a:prstDash val="solid"/>
          </a:ln>
        </p:spPr>
      </p:sp>
      <p:sp>
        <p:nvSpPr>
          <p:cNvPr id="17" name="Text 15"/>
          <p:cNvSpPr/>
          <p:nvPr/>
        </p:nvSpPr>
        <p:spPr>
          <a:xfrm>
            <a:off x="502920" y="3118104"/>
            <a:ext cx="402336" cy="402336"/>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3</a:t>
            </a:r>
            <a:endParaRPr lang="en-US" sz="1400" dirty="0"/>
          </a:p>
        </p:txBody>
      </p:sp>
      <p:sp>
        <p:nvSpPr>
          <p:cNvPr id="18" name="Text 16"/>
          <p:cNvSpPr/>
          <p:nvPr/>
        </p:nvSpPr>
        <p:spPr>
          <a:xfrm>
            <a:off x="1005840" y="3099816"/>
            <a:ext cx="3474720" cy="237744"/>
          </a:xfrm>
          <a:prstGeom prst="rect">
            <a:avLst/>
          </a:prstGeom>
          <a:noFill/>
          <a:ln/>
        </p:spPr>
        <p:txBody>
          <a:bodyPr wrap="square"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Simulate all playoff rounds</a:t>
            </a:r>
            <a:endParaRPr lang="en-US" sz="1200" dirty="0"/>
          </a:p>
        </p:txBody>
      </p:sp>
      <p:sp>
        <p:nvSpPr>
          <p:cNvPr id="19" name="Text 17"/>
          <p:cNvSpPr/>
          <p:nvPr/>
        </p:nvSpPr>
        <p:spPr>
          <a:xfrm>
            <a:off x="1005840" y="3355848"/>
            <a:ext cx="3474720" cy="457200"/>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Wild Card → Divisional → Conference Championship → Super Bowl. Each game uses the same probability model.</a:t>
            </a:r>
            <a:endParaRPr lang="en-US" sz="1100" dirty="0"/>
          </a:p>
        </p:txBody>
      </p:sp>
      <p:sp>
        <p:nvSpPr>
          <p:cNvPr id="20" name="Shape 18"/>
          <p:cNvSpPr/>
          <p:nvPr/>
        </p:nvSpPr>
        <p:spPr>
          <a:xfrm>
            <a:off x="502920" y="3913632"/>
            <a:ext cx="402336" cy="402336"/>
          </a:xfrm>
          <a:prstGeom prst="ellipse">
            <a:avLst/>
          </a:prstGeom>
          <a:solidFill>
            <a:srgbClr val="0D7C66"/>
          </a:solidFill>
          <a:ln w="12700">
            <a:solidFill>
              <a:srgbClr val="0D7C66"/>
            </a:solidFill>
            <a:prstDash val="solid"/>
          </a:ln>
        </p:spPr>
      </p:sp>
      <p:sp>
        <p:nvSpPr>
          <p:cNvPr id="21" name="Text 19"/>
          <p:cNvSpPr/>
          <p:nvPr/>
        </p:nvSpPr>
        <p:spPr>
          <a:xfrm>
            <a:off x="502920" y="3913632"/>
            <a:ext cx="402336" cy="402336"/>
          </a:xfrm>
          <a:prstGeom prst="rect">
            <a:avLst/>
          </a:prstGeom>
          <a:noFill/>
          <a:ln/>
        </p:spPr>
        <p:txBody>
          <a:bodyPr wrap="square" rtlCol="0" anchor="ctr"/>
          <a:lstStyle/>
          <a:p>
            <a:pPr algn="ctr" indent="0" marL="0">
              <a:buNone/>
            </a:pPr>
            <a:r>
              <a:rPr lang="en-US" sz="1400" b="1" dirty="0">
                <a:solidFill>
                  <a:srgbClr val="FFFFFF"/>
                </a:solidFill>
                <a:latin typeface="Arial Black" pitchFamily="34" charset="0"/>
                <a:ea typeface="Arial Black" pitchFamily="34" charset="-122"/>
                <a:cs typeface="Arial Black" pitchFamily="34" charset="-120"/>
              </a:rPr>
              <a:t>4</a:t>
            </a:r>
            <a:endParaRPr lang="en-US" sz="1400" dirty="0"/>
          </a:p>
        </p:txBody>
      </p:sp>
      <p:sp>
        <p:nvSpPr>
          <p:cNvPr id="22" name="Text 20"/>
          <p:cNvSpPr/>
          <p:nvPr/>
        </p:nvSpPr>
        <p:spPr>
          <a:xfrm>
            <a:off x="1005840" y="3895344"/>
            <a:ext cx="3474720" cy="237744"/>
          </a:xfrm>
          <a:prstGeom prst="rect">
            <a:avLst/>
          </a:prstGeom>
          <a:noFill/>
          <a:ln/>
        </p:spPr>
        <p:txBody>
          <a:bodyPr wrap="square" rtlCol="0" anchor="ctr"/>
          <a:lstStyle/>
          <a:p>
            <a:pPr indent="0" marL="0">
              <a:buNone/>
            </a:pPr>
            <a:r>
              <a:rPr lang="en-US" sz="1200" b="1" dirty="0">
                <a:solidFill>
                  <a:srgbClr val="F5A623"/>
                </a:solidFill>
                <a:latin typeface="Calibri" pitchFamily="34" charset="0"/>
                <a:ea typeface="Calibri" pitchFamily="34" charset="-122"/>
                <a:cs typeface="Calibri" pitchFamily="34" charset="-120"/>
              </a:rPr>
              <a:t>Count results and repeat</a:t>
            </a:r>
            <a:endParaRPr lang="en-US" sz="1200" dirty="0"/>
          </a:p>
        </p:txBody>
      </p:sp>
      <p:sp>
        <p:nvSpPr>
          <p:cNvPr id="23" name="Text 21"/>
          <p:cNvSpPr/>
          <p:nvPr/>
        </p:nvSpPr>
        <p:spPr>
          <a:xfrm>
            <a:off x="1005840" y="4151376"/>
            <a:ext cx="3474720" cy="457200"/>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Record which team won the Super Bowl. Reset. Repeat 10,000 times. SB probability = wins ÷ 10,000.</a:t>
            </a:r>
            <a:endParaRPr lang="en-US" sz="1100" dirty="0"/>
          </a:p>
        </p:txBody>
      </p:sp>
      <p:sp>
        <p:nvSpPr>
          <p:cNvPr id="24" name="Shape 22"/>
          <p:cNvSpPr/>
          <p:nvPr/>
        </p:nvSpPr>
        <p:spPr>
          <a:xfrm>
            <a:off x="4800600" y="1024128"/>
            <a:ext cx="3977640" cy="3767328"/>
          </a:xfrm>
          <a:prstGeom prst="rect">
            <a:avLst/>
          </a:prstGeom>
          <a:solidFill>
            <a:srgbClr val="132A47"/>
          </a:solidFill>
          <a:ln w="12700">
            <a:solidFill>
              <a:srgbClr val="F5A623"/>
            </a:solidFill>
            <a:prstDash val="solid"/>
          </a:ln>
          <a:effectLst>
            <a:outerShdw sx="100000" sy="100000" kx="0" ky="0" algn="bl" rotWithShape="0" blurRad="101600" dist="38100" dir="8100000">
              <a:srgbClr val="000000">
                <a:alpha val="18000"/>
              </a:srgbClr>
            </a:outerShdw>
          </a:effectLst>
        </p:spPr>
      </p:sp>
      <p:sp>
        <p:nvSpPr>
          <p:cNvPr id="25" name="Text 23"/>
          <p:cNvSpPr/>
          <p:nvPr/>
        </p:nvSpPr>
        <p:spPr>
          <a:xfrm>
            <a:off x="4937760" y="1097280"/>
            <a:ext cx="3657600" cy="310896"/>
          </a:xfrm>
          <a:prstGeom prst="rect">
            <a:avLst/>
          </a:prstGeom>
          <a:noFill/>
          <a:ln/>
        </p:spPr>
        <p:txBody>
          <a:bodyPr wrap="square" rtlCol="0" anchor="ctr"/>
          <a:lstStyle/>
          <a:p>
            <a:pPr indent="0" marL="0">
              <a:buNone/>
            </a:pPr>
            <a:r>
              <a:rPr lang="en-US" sz="1350" b="1" dirty="0">
                <a:solidFill>
                  <a:srgbClr val="F5A623"/>
                </a:solidFill>
                <a:latin typeface="Arial Black" pitchFamily="34" charset="0"/>
                <a:ea typeface="Arial Black" pitchFamily="34" charset="-122"/>
                <a:cs typeface="Arial Black" pitchFamily="34" charset="-120"/>
              </a:rPr>
              <a:t>Why Not Alternatives?</a:t>
            </a:r>
            <a:endParaRPr lang="en-US" sz="1350" dirty="0"/>
          </a:p>
        </p:txBody>
      </p:sp>
      <p:sp>
        <p:nvSpPr>
          <p:cNvPr id="26" name="Shape 24"/>
          <p:cNvSpPr/>
          <p:nvPr/>
        </p:nvSpPr>
        <p:spPr>
          <a:xfrm>
            <a:off x="4892040" y="1508760"/>
            <a:ext cx="3749040" cy="804672"/>
          </a:xfrm>
          <a:prstGeom prst="rect">
            <a:avLst/>
          </a:prstGeom>
          <a:solidFill>
            <a:srgbClr val="1E3D5C"/>
          </a:solidFill>
          <a:ln w="12700">
            <a:solidFill>
              <a:srgbClr val="C8102E"/>
            </a:solidFill>
            <a:prstDash val="solid"/>
          </a:ln>
        </p:spPr>
      </p:sp>
      <p:sp>
        <p:nvSpPr>
          <p:cNvPr id="27" name="Text 25"/>
          <p:cNvSpPr/>
          <p:nvPr/>
        </p:nvSpPr>
        <p:spPr>
          <a:xfrm>
            <a:off x="5029200" y="1572768"/>
            <a:ext cx="3520440" cy="237744"/>
          </a:xfrm>
          <a:prstGeom prst="rect">
            <a:avLst/>
          </a:prstGeom>
          <a:noFill/>
          <a:ln/>
        </p:spPr>
        <p:txBody>
          <a:bodyPr wrap="square" rtlCol="0" anchor="ctr"/>
          <a:lstStyle/>
          <a:p>
            <a:pPr indent="0" marL="0">
              <a:buNone/>
            </a:pPr>
            <a:r>
              <a:rPr lang="en-US" sz="1200" b="1" dirty="0">
                <a:solidFill>
                  <a:srgbClr val="C8102E"/>
                </a:solidFill>
                <a:latin typeface="Calibri" pitchFamily="34" charset="0"/>
                <a:ea typeface="Calibri" pitchFamily="34" charset="-122"/>
                <a:cs typeface="Calibri" pitchFamily="34" charset="-120"/>
              </a:rPr>
              <a:t>✗  Analytical Calculation</a:t>
            </a:r>
            <a:endParaRPr lang="en-US" sz="1200" dirty="0"/>
          </a:p>
        </p:txBody>
      </p:sp>
      <p:sp>
        <p:nvSpPr>
          <p:cNvPr id="28" name="Text 26"/>
          <p:cNvSpPr/>
          <p:nvPr/>
        </p:nvSpPr>
        <p:spPr>
          <a:xfrm>
            <a:off x="5029200" y="1837944"/>
            <a:ext cx="3520440" cy="420624"/>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32 teams × 18 remaining weeks × 4 playoff rounds creates billions of possible paths. Mathematically impossible to compute exactly.</a:t>
            </a:r>
            <a:endParaRPr lang="en-US" sz="1050" dirty="0"/>
          </a:p>
        </p:txBody>
      </p:sp>
      <p:sp>
        <p:nvSpPr>
          <p:cNvPr id="29" name="Shape 27"/>
          <p:cNvSpPr/>
          <p:nvPr/>
        </p:nvSpPr>
        <p:spPr>
          <a:xfrm>
            <a:off x="4892040" y="2404872"/>
            <a:ext cx="3749040" cy="804672"/>
          </a:xfrm>
          <a:prstGeom prst="rect">
            <a:avLst/>
          </a:prstGeom>
          <a:solidFill>
            <a:srgbClr val="1E3D5C"/>
          </a:solidFill>
          <a:ln w="12700">
            <a:solidFill>
              <a:srgbClr val="C8102E"/>
            </a:solidFill>
            <a:prstDash val="solid"/>
          </a:ln>
        </p:spPr>
      </p:sp>
      <p:sp>
        <p:nvSpPr>
          <p:cNvPr id="30" name="Text 28"/>
          <p:cNvSpPr/>
          <p:nvPr/>
        </p:nvSpPr>
        <p:spPr>
          <a:xfrm>
            <a:off x="5029200" y="2468880"/>
            <a:ext cx="3520440" cy="237744"/>
          </a:xfrm>
          <a:prstGeom prst="rect">
            <a:avLst/>
          </a:prstGeom>
          <a:noFill/>
          <a:ln/>
        </p:spPr>
        <p:txBody>
          <a:bodyPr wrap="square" rtlCol="0" anchor="ctr"/>
          <a:lstStyle/>
          <a:p>
            <a:pPr indent="0" marL="0">
              <a:buNone/>
            </a:pPr>
            <a:r>
              <a:rPr lang="en-US" sz="1200" b="1" dirty="0">
                <a:solidFill>
                  <a:srgbClr val="C8102E"/>
                </a:solidFill>
                <a:latin typeface="Calibri" pitchFamily="34" charset="0"/>
                <a:ea typeface="Calibri" pitchFamily="34" charset="-122"/>
                <a:cs typeface="Calibri" pitchFamily="34" charset="-120"/>
              </a:rPr>
              <a:t>✗  ELO Probability Only</a:t>
            </a:r>
            <a:endParaRPr lang="en-US" sz="1200" dirty="0"/>
          </a:p>
        </p:txBody>
      </p:sp>
      <p:sp>
        <p:nvSpPr>
          <p:cNvPr id="31" name="Text 29"/>
          <p:cNvSpPr/>
          <p:nvPr/>
        </p:nvSpPr>
        <p:spPr>
          <a:xfrm>
            <a:off x="5029200" y="2734056"/>
            <a:ext cx="3520440" cy="420624"/>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ELO gives a probability for one specific game. It cannot aggregate across an entire season + playoff bracket into one team-level SB %.</a:t>
            </a:r>
            <a:endParaRPr lang="en-US" sz="1050" dirty="0"/>
          </a:p>
        </p:txBody>
      </p:sp>
      <p:sp>
        <p:nvSpPr>
          <p:cNvPr id="32" name="Shape 30"/>
          <p:cNvSpPr/>
          <p:nvPr/>
        </p:nvSpPr>
        <p:spPr>
          <a:xfrm>
            <a:off x="4892040" y="3300984"/>
            <a:ext cx="3749040" cy="804672"/>
          </a:xfrm>
          <a:prstGeom prst="rect">
            <a:avLst/>
          </a:prstGeom>
          <a:solidFill>
            <a:srgbClr val="1E3D5C"/>
          </a:solidFill>
          <a:ln w="12700">
            <a:solidFill>
              <a:srgbClr val="C8102E"/>
            </a:solidFill>
            <a:prstDash val="solid"/>
          </a:ln>
        </p:spPr>
      </p:sp>
      <p:sp>
        <p:nvSpPr>
          <p:cNvPr id="33" name="Text 31"/>
          <p:cNvSpPr/>
          <p:nvPr/>
        </p:nvSpPr>
        <p:spPr>
          <a:xfrm>
            <a:off x="5029200" y="3364992"/>
            <a:ext cx="3520440" cy="237744"/>
          </a:xfrm>
          <a:prstGeom prst="rect">
            <a:avLst/>
          </a:prstGeom>
          <a:noFill/>
          <a:ln/>
        </p:spPr>
        <p:txBody>
          <a:bodyPr wrap="square" rtlCol="0" anchor="ctr"/>
          <a:lstStyle/>
          <a:p>
            <a:pPr indent="0" marL="0">
              <a:buNone/>
            </a:pPr>
            <a:r>
              <a:rPr lang="en-US" sz="1200" b="1" dirty="0">
                <a:solidFill>
                  <a:srgbClr val="C8102E"/>
                </a:solidFill>
                <a:latin typeface="Calibri" pitchFamily="34" charset="0"/>
                <a:ea typeface="Calibri" pitchFamily="34" charset="-122"/>
                <a:cs typeface="Calibri" pitchFamily="34" charset="-120"/>
              </a:rPr>
              <a:t>✗  Betting Market Odds</a:t>
            </a:r>
            <a:endParaRPr lang="en-US" sz="1200" dirty="0"/>
          </a:p>
        </p:txBody>
      </p:sp>
      <p:sp>
        <p:nvSpPr>
          <p:cNvPr id="34" name="Text 32"/>
          <p:cNvSpPr/>
          <p:nvPr/>
        </p:nvSpPr>
        <p:spPr>
          <a:xfrm>
            <a:off x="5029200" y="3630168"/>
            <a:ext cx="3520440" cy="420624"/>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Betting odds embed sharp money, public bias, and market manipulation. We need an independent, data-driven forecast.</a:t>
            </a:r>
            <a:endParaRPr lang="en-US" sz="1050" dirty="0"/>
          </a:p>
        </p:txBody>
      </p:sp>
      <p:sp>
        <p:nvSpPr>
          <p:cNvPr id="35" name="Shape 33"/>
          <p:cNvSpPr/>
          <p:nvPr/>
        </p:nvSpPr>
        <p:spPr>
          <a:xfrm>
            <a:off x="4892040" y="4215384"/>
            <a:ext cx="3749040" cy="466344"/>
          </a:xfrm>
          <a:prstGeom prst="rect">
            <a:avLst/>
          </a:prstGeom>
          <a:solidFill>
            <a:srgbClr val="0D7C66"/>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36" name="Text 34"/>
          <p:cNvSpPr/>
          <p:nvPr/>
        </p:nvSpPr>
        <p:spPr>
          <a:xfrm>
            <a:off x="5029200" y="4261104"/>
            <a:ext cx="3520440" cy="329184"/>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SEA ranked #1 at 19.7%  →  Seahawks won Super Bowl LX  ✅</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128016"/>
          </a:xfrm>
          <a:prstGeom prst="rect">
            <a:avLst/>
          </a:prstGeom>
          <a:solidFill>
            <a:srgbClr val="F5A623"/>
          </a:solidFill>
          <a:ln w="12700">
            <a:solidFill>
              <a:srgbClr val="F5A623"/>
            </a:solidFill>
            <a:prstDash val="solid"/>
          </a:ln>
        </p:spPr>
      </p:sp>
      <p:sp>
        <p:nvSpPr>
          <p:cNvPr id="3" name="Shape 1"/>
          <p:cNvSpPr/>
          <p:nvPr/>
        </p:nvSpPr>
        <p:spPr>
          <a:xfrm>
            <a:off x="0" y="4974336"/>
            <a:ext cx="9144000" cy="169164"/>
          </a:xfrm>
          <a:prstGeom prst="rect">
            <a:avLst/>
          </a:prstGeom>
          <a:solidFill>
            <a:srgbClr val="0D7C66"/>
          </a:solidFill>
          <a:ln w="12700">
            <a:solidFill>
              <a:srgbClr val="0D7C66"/>
            </a:solidFill>
            <a:prstDash val="solid"/>
          </a:ln>
        </p:spPr>
      </p:sp>
      <p:sp>
        <p:nvSpPr>
          <p:cNvPr id="4" name="Text 2"/>
          <p:cNvSpPr/>
          <p:nvPr/>
        </p:nvSpPr>
        <p:spPr>
          <a:xfrm>
            <a:off x="411480" y="182880"/>
            <a:ext cx="8321040" cy="566928"/>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Model Performance vs Benchmarks</a:t>
            </a:r>
            <a:endParaRPr lang="en-US" sz="3000" dirty="0"/>
          </a:p>
        </p:txBody>
      </p:sp>
      <p:sp>
        <p:nvSpPr>
          <p:cNvPr id="5" name="Text 3"/>
          <p:cNvSpPr/>
          <p:nvPr/>
        </p:nvSpPr>
        <p:spPr>
          <a:xfrm>
            <a:off x="411480" y="749808"/>
            <a:ext cx="8321040" cy="256032"/>
          </a:xfrm>
          <a:prstGeom prst="rect">
            <a:avLst/>
          </a:prstGeom>
          <a:noFill/>
          <a:ln/>
        </p:spPr>
        <p:txBody>
          <a:bodyPr wrap="square" rtlCol="0" anchor="ctr"/>
          <a:lstStyle/>
          <a:p>
            <a:pPr indent="0" marL="0">
              <a:buNone/>
            </a:pPr>
            <a:r>
              <a:rPr lang="en-US" sz="1200" i="1" dirty="0">
                <a:solidFill>
                  <a:srgbClr val="7A9CBB"/>
                </a:solidFill>
                <a:latin typeface="Calibri" pitchFamily="34" charset="0"/>
                <a:ea typeface="Calibri" pitchFamily="34" charset="-122"/>
                <a:cs typeface="Calibri" pitchFamily="34" charset="-120"/>
              </a:rPr>
              <a:t>All targets met on the 2024 holdout season. The model was never shown 2024 or 2025 data during training.</a:t>
            </a:r>
            <a:endParaRPr lang="en-US" sz="1200" dirty="0"/>
          </a:p>
        </p:txBody>
      </p:sp>
      <p:sp>
        <p:nvSpPr>
          <p:cNvPr id="6" name="Shape 4"/>
          <p:cNvSpPr/>
          <p:nvPr/>
        </p:nvSpPr>
        <p:spPr>
          <a:xfrm>
            <a:off x="365760" y="1005840"/>
            <a:ext cx="8412480" cy="868680"/>
          </a:xfrm>
          <a:prstGeom prst="rect">
            <a:avLst/>
          </a:prstGeom>
          <a:solidFill>
            <a:srgbClr val="132A47"/>
          </a:solidFill>
          <a:ln w="12700">
            <a:solidFill>
              <a:srgbClr val="27AE60"/>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365760" y="1005840"/>
            <a:ext cx="64008" cy="868680"/>
          </a:xfrm>
          <a:prstGeom prst="rect">
            <a:avLst/>
          </a:prstGeom>
          <a:solidFill>
            <a:srgbClr val="27AE60"/>
          </a:solidFill>
          <a:ln w="12700">
            <a:solidFill>
              <a:srgbClr val="27AE60"/>
            </a:solidFill>
            <a:prstDash val="solid"/>
          </a:ln>
        </p:spPr>
      </p:sp>
      <p:sp>
        <p:nvSpPr>
          <p:cNvPr id="8" name="Text 6"/>
          <p:cNvSpPr/>
          <p:nvPr/>
        </p:nvSpPr>
        <p:spPr>
          <a:xfrm>
            <a:off x="548640" y="1097280"/>
            <a:ext cx="1691640" cy="658368"/>
          </a:xfrm>
          <a:prstGeom prst="rect">
            <a:avLst/>
          </a:prstGeom>
          <a:noFill/>
          <a:ln/>
        </p:spPr>
        <p:txBody>
          <a:bodyPr wrap="square" rtlCol="0" anchor="ctr"/>
          <a:lstStyle/>
          <a:p>
            <a:pPr indent="0" marL="0">
              <a:buNone/>
            </a:pPr>
            <a:r>
              <a:rPr lang="en-US" sz="1400" b="1" dirty="0">
                <a:solidFill>
                  <a:srgbClr val="F5A623"/>
                </a:solidFill>
                <a:latin typeface="Arial Black" pitchFamily="34" charset="0"/>
                <a:ea typeface="Arial Black" pitchFamily="34" charset="-122"/>
                <a:cs typeface="Arial Black" pitchFamily="34" charset="-120"/>
              </a:rPr>
              <a:t>Accuracy</a:t>
            </a:r>
            <a:endParaRPr lang="en-US" sz="1400" dirty="0"/>
          </a:p>
        </p:txBody>
      </p:sp>
      <p:sp>
        <p:nvSpPr>
          <p:cNvPr id="9" name="Text 7"/>
          <p:cNvSpPr/>
          <p:nvPr/>
        </p:nvSpPr>
        <p:spPr>
          <a:xfrm>
            <a:off x="2377440" y="1051560"/>
            <a:ext cx="1417320" cy="219456"/>
          </a:xfrm>
          <a:prstGeom prst="rect">
            <a:avLst/>
          </a:prstGeom>
          <a:noFill/>
          <a:ln/>
        </p:spPr>
        <p:txBody>
          <a:bodyPr wrap="square" rtlCol="0" anchor="ctr"/>
          <a:lstStyle/>
          <a:p>
            <a:pPr indent="0" marL="0">
              <a:buNone/>
            </a:pPr>
            <a:r>
              <a:rPr lang="en-US" sz="1000" dirty="0">
                <a:solidFill>
                  <a:srgbClr val="7A9CBB"/>
                </a:solidFill>
                <a:latin typeface="Calibri" pitchFamily="34" charset="0"/>
                <a:ea typeface="Calibri" pitchFamily="34" charset="-122"/>
                <a:cs typeface="Calibri" pitchFamily="34" charset="-120"/>
              </a:rPr>
              <a:t>XGBoost</a:t>
            </a:r>
            <a:endParaRPr lang="en-US" sz="1000" dirty="0"/>
          </a:p>
        </p:txBody>
      </p:sp>
      <p:sp>
        <p:nvSpPr>
          <p:cNvPr id="10" name="Text 8"/>
          <p:cNvSpPr/>
          <p:nvPr/>
        </p:nvSpPr>
        <p:spPr>
          <a:xfrm>
            <a:off x="2377440" y="1280160"/>
            <a:ext cx="1417320" cy="420624"/>
          </a:xfrm>
          <a:prstGeom prst="rect">
            <a:avLst/>
          </a:prstGeom>
          <a:noFill/>
          <a:ln/>
        </p:spPr>
        <p:txBody>
          <a:bodyPr wrap="square" rtlCol="0" anchor="ctr"/>
          <a:lstStyle/>
          <a:p>
            <a:pPr indent="0" marL="0">
              <a:buNone/>
            </a:pPr>
            <a:r>
              <a:rPr lang="en-US" sz="2200" b="1" dirty="0">
                <a:solidFill>
                  <a:srgbClr val="27AE60"/>
                </a:solidFill>
                <a:latin typeface="Arial Black" pitchFamily="34" charset="0"/>
                <a:ea typeface="Arial Black" pitchFamily="34" charset="-122"/>
                <a:cs typeface="Arial Black" pitchFamily="34" charset="-120"/>
              </a:rPr>
              <a:t>68.1%</a:t>
            </a:r>
            <a:endParaRPr lang="en-US" sz="2200" dirty="0"/>
          </a:p>
        </p:txBody>
      </p:sp>
      <p:sp>
        <p:nvSpPr>
          <p:cNvPr id="11" name="Text 9"/>
          <p:cNvSpPr/>
          <p:nvPr/>
        </p:nvSpPr>
        <p:spPr>
          <a:xfrm>
            <a:off x="3931920" y="1051560"/>
            <a:ext cx="1325880" cy="219456"/>
          </a:xfrm>
          <a:prstGeom prst="rect">
            <a:avLst/>
          </a:prstGeom>
          <a:noFill/>
          <a:ln/>
        </p:spPr>
        <p:txBody>
          <a:bodyPr wrap="square" rtlCol="0" anchor="ctr"/>
          <a:lstStyle/>
          <a:p>
            <a:pPr indent="0" marL="0">
              <a:buNone/>
            </a:pPr>
            <a:r>
              <a:rPr lang="en-US" sz="1000" dirty="0">
                <a:solidFill>
                  <a:srgbClr val="7A9CBB"/>
                </a:solidFill>
                <a:latin typeface="Calibri" pitchFamily="34" charset="0"/>
                <a:ea typeface="Calibri" pitchFamily="34" charset="-122"/>
                <a:cs typeface="Calibri" pitchFamily="34" charset="-120"/>
              </a:rPr>
              <a:t>ELO Baseline</a:t>
            </a:r>
            <a:endParaRPr lang="en-US" sz="1000" dirty="0"/>
          </a:p>
        </p:txBody>
      </p:sp>
      <p:sp>
        <p:nvSpPr>
          <p:cNvPr id="12" name="Text 10"/>
          <p:cNvSpPr/>
          <p:nvPr/>
        </p:nvSpPr>
        <p:spPr>
          <a:xfrm>
            <a:off x="3931920" y="1280160"/>
            <a:ext cx="1325880" cy="420624"/>
          </a:xfrm>
          <a:prstGeom prst="rect">
            <a:avLst/>
          </a:prstGeom>
          <a:noFill/>
          <a:ln/>
        </p:spPr>
        <p:txBody>
          <a:bodyPr wrap="square" rtlCol="0" anchor="ctr"/>
          <a:lstStyle/>
          <a:p>
            <a:pPr indent="0" marL="0">
              <a:buNone/>
            </a:pPr>
            <a:r>
              <a:rPr lang="en-US" sz="2200" b="1" dirty="0">
                <a:solidFill>
                  <a:srgbClr val="7A9CBB"/>
                </a:solidFill>
                <a:latin typeface="Arial Black" pitchFamily="34" charset="0"/>
                <a:ea typeface="Arial Black" pitchFamily="34" charset="-122"/>
                <a:cs typeface="Arial Black" pitchFamily="34" charset="-120"/>
              </a:rPr>
              <a:t>63.0%</a:t>
            </a:r>
            <a:endParaRPr lang="en-US" sz="2200" dirty="0"/>
          </a:p>
        </p:txBody>
      </p:sp>
      <p:sp>
        <p:nvSpPr>
          <p:cNvPr id="13" name="Text 11"/>
          <p:cNvSpPr/>
          <p:nvPr/>
        </p:nvSpPr>
        <p:spPr>
          <a:xfrm>
            <a:off x="5486400" y="1051560"/>
            <a:ext cx="1005840" cy="219456"/>
          </a:xfrm>
          <a:prstGeom prst="rect">
            <a:avLst/>
          </a:prstGeom>
          <a:noFill/>
          <a:ln/>
        </p:spPr>
        <p:txBody>
          <a:bodyPr wrap="square" rtlCol="0" anchor="ctr"/>
          <a:lstStyle/>
          <a:p>
            <a:pPr indent="0" marL="0">
              <a:buNone/>
            </a:pPr>
            <a:r>
              <a:rPr lang="en-US" sz="1000" dirty="0">
                <a:solidFill>
                  <a:srgbClr val="7A9CBB"/>
                </a:solidFill>
                <a:latin typeface="Calibri" pitchFamily="34" charset="0"/>
                <a:ea typeface="Calibri" pitchFamily="34" charset="-122"/>
                <a:cs typeface="Calibri" pitchFamily="34" charset="-120"/>
              </a:rPr>
              <a:t>Target</a:t>
            </a:r>
            <a:endParaRPr lang="en-US" sz="1000" dirty="0"/>
          </a:p>
        </p:txBody>
      </p:sp>
      <p:sp>
        <p:nvSpPr>
          <p:cNvPr id="14" name="Text 12"/>
          <p:cNvSpPr/>
          <p:nvPr/>
        </p:nvSpPr>
        <p:spPr>
          <a:xfrm>
            <a:off x="5486400" y="1280160"/>
            <a:ext cx="1005840" cy="420624"/>
          </a:xfrm>
          <a:prstGeom prst="rect">
            <a:avLst/>
          </a:prstGeom>
          <a:noFill/>
          <a:ln/>
        </p:spPr>
        <p:txBody>
          <a:bodyPr wrap="square" rtlCol="0" anchor="ctr"/>
          <a:lstStyle/>
          <a:p>
            <a:pPr indent="0" marL="0">
              <a:buNone/>
            </a:pPr>
            <a:r>
              <a:rPr lang="en-US" sz="1800" b="1" dirty="0">
                <a:solidFill>
                  <a:srgbClr val="0D7C66"/>
                </a:solidFill>
                <a:latin typeface="Arial Black" pitchFamily="34" charset="0"/>
                <a:ea typeface="Arial Black" pitchFamily="34" charset="-122"/>
                <a:cs typeface="Arial Black" pitchFamily="34" charset="-120"/>
              </a:rPr>
              <a:t>≥ 65%</a:t>
            </a:r>
            <a:endParaRPr lang="en-US" sz="1800" dirty="0"/>
          </a:p>
        </p:txBody>
      </p:sp>
      <p:sp>
        <p:nvSpPr>
          <p:cNvPr id="15" name="Text 13"/>
          <p:cNvSpPr/>
          <p:nvPr/>
        </p:nvSpPr>
        <p:spPr>
          <a:xfrm>
            <a:off x="6583680" y="1188720"/>
            <a:ext cx="457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6" name="Text 14"/>
          <p:cNvSpPr/>
          <p:nvPr/>
        </p:nvSpPr>
        <p:spPr>
          <a:xfrm>
            <a:off x="7150608" y="1060704"/>
            <a:ext cx="1508760" cy="731520"/>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Percentage of the 285 games in the 2024 holdout that the model correctly predicted the winner. Random guessing = 50%. Home advantage alone = 57%.</a:t>
            </a:r>
            <a:endParaRPr lang="en-US" sz="950" dirty="0"/>
          </a:p>
        </p:txBody>
      </p:sp>
      <p:sp>
        <p:nvSpPr>
          <p:cNvPr id="17" name="Shape 15"/>
          <p:cNvSpPr/>
          <p:nvPr/>
        </p:nvSpPr>
        <p:spPr>
          <a:xfrm>
            <a:off x="365760" y="1984248"/>
            <a:ext cx="8412480" cy="868680"/>
          </a:xfrm>
          <a:prstGeom prst="rect">
            <a:avLst/>
          </a:prstGeom>
          <a:solidFill>
            <a:srgbClr val="132A47"/>
          </a:solidFill>
          <a:ln w="12700">
            <a:solidFill>
              <a:srgbClr val="27AE60"/>
            </a:solidFill>
            <a:prstDash val="solid"/>
          </a:ln>
          <a:effectLst>
            <a:outerShdw sx="100000" sy="100000" kx="0" ky="0" algn="bl" rotWithShape="0" blurRad="101600" dist="38100" dir="8100000">
              <a:srgbClr val="000000">
                <a:alpha val="18000"/>
              </a:srgbClr>
            </a:outerShdw>
          </a:effectLst>
        </p:spPr>
      </p:sp>
      <p:sp>
        <p:nvSpPr>
          <p:cNvPr id="18" name="Shape 16"/>
          <p:cNvSpPr/>
          <p:nvPr/>
        </p:nvSpPr>
        <p:spPr>
          <a:xfrm>
            <a:off x="365760" y="1984248"/>
            <a:ext cx="64008" cy="868680"/>
          </a:xfrm>
          <a:prstGeom prst="rect">
            <a:avLst/>
          </a:prstGeom>
          <a:solidFill>
            <a:srgbClr val="27AE60"/>
          </a:solidFill>
          <a:ln w="12700">
            <a:solidFill>
              <a:srgbClr val="27AE60"/>
            </a:solidFill>
            <a:prstDash val="solid"/>
          </a:ln>
        </p:spPr>
      </p:sp>
      <p:sp>
        <p:nvSpPr>
          <p:cNvPr id="19" name="Text 17"/>
          <p:cNvSpPr/>
          <p:nvPr/>
        </p:nvSpPr>
        <p:spPr>
          <a:xfrm>
            <a:off x="548640" y="2075688"/>
            <a:ext cx="1691640" cy="658368"/>
          </a:xfrm>
          <a:prstGeom prst="rect">
            <a:avLst/>
          </a:prstGeom>
          <a:noFill/>
          <a:ln/>
        </p:spPr>
        <p:txBody>
          <a:bodyPr wrap="square" rtlCol="0" anchor="ctr"/>
          <a:lstStyle/>
          <a:p>
            <a:pPr indent="0" marL="0">
              <a:buNone/>
            </a:pPr>
            <a:r>
              <a:rPr lang="en-US" sz="1400" b="1" dirty="0">
                <a:solidFill>
                  <a:srgbClr val="F5A623"/>
                </a:solidFill>
                <a:latin typeface="Arial Black" pitchFamily="34" charset="0"/>
                <a:ea typeface="Arial Black" pitchFamily="34" charset="-122"/>
                <a:cs typeface="Arial Black" pitchFamily="34" charset="-120"/>
              </a:rPr>
              <a:t>Brier Score</a:t>
            </a:r>
            <a:endParaRPr lang="en-US" sz="1400" dirty="0"/>
          </a:p>
        </p:txBody>
      </p:sp>
      <p:sp>
        <p:nvSpPr>
          <p:cNvPr id="20" name="Text 18"/>
          <p:cNvSpPr/>
          <p:nvPr/>
        </p:nvSpPr>
        <p:spPr>
          <a:xfrm>
            <a:off x="2377440" y="2029968"/>
            <a:ext cx="1417320" cy="219456"/>
          </a:xfrm>
          <a:prstGeom prst="rect">
            <a:avLst/>
          </a:prstGeom>
          <a:noFill/>
          <a:ln/>
        </p:spPr>
        <p:txBody>
          <a:bodyPr wrap="square" rtlCol="0" anchor="ctr"/>
          <a:lstStyle/>
          <a:p>
            <a:pPr indent="0" marL="0">
              <a:buNone/>
            </a:pPr>
            <a:r>
              <a:rPr lang="en-US" sz="1000" dirty="0">
                <a:solidFill>
                  <a:srgbClr val="7A9CBB"/>
                </a:solidFill>
                <a:latin typeface="Calibri" pitchFamily="34" charset="0"/>
                <a:ea typeface="Calibri" pitchFamily="34" charset="-122"/>
                <a:cs typeface="Calibri" pitchFamily="34" charset="-120"/>
              </a:rPr>
              <a:t>XGBoost</a:t>
            </a:r>
            <a:endParaRPr lang="en-US" sz="1000" dirty="0"/>
          </a:p>
        </p:txBody>
      </p:sp>
      <p:sp>
        <p:nvSpPr>
          <p:cNvPr id="21" name="Text 19"/>
          <p:cNvSpPr/>
          <p:nvPr/>
        </p:nvSpPr>
        <p:spPr>
          <a:xfrm>
            <a:off x="2377440" y="2258568"/>
            <a:ext cx="1417320" cy="420624"/>
          </a:xfrm>
          <a:prstGeom prst="rect">
            <a:avLst/>
          </a:prstGeom>
          <a:noFill/>
          <a:ln/>
        </p:spPr>
        <p:txBody>
          <a:bodyPr wrap="square" rtlCol="0" anchor="ctr"/>
          <a:lstStyle/>
          <a:p>
            <a:pPr indent="0" marL="0">
              <a:buNone/>
            </a:pPr>
            <a:r>
              <a:rPr lang="en-US" sz="2200" b="1" dirty="0">
                <a:solidFill>
                  <a:srgbClr val="27AE60"/>
                </a:solidFill>
                <a:latin typeface="Arial Black" pitchFamily="34" charset="0"/>
                <a:ea typeface="Arial Black" pitchFamily="34" charset="-122"/>
                <a:cs typeface="Arial Black" pitchFamily="34" charset="-120"/>
              </a:rPr>
              <a:t>0.2127</a:t>
            </a:r>
            <a:endParaRPr lang="en-US" sz="2200" dirty="0"/>
          </a:p>
        </p:txBody>
      </p:sp>
      <p:sp>
        <p:nvSpPr>
          <p:cNvPr id="22" name="Text 20"/>
          <p:cNvSpPr/>
          <p:nvPr/>
        </p:nvSpPr>
        <p:spPr>
          <a:xfrm>
            <a:off x="3931920" y="2029968"/>
            <a:ext cx="1325880" cy="219456"/>
          </a:xfrm>
          <a:prstGeom prst="rect">
            <a:avLst/>
          </a:prstGeom>
          <a:noFill/>
          <a:ln/>
        </p:spPr>
        <p:txBody>
          <a:bodyPr wrap="square" rtlCol="0" anchor="ctr"/>
          <a:lstStyle/>
          <a:p>
            <a:pPr indent="0" marL="0">
              <a:buNone/>
            </a:pPr>
            <a:r>
              <a:rPr lang="en-US" sz="1000" dirty="0">
                <a:solidFill>
                  <a:srgbClr val="7A9CBB"/>
                </a:solidFill>
                <a:latin typeface="Calibri" pitchFamily="34" charset="0"/>
                <a:ea typeface="Calibri" pitchFamily="34" charset="-122"/>
                <a:cs typeface="Calibri" pitchFamily="34" charset="-120"/>
              </a:rPr>
              <a:t>ELO Baseline</a:t>
            </a:r>
            <a:endParaRPr lang="en-US" sz="1000" dirty="0"/>
          </a:p>
        </p:txBody>
      </p:sp>
      <p:sp>
        <p:nvSpPr>
          <p:cNvPr id="23" name="Text 21"/>
          <p:cNvSpPr/>
          <p:nvPr/>
        </p:nvSpPr>
        <p:spPr>
          <a:xfrm>
            <a:off x="3931920" y="2258568"/>
            <a:ext cx="1325880" cy="420624"/>
          </a:xfrm>
          <a:prstGeom prst="rect">
            <a:avLst/>
          </a:prstGeom>
          <a:noFill/>
          <a:ln/>
        </p:spPr>
        <p:txBody>
          <a:bodyPr wrap="square" rtlCol="0" anchor="ctr"/>
          <a:lstStyle/>
          <a:p>
            <a:pPr indent="0" marL="0">
              <a:buNone/>
            </a:pPr>
            <a:r>
              <a:rPr lang="en-US" sz="2200" b="1" dirty="0">
                <a:solidFill>
                  <a:srgbClr val="7A9CBB"/>
                </a:solidFill>
                <a:latin typeface="Arial Black" pitchFamily="34" charset="0"/>
                <a:ea typeface="Arial Black" pitchFamily="34" charset="-122"/>
                <a:cs typeface="Arial Black" pitchFamily="34" charset="-120"/>
              </a:rPr>
              <a:t>0.228</a:t>
            </a:r>
            <a:endParaRPr lang="en-US" sz="2200" dirty="0"/>
          </a:p>
        </p:txBody>
      </p:sp>
      <p:sp>
        <p:nvSpPr>
          <p:cNvPr id="24" name="Text 22"/>
          <p:cNvSpPr/>
          <p:nvPr/>
        </p:nvSpPr>
        <p:spPr>
          <a:xfrm>
            <a:off x="5486400" y="2029968"/>
            <a:ext cx="1005840" cy="219456"/>
          </a:xfrm>
          <a:prstGeom prst="rect">
            <a:avLst/>
          </a:prstGeom>
          <a:noFill/>
          <a:ln/>
        </p:spPr>
        <p:txBody>
          <a:bodyPr wrap="square" rtlCol="0" anchor="ctr"/>
          <a:lstStyle/>
          <a:p>
            <a:pPr indent="0" marL="0">
              <a:buNone/>
            </a:pPr>
            <a:r>
              <a:rPr lang="en-US" sz="1000" dirty="0">
                <a:solidFill>
                  <a:srgbClr val="7A9CBB"/>
                </a:solidFill>
                <a:latin typeface="Calibri" pitchFamily="34" charset="0"/>
                <a:ea typeface="Calibri" pitchFamily="34" charset="-122"/>
                <a:cs typeface="Calibri" pitchFamily="34" charset="-120"/>
              </a:rPr>
              <a:t>Target</a:t>
            </a:r>
            <a:endParaRPr lang="en-US" sz="1000" dirty="0"/>
          </a:p>
        </p:txBody>
      </p:sp>
      <p:sp>
        <p:nvSpPr>
          <p:cNvPr id="25" name="Text 23"/>
          <p:cNvSpPr/>
          <p:nvPr/>
        </p:nvSpPr>
        <p:spPr>
          <a:xfrm>
            <a:off x="5486400" y="2258568"/>
            <a:ext cx="1005840" cy="420624"/>
          </a:xfrm>
          <a:prstGeom prst="rect">
            <a:avLst/>
          </a:prstGeom>
          <a:noFill/>
          <a:ln/>
        </p:spPr>
        <p:txBody>
          <a:bodyPr wrap="square" rtlCol="0" anchor="ctr"/>
          <a:lstStyle/>
          <a:p>
            <a:pPr indent="0" marL="0">
              <a:buNone/>
            </a:pPr>
            <a:r>
              <a:rPr lang="en-US" sz="1800" b="1" dirty="0">
                <a:solidFill>
                  <a:srgbClr val="0D7C66"/>
                </a:solidFill>
                <a:latin typeface="Arial Black" pitchFamily="34" charset="0"/>
                <a:ea typeface="Arial Black" pitchFamily="34" charset="-122"/>
                <a:cs typeface="Arial Black" pitchFamily="34" charset="-120"/>
              </a:rPr>
              <a:t>≤ 0.22</a:t>
            </a:r>
            <a:endParaRPr lang="en-US" sz="1800" dirty="0"/>
          </a:p>
        </p:txBody>
      </p:sp>
      <p:sp>
        <p:nvSpPr>
          <p:cNvPr id="26" name="Text 24"/>
          <p:cNvSpPr/>
          <p:nvPr/>
        </p:nvSpPr>
        <p:spPr>
          <a:xfrm>
            <a:off x="6583680" y="2167128"/>
            <a:ext cx="457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27" name="Text 25"/>
          <p:cNvSpPr/>
          <p:nvPr/>
        </p:nvSpPr>
        <p:spPr>
          <a:xfrm>
            <a:off x="7150608" y="2039112"/>
            <a:ext cx="1508760" cy="731520"/>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(predicted prob − actual outcome)². Lower is better. Always predicting 50% gives 0.25. Brier measures how well-calibrated the probabilities are, not just whether the winner was right.</a:t>
            </a:r>
            <a:endParaRPr lang="en-US" sz="950" dirty="0"/>
          </a:p>
        </p:txBody>
      </p:sp>
      <p:sp>
        <p:nvSpPr>
          <p:cNvPr id="28" name="Shape 26"/>
          <p:cNvSpPr/>
          <p:nvPr/>
        </p:nvSpPr>
        <p:spPr>
          <a:xfrm>
            <a:off x="365760" y="2962656"/>
            <a:ext cx="8412480" cy="868680"/>
          </a:xfrm>
          <a:prstGeom prst="rect">
            <a:avLst/>
          </a:prstGeom>
          <a:solidFill>
            <a:srgbClr val="132A47"/>
          </a:solidFill>
          <a:ln w="12700">
            <a:solidFill>
              <a:srgbClr val="27AE60"/>
            </a:solidFill>
            <a:prstDash val="solid"/>
          </a:ln>
          <a:effectLst>
            <a:outerShdw sx="100000" sy="100000" kx="0" ky="0" algn="bl" rotWithShape="0" blurRad="101600" dist="38100" dir="8100000">
              <a:srgbClr val="000000">
                <a:alpha val="18000"/>
              </a:srgbClr>
            </a:outerShdw>
          </a:effectLst>
        </p:spPr>
      </p:sp>
      <p:sp>
        <p:nvSpPr>
          <p:cNvPr id="29" name="Shape 27"/>
          <p:cNvSpPr/>
          <p:nvPr/>
        </p:nvSpPr>
        <p:spPr>
          <a:xfrm>
            <a:off x="365760" y="2962656"/>
            <a:ext cx="64008" cy="868680"/>
          </a:xfrm>
          <a:prstGeom prst="rect">
            <a:avLst/>
          </a:prstGeom>
          <a:solidFill>
            <a:srgbClr val="27AE60"/>
          </a:solidFill>
          <a:ln w="12700">
            <a:solidFill>
              <a:srgbClr val="27AE60"/>
            </a:solidFill>
            <a:prstDash val="solid"/>
          </a:ln>
        </p:spPr>
      </p:sp>
      <p:sp>
        <p:nvSpPr>
          <p:cNvPr id="30" name="Text 28"/>
          <p:cNvSpPr/>
          <p:nvPr/>
        </p:nvSpPr>
        <p:spPr>
          <a:xfrm>
            <a:off x="548640" y="3054096"/>
            <a:ext cx="1691640" cy="658368"/>
          </a:xfrm>
          <a:prstGeom prst="rect">
            <a:avLst/>
          </a:prstGeom>
          <a:noFill/>
          <a:ln/>
        </p:spPr>
        <p:txBody>
          <a:bodyPr wrap="square" rtlCol="0" anchor="ctr"/>
          <a:lstStyle/>
          <a:p>
            <a:pPr indent="0" marL="0">
              <a:buNone/>
            </a:pPr>
            <a:r>
              <a:rPr lang="en-US" sz="1400" b="1" dirty="0">
                <a:solidFill>
                  <a:srgbClr val="F5A623"/>
                </a:solidFill>
                <a:latin typeface="Arial Black" pitchFamily="34" charset="0"/>
                <a:ea typeface="Arial Black" pitchFamily="34" charset="-122"/>
                <a:cs typeface="Arial Black" pitchFamily="34" charset="-120"/>
              </a:rPr>
              <a:t>AUC (2024)</a:t>
            </a:r>
            <a:endParaRPr lang="en-US" sz="1400" dirty="0"/>
          </a:p>
        </p:txBody>
      </p:sp>
      <p:sp>
        <p:nvSpPr>
          <p:cNvPr id="31" name="Text 29"/>
          <p:cNvSpPr/>
          <p:nvPr/>
        </p:nvSpPr>
        <p:spPr>
          <a:xfrm>
            <a:off x="2377440" y="3008376"/>
            <a:ext cx="1417320" cy="219456"/>
          </a:xfrm>
          <a:prstGeom prst="rect">
            <a:avLst/>
          </a:prstGeom>
          <a:noFill/>
          <a:ln/>
        </p:spPr>
        <p:txBody>
          <a:bodyPr wrap="square" rtlCol="0" anchor="ctr"/>
          <a:lstStyle/>
          <a:p>
            <a:pPr indent="0" marL="0">
              <a:buNone/>
            </a:pPr>
            <a:r>
              <a:rPr lang="en-US" sz="1000" dirty="0">
                <a:solidFill>
                  <a:srgbClr val="7A9CBB"/>
                </a:solidFill>
                <a:latin typeface="Calibri" pitchFamily="34" charset="0"/>
                <a:ea typeface="Calibri" pitchFamily="34" charset="-122"/>
                <a:cs typeface="Calibri" pitchFamily="34" charset="-120"/>
              </a:rPr>
              <a:t>XGBoost</a:t>
            </a:r>
            <a:endParaRPr lang="en-US" sz="1000" dirty="0"/>
          </a:p>
        </p:txBody>
      </p:sp>
      <p:sp>
        <p:nvSpPr>
          <p:cNvPr id="32" name="Text 30"/>
          <p:cNvSpPr/>
          <p:nvPr/>
        </p:nvSpPr>
        <p:spPr>
          <a:xfrm>
            <a:off x="2377440" y="3236976"/>
            <a:ext cx="1417320" cy="420624"/>
          </a:xfrm>
          <a:prstGeom prst="rect">
            <a:avLst/>
          </a:prstGeom>
          <a:noFill/>
          <a:ln/>
        </p:spPr>
        <p:txBody>
          <a:bodyPr wrap="square" rtlCol="0" anchor="ctr"/>
          <a:lstStyle/>
          <a:p>
            <a:pPr indent="0" marL="0">
              <a:buNone/>
            </a:pPr>
            <a:r>
              <a:rPr lang="en-US" sz="2200" b="1" dirty="0">
                <a:solidFill>
                  <a:srgbClr val="27AE60"/>
                </a:solidFill>
                <a:latin typeface="Arial Black" pitchFamily="34" charset="0"/>
                <a:ea typeface="Arial Black" pitchFamily="34" charset="-122"/>
                <a:cs typeface="Arial Black" pitchFamily="34" charset="-120"/>
              </a:rPr>
              <a:t>0.735</a:t>
            </a:r>
            <a:endParaRPr lang="en-US" sz="2200" dirty="0"/>
          </a:p>
        </p:txBody>
      </p:sp>
      <p:sp>
        <p:nvSpPr>
          <p:cNvPr id="33" name="Text 31"/>
          <p:cNvSpPr/>
          <p:nvPr/>
        </p:nvSpPr>
        <p:spPr>
          <a:xfrm>
            <a:off x="3931920" y="3008376"/>
            <a:ext cx="1325880" cy="219456"/>
          </a:xfrm>
          <a:prstGeom prst="rect">
            <a:avLst/>
          </a:prstGeom>
          <a:noFill/>
          <a:ln/>
        </p:spPr>
        <p:txBody>
          <a:bodyPr wrap="square" rtlCol="0" anchor="ctr"/>
          <a:lstStyle/>
          <a:p>
            <a:pPr indent="0" marL="0">
              <a:buNone/>
            </a:pPr>
            <a:r>
              <a:rPr lang="en-US" sz="1000" dirty="0">
                <a:solidFill>
                  <a:srgbClr val="7A9CBB"/>
                </a:solidFill>
                <a:latin typeface="Calibri" pitchFamily="34" charset="0"/>
                <a:ea typeface="Calibri" pitchFamily="34" charset="-122"/>
                <a:cs typeface="Calibri" pitchFamily="34" charset="-120"/>
              </a:rPr>
              <a:t>ELO Baseline</a:t>
            </a:r>
            <a:endParaRPr lang="en-US" sz="1000" dirty="0"/>
          </a:p>
        </p:txBody>
      </p:sp>
      <p:sp>
        <p:nvSpPr>
          <p:cNvPr id="34" name="Text 32"/>
          <p:cNvSpPr/>
          <p:nvPr/>
        </p:nvSpPr>
        <p:spPr>
          <a:xfrm>
            <a:off x="3931920" y="3236976"/>
            <a:ext cx="1325880" cy="420624"/>
          </a:xfrm>
          <a:prstGeom prst="rect">
            <a:avLst/>
          </a:prstGeom>
          <a:noFill/>
          <a:ln/>
        </p:spPr>
        <p:txBody>
          <a:bodyPr wrap="square" rtlCol="0" anchor="ctr"/>
          <a:lstStyle/>
          <a:p>
            <a:pPr indent="0" marL="0">
              <a:buNone/>
            </a:pPr>
            <a:r>
              <a:rPr lang="en-US" sz="2200" b="1" dirty="0">
                <a:solidFill>
                  <a:srgbClr val="7A9CBB"/>
                </a:solidFill>
                <a:latin typeface="Arial Black" pitchFamily="34" charset="0"/>
                <a:ea typeface="Arial Black" pitchFamily="34" charset="-122"/>
                <a:cs typeface="Arial Black" pitchFamily="34" charset="-120"/>
              </a:rPr>
              <a:t>0.650</a:t>
            </a:r>
            <a:endParaRPr lang="en-US" sz="2200" dirty="0"/>
          </a:p>
        </p:txBody>
      </p:sp>
      <p:sp>
        <p:nvSpPr>
          <p:cNvPr id="35" name="Text 33"/>
          <p:cNvSpPr/>
          <p:nvPr/>
        </p:nvSpPr>
        <p:spPr>
          <a:xfrm>
            <a:off x="5486400" y="3008376"/>
            <a:ext cx="1005840" cy="219456"/>
          </a:xfrm>
          <a:prstGeom prst="rect">
            <a:avLst/>
          </a:prstGeom>
          <a:noFill/>
          <a:ln/>
        </p:spPr>
        <p:txBody>
          <a:bodyPr wrap="square" rtlCol="0" anchor="ctr"/>
          <a:lstStyle/>
          <a:p>
            <a:pPr indent="0" marL="0">
              <a:buNone/>
            </a:pPr>
            <a:r>
              <a:rPr lang="en-US" sz="1000" dirty="0">
                <a:solidFill>
                  <a:srgbClr val="7A9CBB"/>
                </a:solidFill>
                <a:latin typeface="Calibri" pitchFamily="34" charset="0"/>
                <a:ea typeface="Calibri" pitchFamily="34" charset="-122"/>
                <a:cs typeface="Calibri" pitchFamily="34" charset="-120"/>
              </a:rPr>
              <a:t>Target</a:t>
            </a:r>
            <a:endParaRPr lang="en-US" sz="1000" dirty="0"/>
          </a:p>
        </p:txBody>
      </p:sp>
      <p:sp>
        <p:nvSpPr>
          <p:cNvPr id="36" name="Text 34"/>
          <p:cNvSpPr/>
          <p:nvPr/>
        </p:nvSpPr>
        <p:spPr>
          <a:xfrm>
            <a:off x="5486400" y="3236976"/>
            <a:ext cx="1005840" cy="420624"/>
          </a:xfrm>
          <a:prstGeom prst="rect">
            <a:avLst/>
          </a:prstGeom>
          <a:noFill/>
          <a:ln/>
        </p:spPr>
        <p:txBody>
          <a:bodyPr wrap="square" rtlCol="0" anchor="ctr"/>
          <a:lstStyle/>
          <a:p>
            <a:pPr indent="0" marL="0">
              <a:buNone/>
            </a:pPr>
            <a:r>
              <a:rPr lang="en-US" sz="1800" b="1" dirty="0">
                <a:solidFill>
                  <a:srgbClr val="0D7C66"/>
                </a:solidFill>
                <a:latin typeface="Arial Black" pitchFamily="34" charset="0"/>
                <a:ea typeface="Arial Black" pitchFamily="34" charset="-122"/>
                <a:cs typeface="Arial Black" pitchFamily="34" charset="-120"/>
              </a:rPr>
              <a:t>≥ 0.67</a:t>
            </a:r>
            <a:endParaRPr lang="en-US" sz="1800" dirty="0"/>
          </a:p>
        </p:txBody>
      </p:sp>
      <p:sp>
        <p:nvSpPr>
          <p:cNvPr id="37" name="Text 35"/>
          <p:cNvSpPr/>
          <p:nvPr/>
        </p:nvSpPr>
        <p:spPr>
          <a:xfrm>
            <a:off x="6583680" y="3145536"/>
            <a:ext cx="457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38" name="Text 36"/>
          <p:cNvSpPr/>
          <p:nvPr/>
        </p:nvSpPr>
        <p:spPr>
          <a:xfrm>
            <a:off x="7150608" y="3017520"/>
            <a:ext cx="1508760" cy="731520"/>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Area Under the ROC Curve. 0.5 = random, 1.0 = perfect. Measures whether the model correctly ranks the more likely winner above the less likely winner across all possible thresholds.</a:t>
            </a:r>
            <a:endParaRPr lang="en-US" sz="950" dirty="0"/>
          </a:p>
        </p:txBody>
      </p:sp>
      <p:sp>
        <p:nvSpPr>
          <p:cNvPr id="39" name="Shape 37"/>
          <p:cNvSpPr/>
          <p:nvPr/>
        </p:nvSpPr>
        <p:spPr>
          <a:xfrm>
            <a:off x="365760" y="3941064"/>
            <a:ext cx="8412480" cy="868680"/>
          </a:xfrm>
          <a:prstGeom prst="rect">
            <a:avLst/>
          </a:prstGeom>
          <a:solidFill>
            <a:srgbClr val="132A47"/>
          </a:solidFill>
          <a:ln w="12700">
            <a:solidFill>
              <a:srgbClr val="27AE60"/>
            </a:solidFill>
            <a:prstDash val="solid"/>
          </a:ln>
          <a:effectLst>
            <a:outerShdw sx="100000" sy="100000" kx="0" ky="0" algn="bl" rotWithShape="0" blurRad="101600" dist="38100" dir="8100000">
              <a:srgbClr val="000000">
                <a:alpha val="18000"/>
              </a:srgbClr>
            </a:outerShdw>
          </a:effectLst>
        </p:spPr>
      </p:sp>
      <p:sp>
        <p:nvSpPr>
          <p:cNvPr id="40" name="Shape 38"/>
          <p:cNvSpPr/>
          <p:nvPr/>
        </p:nvSpPr>
        <p:spPr>
          <a:xfrm>
            <a:off x="365760" y="3941064"/>
            <a:ext cx="64008" cy="868680"/>
          </a:xfrm>
          <a:prstGeom prst="rect">
            <a:avLst/>
          </a:prstGeom>
          <a:solidFill>
            <a:srgbClr val="27AE60"/>
          </a:solidFill>
          <a:ln w="12700">
            <a:solidFill>
              <a:srgbClr val="27AE60"/>
            </a:solidFill>
            <a:prstDash val="solid"/>
          </a:ln>
        </p:spPr>
      </p:sp>
      <p:sp>
        <p:nvSpPr>
          <p:cNvPr id="41" name="Text 39"/>
          <p:cNvSpPr/>
          <p:nvPr/>
        </p:nvSpPr>
        <p:spPr>
          <a:xfrm>
            <a:off x="548640" y="4032504"/>
            <a:ext cx="1691640" cy="658368"/>
          </a:xfrm>
          <a:prstGeom prst="rect">
            <a:avLst/>
          </a:prstGeom>
          <a:noFill/>
          <a:ln/>
        </p:spPr>
        <p:txBody>
          <a:bodyPr wrap="square" rtlCol="0" anchor="ctr"/>
          <a:lstStyle/>
          <a:p>
            <a:pPr indent="0" marL="0">
              <a:buNone/>
            </a:pPr>
            <a:r>
              <a:rPr lang="en-US" sz="1400" b="1" dirty="0">
                <a:solidFill>
                  <a:srgbClr val="F5A623"/>
                </a:solidFill>
                <a:latin typeface="Arial Black" pitchFamily="34" charset="0"/>
                <a:ea typeface="Arial Black" pitchFamily="34" charset="-122"/>
                <a:cs typeface="Arial Black" pitchFamily="34" charset="-120"/>
              </a:rPr>
              <a:t>AUC (2025 test)</a:t>
            </a:r>
            <a:endParaRPr lang="en-US" sz="1400" dirty="0"/>
          </a:p>
        </p:txBody>
      </p:sp>
      <p:sp>
        <p:nvSpPr>
          <p:cNvPr id="42" name="Text 40"/>
          <p:cNvSpPr/>
          <p:nvPr/>
        </p:nvSpPr>
        <p:spPr>
          <a:xfrm>
            <a:off x="2377440" y="3986784"/>
            <a:ext cx="1417320" cy="219456"/>
          </a:xfrm>
          <a:prstGeom prst="rect">
            <a:avLst/>
          </a:prstGeom>
          <a:noFill/>
          <a:ln/>
        </p:spPr>
        <p:txBody>
          <a:bodyPr wrap="square" rtlCol="0" anchor="ctr"/>
          <a:lstStyle/>
          <a:p>
            <a:pPr indent="0" marL="0">
              <a:buNone/>
            </a:pPr>
            <a:r>
              <a:rPr lang="en-US" sz="1000" dirty="0">
                <a:solidFill>
                  <a:srgbClr val="7A9CBB"/>
                </a:solidFill>
                <a:latin typeface="Calibri" pitchFamily="34" charset="0"/>
                <a:ea typeface="Calibri" pitchFamily="34" charset="-122"/>
                <a:cs typeface="Calibri" pitchFamily="34" charset="-120"/>
              </a:rPr>
              <a:t>XGBoost</a:t>
            </a:r>
            <a:endParaRPr lang="en-US" sz="1000" dirty="0"/>
          </a:p>
        </p:txBody>
      </p:sp>
      <p:sp>
        <p:nvSpPr>
          <p:cNvPr id="43" name="Text 41"/>
          <p:cNvSpPr/>
          <p:nvPr/>
        </p:nvSpPr>
        <p:spPr>
          <a:xfrm>
            <a:off x="2377440" y="4215384"/>
            <a:ext cx="1417320" cy="420624"/>
          </a:xfrm>
          <a:prstGeom prst="rect">
            <a:avLst/>
          </a:prstGeom>
          <a:noFill/>
          <a:ln/>
        </p:spPr>
        <p:txBody>
          <a:bodyPr wrap="square" rtlCol="0" anchor="ctr"/>
          <a:lstStyle/>
          <a:p>
            <a:pPr indent="0" marL="0">
              <a:buNone/>
            </a:pPr>
            <a:r>
              <a:rPr lang="en-US" sz="2200" b="1" dirty="0">
                <a:solidFill>
                  <a:srgbClr val="27AE60"/>
                </a:solidFill>
                <a:latin typeface="Arial Black" pitchFamily="34" charset="0"/>
                <a:ea typeface="Arial Black" pitchFamily="34" charset="-122"/>
                <a:cs typeface="Arial Black" pitchFamily="34" charset="-120"/>
              </a:rPr>
              <a:t>0.696</a:t>
            </a:r>
            <a:endParaRPr lang="en-US" sz="2200" dirty="0"/>
          </a:p>
        </p:txBody>
      </p:sp>
      <p:sp>
        <p:nvSpPr>
          <p:cNvPr id="44" name="Text 42"/>
          <p:cNvSpPr/>
          <p:nvPr/>
        </p:nvSpPr>
        <p:spPr>
          <a:xfrm>
            <a:off x="3931920" y="3986784"/>
            <a:ext cx="1325880" cy="219456"/>
          </a:xfrm>
          <a:prstGeom prst="rect">
            <a:avLst/>
          </a:prstGeom>
          <a:noFill/>
          <a:ln/>
        </p:spPr>
        <p:txBody>
          <a:bodyPr wrap="square" rtlCol="0" anchor="ctr"/>
          <a:lstStyle/>
          <a:p>
            <a:pPr indent="0" marL="0">
              <a:buNone/>
            </a:pPr>
            <a:r>
              <a:rPr lang="en-US" sz="1000" dirty="0">
                <a:solidFill>
                  <a:srgbClr val="7A9CBB"/>
                </a:solidFill>
                <a:latin typeface="Calibri" pitchFamily="34" charset="0"/>
                <a:ea typeface="Calibri" pitchFamily="34" charset="-122"/>
                <a:cs typeface="Calibri" pitchFamily="34" charset="-120"/>
              </a:rPr>
              <a:t>ELO Baseline</a:t>
            </a:r>
            <a:endParaRPr lang="en-US" sz="1000" dirty="0"/>
          </a:p>
        </p:txBody>
      </p:sp>
      <p:sp>
        <p:nvSpPr>
          <p:cNvPr id="45" name="Text 43"/>
          <p:cNvSpPr/>
          <p:nvPr/>
        </p:nvSpPr>
        <p:spPr>
          <a:xfrm>
            <a:off x="3931920" y="4215384"/>
            <a:ext cx="1325880" cy="420624"/>
          </a:xfrm>
          <a:prstGeom prst="rect">
            <a:avLst/>
          </a:prstGeom>
          <a:noFill/>
          <a:ln/>
        </p:spPr>
        <p:txBody>
          <a:bodyPr wrap="square" rtlCol="0" anchor="ctr"/>
          <a:lstStyle/>
          <a:p>
            <a:pPr indent="0" marL="0">
              <a:buNone/>
            </a:pPr>
            <a:r>
              <a:rPr lang="en-US" sz="2200" b="1" dirty="0">
                <a:solidFill>
                  <a:srgbClr val="7A9CBB"/>
                </a:solidFill>
                <a:latin typeface="Arial Black" pitchFamily="34" charset="0"/>
                <a:ea typeface="Arial Black" pitchFamily="34" charset="-122"/>
                <a:cs typeface="Arial Black" pitchFamily="34" charset="-120"/>
              </a:rPr>
              <a:t>—</a:t>
            </a:r>
            <a:endParaRPr lang="en-US" sz="2200" dirty="0"/>
          </a:p>
        </p:txBody>
      </p:sp>
      <p:sp>
        <p:nvSpPr>
          <p:cNvPr id="46" name="Text 44"/>
          <p:cNvSpPr/>
          <p:nvPr/>
        </p:nvSpPr>
        <p:spPr>
          <a:xfrm>
            <a:off x="5486400" y="3986784"/>
            <a:ext cx="1005840" cy="219456"/>
          </a:xfrm>
          <a:prstGeom prst="rect">
            <a:avLst/>
          </a:prstGeom>
          <a:noFill/>
          <a:ln/>
        </p:spPr>
        <p:txBody>
          <a:bodyPr wrap="square" rtlCol="0" anchor="ctr"/>
          <a:lstStyle/>
          <a:p>
            <a:pPr indent="0" marL="0">
              <a:buNone/>
            </a:pPr>
            <a:r>
              <a:rPr lang="en-US" sz="1000" dirty="0">
                <a:solidFill>
                  <a:srgbClr val="7A9CBB"/>
                </a:solidFill>
                <a:latin typeface="Calibri" pitchFamily="34" charset="0"/>
                <a:ea typeface="Calibri" pitchFamily="34" charset="-122"/>
                <a:cs typeface="Calibri" pitchFamily="34" charset="-120"/>
              </a:rPr>
              <a:t>Target</a:t>
            </a:r>
            <a:endParaRPr lang="en-US" sz="1000" dirty="0"/>
          </a:p>
        </p:txBody>
      </p:sp>
      <p:sp>
        <p:nvSpPr>
          <p:cNvPr id="47" name="Text 45"/>
          <p:cNvSpPr/>
          <p:nvPr/>
        </p:nvSpPr>
        <p:spPr>
          <a:xfrm>
            <a:off x="5486400" y="4215384"/>
            <a:ext cx="1005840" cy="420624"/>
          </a:xfrm>
          <a:prstGeom prst="rect">
            <a:avLst/>
          </a:prstGeom>
          <a:noFill/>
          <a:ln/>
        </p:spPr>
        <p:txBody>
          <a:bodyPr wrap="square" rtlCol="0" anchor="ctr"/>
          <a:lstStyle/>
          <a:p>
            <a:pPr indent="0" marL="0">
              <a:buNone/>
            </a:pPr>
            <a:r>
              <a:rPr lang="en-US" sz="1800" b="1" dirty="0">
                <a:solidFill>
                  <a:srgbClr val="0D7C66"/>
                </a:solidFill>
                <a:latin typeface="Arial Black" pitchFamily="34" charset="0"/>
                <a:ea typeface="Arial Black" pitchFamily="34" charset="-122"/>
                <a:cs typeface="Arial Black" pitchFamily="34" charset="-120"/>
              </a:rPr>
              <a:t>≥ 0.67</a:t>
            </a:r>
            <a:endParaRPr lang="en-US" sz="1800" dirty="0"/>
          </a:p>
        </p:txBody>
      </p:sp>
      <p:sp>
        <p:nvSpPr>
          <p:cNvPr id="48" name="Text 46"/>
          <p:cNvSpPr/>
          <p:nvPr/>
        </p:nvSpPr>
        <p:spPr>
          <a:xfrm>
            <a:off x="6583680" y="4123944"/>
            <a:ext cx="457200" cy="457200"/>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49" name="Text 47"/>
          <p:cNvSpPr/>
          <p:nvPr/>
        </p:nvSpPr>
        <p:spPr>
          <a:xfrm>
            <a:off x="7150608" y="3995928"/>
            <a:ext cx="1508760" cy="731520"/>
          </a:xfrm>
          <a:prstGeom prst="rect">
            <a:avLst/>
          </a:prstGeom>
          <a:noFill/>
          <a:ln/>
        </p:spPr>
        <p:txBody>
          <a:bodyPr wrap="square" rtlCol="0" anchor="ctr"/>
          <a:lstStyle/>
          <a:p>
            <a:pPr indent="0" marL="0">
              <a:buNone/>
            </a:pPr>
            <a:r>
              <a:rPr lang="en-US" sz="950" dirty="0">
                <a:solidFill>
                  <a:srgbClr val="E8EEF4"/>
                </a:solidFill>
                <a:latin typeface="Calibri" pitchFamily="34" charset="0"/>
                <a:ea typeface="Calibri" pitchFamily="34" charset="-122"/>
                <a:cs typeface="Calibri" pitchFamily="34" charset="-120"/>
              </a:rPr>
              <a:t>2025 was historically unpredictable — KC underperformed significantly. Model still ranked SEA #1 at 19.7%, and SEA won Super Bowl LX. Correct champion identified.</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128016"/>
          </a:xfrm>
          <a:prstGeom prst="rect">
            <a:avLst/>
          </a:prstGeom>
          <a:solidFill>
            <a:srgbClr val="F5A623"/>
          </a:solidFill>
          <a:ln w="12700">
            <a:solidFill>
              <a:srgbClr val="F5A623"/>
            </a:solidFill>
            <a:prstDash val="solid"/>
          </a:ln>
        </p:spPr>
      </p:sp>
      <p:sp>
        <p:nvSpPr>
          <p:cNvPr id="3" name="Shape 1"/>
          <p:cNvSpPr/>
          <p:nvPr/>
        </p:nvSpPr>
        <p:spPr>
          <a:xfrm>
            <a:off x="0" y="4974336"/>
            <a:ext cx="9144000" cy="169164"/>
          </a:xfrm>
          <a:prstGeom prst="rect">
            <a:avLst/>
          </a:prstGeom>
          <a:solidFill>
            <a:srgbClr val="0D7C66"/>
          </a:solidFill>
          <a:ln w="12700">
            <a:solidFill>
              <a:srgbClr val="0D7C66"/>
            </a:solidFill>
            <a:prstDash val="solid"/>
          </a:ln>
        </p:spPr>
      </p:sp>
      <p:sp>
        <p:nvSpPr>
          <p:cNvPr id="4" name="Text 2"/>
          <p:cNvSpPr/>
          <p:nvPr/>
        </p:nvSpPr>
        <p:spPr>
          <a:xfrm>
            <a:off x="411480" y="182880"/>
            <a:ext cx="8321040" cy="566928"/>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Understanding the Metrics</a:t>
            </a:r>
            <a:endParaRPr lang="en-US" sz="3000" dirty="0"/>
          </a:p>
        </p:txBody>
      </p:sp>
      <p:sp>
        <p:nvSpPr>
          <p:cNvPr id="5" name="Text 3"/>
          <p:cNvSpPr/>
          <p:nvPr/>
        </p:nvSpPr>
        <p:spPr>
          <a:xfrm>
            <a:off x="411480" y="749808"/>
            <a:ext cx="8321040" cy="256032"/>
          </a:xfrm>
          <a:prstGeom prst="rect">
            <a:avLst/>
          </a:prstGeom>
          <a:noFill/>
          <a:ln/>
        </p:spPr>
        <p:txBody>
          <a:bodyPr wrap="square" rtlCol="0" anchor="ctr"/>
          <a:lstStyle/>
          <a:p>
            <a:pPr indent="0" marL="0">
              <a:buNone/>
            </a:pPr>
            <a:r>
              <a:rPr lang="en-US" sz="1200" i="1" dirty="0">
                <a:solidFill>
                  <a:srgbClr val="7A9CBB"/>
                </a:solidFill>
                <a:latin typeface="Calibri" pitchFamily="34" charset="0"/>
                <a:ea typeface="Calibri" pitchFamily="34" charset="-122"/>
                <a:cs typeface="Calibri" pitchFamily="34" charset="-120"/>
              </a:rPr>
              <a:t>Three complementary metrics that together give a complete picture of model quality.</a:t>
            </a:r>
            <a:endParaRPr lang="en-US" sz="1200" dirty="0"/>
          </a:p>
        </p:txBody>
      </p:sp>
      <p:sp>
        <p:nvSpPr>
          <p:cNvPr id="6" name="Shape 4"/>
          <p:cNvSpPr/>
          <p:nvPr/>
        </p:nvSpPr>
        <p:spPr>
          <a:xfrm>
            <a:off x="365760" y="1024128"/>
            <a:ext cx="4160520" cy="3749040"/>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7" name="Text 5"/>
          <p:cNvSpPr/>
          <p:nvPr/>
        </p:nvSpPr>
        <p:spPr>
          <a:xfrm>
            <a:off x="502920" y="1097280"/>
            <a:ext cx="3840480" cy="292608"/>
          </a:xfrm>
          <a:prstGeom prst="rect">
            <a:avLst/>
          </a:prstGeom>
          <a:noFill/>
          <a:ln/>
        </p:spPr>
        <p:txBody>
          <a:bodyPr wrap="square" rtlCol="0" anchor="ctr"/>
          <a:lstStyle/>
          <a:p>
            <a:pPr indent="0" marL="0">
              <a:buNone/>
            </a:pPr>
            <a:r>
              <a:rPr lang="en-US" sz="1300" b="1" dirty="0">
                <a:solidFill>
                  <a:srgbClr val="0D7C66"/>
                </a:solidFill>
                <a:latin typeface="Arial Black" pitchFamily="34" charset="0"/>
                <a:ea typeface="Arial Black" pitchFamily="34" charset="-122"/>
                <a:cs typeface="Arial Black" pitchFamily="34" charset="-120"/>
              </a:rPr>
              <a:t>ROC Curve — What is AUC?</a:t>
            </a:r>
            <a:endParaRPr lang="en-US" sz="1300" dirty="0"/>
          </a:p>
        </p:txBody>
      </p:sp>
      <p:sp>
        <p:nvSpPr>
          <p:cNvPr id="8" name="Text 6"/>
          <p:cNvSpPr/>
          <p:nvPr/>
        </p:nvSpPr>
        <p:spPr>
          <a:xfrm>
            <a:off x="502920" y="1417320"/>
            <a:ext cx="3840480" cy="402336"/>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Plots True Positive Rate vs False Positive Rate at every possible decision threshold. AUC = area under that curve. 0.5 = random. 1.0 = perfect discrimination.</a:t>
            </a:r>
            <a:endParaRPr lang="en-US" sz="1050" dirty="0"/>
          </a:p>
        </p:txBody>
      </p:sp>
      <p:sp>
        <p:nvSpPr>
          <p:cNvPr id="9" name="Shape 7"/>
          <p:cNvSpPr/>
          <p:nvPr/>
        </p:nvSpPr>
        <p:spPr>
          <a:xfrm>
            <a:off x="841248" y="1938528"/>
            <a:ext cx="0" cy="2743200"/>
          </a:xfrm>
          <a:prstGeom prst="line">
            <a:avLst/>
          </a:prstGeom>
          <a:noFill/>
          <a:ln w="12700">
            <a:solidFill>
              <a:srgbClr val="7A9CBB"/>
            </a:solidFill>
            <a:prstDash val="solid"/>
          </a:ln>
        </p:spPr>
      </p:sp>
      <p:sp>
        <p:nvSpPr>
          <p:cNvPr id="10" name="Shape 8"/>
          <p:cNvSpPr/>
          <p:nvPr/>
        </p:nvSpPr>
        <p:spPr>
          <a:xfrm>
            <a:off x="841248" y="4681728"/>
            <a:ext cx="3337560" cy="0"/>
          </a:xfrm>
          <a:prstGeom prst="line">
            <a:avLst/>
          </a:prstGeom>
          <a:noFill/>
          <a:ln w="12700">
            <a:solidFill>
              <a:srgbClr val="7A9CBB"/>
            </a:solidFill>
            <a:prstDash val="solid"/>
          </a:ln>
        </p:spPr>
      </p:sp>
      <p:sp>
        <p:nvSpPr>
          <p:cNvPr id="11" name="Text 9"/>
          <p:cNvSpPr/>
          <p:nvPr/>
        </p:nvSpPr>
        <p:spPr>
          <a:xfrm>
            <a:off x="530352" y="4718304"/>
            <a:ext cx="3520440" cy="219456"/>
          </a:xfrm>
          <a:prstGeom prst="rect">
            <a:avLst/>
          </a:prstGeom>
          <a:noFill/>
          <a:ln/>
        </p:spPr>
        <p:txBody>
          <a:bodyPr wrap="square" rtlCol="0" anchor="ctr"/>
          <a:lstStyle/>
          <a:p>
            <a:pPr algn="ctr" indent="0" marL="0">
              <a:buNone/>
            </a:pPr>
            <a:r>
              <a:rPr lang="en-US" sz="950" dirty="0">
                <a:solidFill>
                  <a:srgbClr val="7A9CBB"/>
                </a:solidFill>
                <a:latin typeface="Calibri" pitchFamily="34" charset="0"/>
                <a:ea typeface="Calibri" pitchFamily="34" charset="-122"/>
                <a:cs typeface="Calibri" pitchFamily="34" charset="-120"/>
              </a:rPr>
              <a:t>True Positive Rate →</a:t>
            </a:r>
            <a:endParaRPr lang="en-US" sz="950" dirty="0"/>
          </a:p>
        </p:txBody>
      </p:sp>
      <p:sp>
        <p:nvSpPr>
          <p:cNvPr id="12" name="Text 10"/>
          <p:cNvSpPr/>
          <p:nvPr/>
        </p:nvSpPr>
        <p:spPr>
          <a:xfrm>
            <a:off x="502920" y="3200400"/>
            <a:ext cx="274320" cy="237744"/>
          </a:xfrm>
          <a:prstGeom prst="rect">
            <a:avLst/>
          </a:prstGeom>
          <a:noFill/>
          <a:ln/>
        </p:spPr>
        <p:txBody>
          <a:bodyPr wrap="square" rtlCol="0" anchor="ctr"/>
          <a:lstStyle/>
          <a:p>
            <a:pPr algn="ctr" indent="0" marL="0">
              <a:buNone/>
            </a:pPr>
            <a:r>
              <a:rPr lang="en-US" sz="850" dirty="0">
                <a:solidFill>
                  <a:srgbClr val="7A9CBB"/>
                </a:solidFill>
                <a:latin typeface="Calibri" pitchFamily="34" charset="0"/>
                <a:ea typeface="Calibri" pitchFamily="34" charset="-122"/>
                <a:cs typeface="Calibri" pitchFamily="34" charset="-120"/>
              </a:rPr>
              <a:t>FPR →</a:t>
            </a:r>
            <a:endParaRPr lang="en-US" sz="850" dirty="0"/>
          </a:p>
        </p:txBody>
      </p:sp>
      <p:sp>
        <p:nvSpPr>
          <p:cNvPr id="13" name="Shape 11"/>
          <p:cNvSpPr/>
          <p:nvPr/>
        </p:nvSpPr>
        <p:spPr>
          <a:xfrm>
            <a:off x="841248" y="4681728"/>
            <a:ext cx="3337560" cy="-2743200"/>
          </a:xfrm>
          <a:prstGeom prst="line">
            <a:avLst/>
          </a:prstGeom>
          <a:noFill/>
          <a:ln w="12700">
            <a:solidFill>
              <a:srgbClr val="7A9CBB"/>
            </a:solidFill>
            <a:prstDash val="dash"/>
          </a:ln>
        </p:spPr>
      </p:sp>
      <p:sp>
        <p:nvSpPr>
          <p:cNvPr id="14" name="Text 12"/>
          <p:cNvSpPr/>
          <p:nvPr/>
        </p:nvSpPr>
        <p:spPr>
          <a:xfrm>
            <a:off x="2331720" y="3749040"/>
            <a:ext cx="1371600" cy="219456"/>
          </a:xfrm>
          <a:prstGeom prst="rect">
            <a:avLst/>
          </a:prstGeom>
          <a:noFill/>
          <a:ln/>
        </p:spPr>
        <p:txBody>
          <a:bodyPr wrap="square" rtlCol="0" anchor="ctr"/>
          <a:lstStyle/>
          <a:p>
            <a:pPr indent="0" marL="0">
              <a:buNone/>
            </a:pPr>
            <a:r>
              <a:rPr lang="en-US" sz="900" dirty="0">
                <a:solidFill>
                  <a:srgbClr val="7A9CBB"/>
                </a:solidFill>
                <a:latin typeface="Calibri" pitchFamily="34" charset="0"/>
                <a:ea typeface="Calibri" pitchFamily="34" charset="-122"/>
                <a:cs typeface="Calibri" pitchFamily="34" charset="-120"/>
              </a:rPr>
              <a:t>Random 0.50</a:t>
            </a:r>
            <a:endParaRPr lang="en-US" sz="900" dirty="0"/>
          </a:p>
        </p:txBody>
      </p:sp>
      <p:sp>
        <p:nvSpPr>
          <p:cNvPr id="15" name="Shape 13"/>
          <p:cNvSpPr/>
          <p:nvPr/>
        </p:nvSpPr>
        <p:spPr>
          <a:xfrm>
            <a:off x="841248" y="4681728"/>
            <a:ext cx="267005" cy="-1152144"/>
          </a:xfrm>
          <a:prstGeom prst="line">
            <a:avLst/>
          </a:prstGeom>
          <a:noFill/>
          <a:ln w="12700">
            <a:solidFill>
              <a:srgbClr val="0D7C66"/>
            </a:solidFill>
            <a:prstDash val="solid"/>
          </a:ln>
        </p:spPr>
      </p:sp>
      <p:sp>
        <p:nvSpPr>
          <p:cNvPr id="16" name="Shape 14"/>
          <p:cNvSpPr/>
          <p:nvPr/>
        </p:nvSpPr>
        <p:spPr>
          <a:xfrm>
            <a:off x="1108253" y="3529584"/>
            <a:ext cx="333756" cy="-576072"/>
          </a:xfrm>
          <a:prstGeom prst="line">
            <a:avLst/>
          </a:prstGeom>
          <a:noFill/>
          <a:ln w="12700">
            <a:solidFill>
              <a:srgbClr val="0D7C66"/>
            </a:solidFill>
            <a:prstDash val="solid"/>
          </a:ln>
        </p:spPr>
      </p:sp>
      <p:sp>
        <p:nvSpPr>
          <p:cNvPr id="17" name="Shape 15"/>
          <p:cNvSpPr/>
          <p:nvPr/>
        </p:nvSpPr>
        <p:spPr>
          <a:xfrm>
            <a:off x="1442009" y="2953512"/>
            <a:ext cx="467258" cy="-411480"/>
          </a:xfrm>
          <a:prstGeom prst="line">
            <a:avLst/>
          </a:prstGeom>
          <a:noFill/>
          <a:ln w="12700">
            <a:solidFill>
              <a:srgbClr val="0D7C66"/>
            </a:solidFill>
            <a:prstDash val="solid"/>
          </a:ln>
        </p:spPr>
      </p:sp>
      <p:sp>
        <p:nvSpPr>
          <p:cNvPr id="18" name="Shape 16"/>
          <p:cNvSpPr/>
          <p:nvPr/>
        </p:nvSpPr>
        <p:spPr>
          <a:xfrm>
            <a:off x="1909267" y="2542032"/>
            <a:ext cx="534010" cy="-219456"/>
          </a:xfrm>
          <a:prstGeom prst="line">
            <a:avLst/>
          </a:prstGeom>
          <a:noFill/>
          <a:ln w="12700">
            <a:solidFill>
              <a:srgbClr val="0D7C66"/>
            </a:solidFill>
            <a:prstDash val="solid"/>
          </a:ln>
        </p:spPr>
      </p:sp>
      <p:sp>
        <p:nvSpPr>
          <p:cNvPr id="19" name="Shape 17"/>
          <p:cNvSpPr/>
          <p:nvPr/>
        </p:nvSpPr>
        <p:spPr>
          <a:xfrm>
            <a:off x="2443277" y="2322576"/>
            <a:ext cx="667512" cy="-164592"/>
          </a:xfrm>
          <a:prstGeom prst="line">
            <a:avLst/>
          </a:prstGeom>
          <a:noFill/>
          <a:ln w="12700">
            <a:solidFill>
              <a:srgbClr val="0D7C66"/>
            </a:solidFill>
            <a:prstDash val="solid"/>
          </a:ln>
        </p:spPr>
      </p:sp>
      <p:sp>
        <p:nvSpPr>
          <p:cNvPr id="20" name="Shape 18"/>
          <p:cNvSpPr/>
          <p:nvPr/>
        </p:nvSpPr>
        <p:spPr>
          <a:xfrm>
            <a:off x="3110789" y="2157984"/>
            <a:ext cx="1068019" cy="-219456"/>
          </a:xfrm>
          <a:prstGeom prst="line">
            <a:avLst/>
          </a:prstGeom>
          <a:noFill/>
          <a:ln w="12700">
            <a:solidFill>
              <a:srgbClr val="0D7C66"/>
            </a:solidFill>
            <a:prstDash val="solid"/>
          </a:ln>
        </p:spPr>
      </p:sp>
      <p:sp>
        <p:nvSpPr>
          <p:cNvPr id="21" name="Text 19"/>
          <p:cNvSpPr/>
          <p:nvPr/>
        </p:nvSpPr>
        <p:spPr>
          <a:xfrm>
            <a:off x="1234440" y="2267712"/>
            <a:ext cx="2377440" cy="256032"/>
          </a:xfrm>
          <a:prstGeom prst="rect">
            <a:avLst/>
          </a:prstGeom>
          <a:noFill/>
          <a:ln/>
        </p:spPr>
        <p:txBody>
          <a:bodyPr wrap="square" rtlCol="0" anchor="ctr"/>
          <a:lstStyle/>
          <a:p>
            <a:pPr indent="0" marL="0">
              <a:buNone/>
            </a:pPr>
            <a:r>
              <a:rPr lang="en-US" sz="1100" b="1" dirty="0">
                <a:solidFill>
                  <a:srgbClr val="0D7C66"/>
                </a:solidFill>
                <a:latin typeface="Calibri" pitchFamily="34" charset="0"/>
                <a:ea typeface="Calibri" pitchFamily="34" charset="-122"/>
                <a:cs typeface="Calibri" pitchFamily="34" charset="-120"/>
              </a:rPr>
              <a:t>XGBoost AUC = 0.735</a:t>
            </a:r>
            <a:endParaRPr lang="en-US" sz="1100" dirty="0"/>
          </a:p>
        </p:txBody>
      </p:sp>
      <p:sp>
        <p:nvSpPr>
          <p:cNvPr id="22" name="Shape 20"/>
          <p:cNvSpPr/>
          <p:nvPr/>
        </p:nvSpPr>
        <p:spPr>
          <a:xfrm>
            <a:off x="4709160" y="1024128"/>
            <a:ext cx="4069080" cy="1810512"/>
          </a:xfrm>
          <a:prstGeom prst="rect">
            <a:avLst/>
          </a:prstGeom>
          <a:solidFill>
            <a:srgbClr val="132A47"/>
          </a:solidFill>
          <a:ln w="12700">
            <a:solidFill>
              <a:srgbClr val="F5A623"/>
            </a:solidFill>
            <a:prstDash val="solid"/>
          </a:ln>
          <a:effectLst>
            <a:outerShdw sx="100000" sy="100000" kx="0" ky="0" algn="bl" rotWithShape="0" blurRad="101600" dist="38100" dir="8100000">
              <a:srgbClr val="000000">
                <a:alpha val="18000"/>
              </a:srgbClr>
            </a:outerShdw>
          </a:effectLst>
        </p:spPr>
      </p:sp>
      <p:sp>
        <p:nvSpPr>
          <p:cNvPr id="23" name="Text 21"/>
          <p:cNvSpPr/>
          <p:nvPr/>
        </p:nvSpPr>
        <p:spPr>
          <a:xfrm>
            <a:off x="4846320" y="1097280"/>
            <a:ext cx="3749040" cy="292608"/>
          </a:xfrm>
          <a:prstGeom prst="rect">
            <a:avLst/>
          </a:prstGeom>
          <a:noFill/>
          <a:ln/>
        </p:spPr>
        <p:txBody>
          <a:bodyPr wrap="square" rtlCol="0" anchor="ctr"/>
          <a:lstStyle/>
          <a:p>
            <a:pPr indent="0" marL="0">
              <a:buNone/>
            </a:pPr>
            <a:r>
              <a:rPr lang="en-US" sz="1300" b="1" dirty="0">
                <a:solidFill>
                  <a:srgbClr val="F5A623"/>
                </a:solidFill>
                <a:latin typeface="Arial Black" pitchFamily="34" charset="0"/>
                <a:ea typeface="Arial Black" pitchFamily="34" charset="-122"/>
                <a:cs typeface="Arial Black" pitchFamily="34" charset="-120"/>
              </a:rPr>
              <a:t>Brier Score — Why It Matters</a:t>
            </a:r>
            <a:endParaRPr lang="en-US" sz="1300" dirty="0"/>
          </a:p>
        </p:txBody>
      </p:sp>
      <p:sp>
        <p:nvSpPr>
          <p:cNvPr id="24" name="Text 22"/>
          <p:cNvSpPr/>
          <p:nvPr/>
        </p:nvSpPr>
        <p:spPr>
          <a:xfrm>
            <a:off x="4846320" y="1444752"/>
            <a:ext cx="3749040" cy="256032"/>
          </a:xfrm>
          <a:prstGeom prst="rect">
            <a:avLst/>
          </a:prstGeom>
          <a:noFill/>
          <a:ln/>
        </p:spPr>
        <p:txBody>
          <a:bodyPr wrap="square" rtlCol="0" anchor="ctr"/>
          <a:lstStyle/>
          <a:p>
            <a:pPr indent="0" marL="0">
              <a:buNone/>
            </a:pPr>
            <a:r>
              <a:rPr lang="en-US" sz="1100" dirty="0">
                <a:solidFill>
                  <a:srgbClr val="27AE60"/>
                </a:solidFill>
                <a:latin typeface="Calibri" pitchFamily="34" charset="0"/>
                <a:ea typeface="Calibri" pitchFamily="34" charset="-122"/>
                <a:cs typeface="Calibri" pitchFamily="34" charset="-120"/>
              </a:rPr>
              <a:t>Pick SEA 80%  → SEA wins  → Brier = 0.04  🏆</a:t>
            </a:r>
            <a:endParaRPr lang="en-US" sz="1100" dirty="0"/>
          </a:p>
        </p:txBody>
      </p:sp>
      <p:sp>
        <p:nvSpPr>
          <p:cNvPr id="25" name="Text 23"/>
          <p:cNvSpPr/>
          <p:nvPr/>
        </p:nvSpPr>
        <p:spPr>
          <a:xfrm>
            <a:off x="4846320" y="1755648"/>
            <a:ext cx="3749040" cy="256032"/>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Pick SEA 40%  → SEA wins  → Brier = 0.36</a:t>
            </a:r>
            <a:endParaRPr lang="en-US" sz="1100" dirty="0"/>
          </a:p>
        </p:txBody>
      </p:sp>
      <p:sp>
        <p:nvSpPr>
          <p:cNvPr id="26" name="Text 24"/>
          <p:cNvSpPr/>
          <p:nvPr/>
        </p:nvSpPr>
        <p:spPr>
          <a:xfrm>
            <a:off x="4846320" y="2066544"/>
            <a:ext cx="3749040" cy="256032"/>
          </a:xfrm>
          <a:prstGeom prst="rect">
            <a:avLst/>
          </a:prstGeom>
          <a:noFill/>
          <a:ln/>
        </p:spPr>
        <p:txBody>
          <a:bodyPr wrap="square" rtlCol="0" anchor="ctr"/>
          <a:lstStyle/>
          <a:p>
            <a:pPr indent="0" marL="0">
              <a:buNone/>
            </a:pPr>
            <a:r>
              <a:rPr lang="en-US" sz="1100" dirty="0">
                <a:solidFill>
                  <a:srgbClr val="C8102E"/>
                </a:solidFill>
                <a:latin typeface="Calibri" pitchFamily="34" charset="0"/>
                <a:ea typeface="Calibri" pitchFamily="34" charset="-122"/>
                <a:cs typeface="Calibri" pitchFamily="34" charset="-120"/>
              </a:rPr>
              <a:t>Pick KC  70%  → SEA wins  → Brier = 0.49  ❌</a:t>
            </a:r>
            <a:endParaRPr lang="en-US" sz="1100" dirty="0"/>
          </a:p>
        </p:txBody>
      </p:sp>
      <p:sp>
        <p:nvSpPr>
          <p:cNvPr id="27" name="Text 25"/>
          <p:cNvSpPr/>
          <p:nvPr/>
        </p:nvSpPr>
        <p:spPr>
          <a:xfrm>
            <a:off x="4846320" y="2377440"/>
            <a:ext cx="3749040" cy="256032"/>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Pick KC  30%  → SEA wins  → Brier = 0.09  ✓</a:t>
            </a:r>
            <a:endParaRPr lang="en-US" sz="1100" dirty="0"/>
          </a:p>
        </p:txBody>
      </p:sp>
      <p:sp>
        <p:nvSpPr>
          <p:cNvPr id="28" name="Shape 26"/>
          <p:cNvSpPr/>
          <p:nvPr/>
        </p:nvSpPr>
        <p:spPr>
          <a:xfrm>
            <a:off x="4709160" y="2962656"/>
            <a:ext cx="4069080" cy="1828800"/>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29" name="Text 27"/>
          <p:cNvSpPr/>
          <p:nvPr/>
        </p:nvSpPr>
        <p:spPr>
          <a:xfrm>
            <a:off x="4846320" y="3035808"/>
            <a:ext cx="3749040" cy="292608"/>
          </a:xfrm>
          <a:prstGeom prst="rect">
            <a:avLst/>
          </a:prstGeom>
          <a:noFill/>
          <a:ln/>
        </p:spPr>
        <p:txBody>
          <a:bodyPr wrap="square" rtlCol="0" anchor="ctr"/>
          <a:lstStyle/>
          <a:p>
            <a:pPr indent="0" marL="0">
              <a:buNone/>
            </a:pPr>
            <a:r>
              <a:rPr lang="en-US" sz="1300" b="1" dirty="0">
                <a:solidFill>
                  <a:srgbClr val="0D7C66"/>
                </a:solidFill>
                <a:latin typeface="Arial Black" pitchFamily="34" charset="0"/>
                <a:ea typeface="Arial Black" pitchFamily="34" charset="-122"/>
                <a:cs typeface="Arial Black" pitchFamily="34" charset="-120"/>
              </a:rPr>
              <a:t>Why 68% and Not Higher?</a:t>
            </a:r>
            <a:endParaRPr lang="en-US" sz="1300" dirty="0"/>
          </a:p>
        </p:txBody>
      </p:sp>
      <p:sp>
        <p:nvSpPr>
          <p:cNvPr id="30" name="Text 28"/>
          <p:cNvSpPr/>
          <p:nvPr/>
        </p:nvSpPr>
        <p:spPr>
          <a:xfrm>
            <a:off x="4846320" y="3383280"/>
            <a:ext cx="3749040" cy="384048"/>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NFL games contain genuine randomness — a single fumble, deflected pass, or missed 45-yard field goal can change the result. No pre-game model can predict these.</a:t>
            </a:r>
            <a:endParaRPr lang="en-US" sz="1050" dirty="0"/>
          </a:p>
        </p:txBody>
      </p:sp>
      <p:sp>
        <p:nvSpPr>
          <p:cNvPr id="31" name="Text 29"/>
          <p:cNvSpPr/>
          <p:nvPr/>
        </p:nvSpPr>
        <p:spPr>
          <a:xfrm>
            <a:off x="4846320" y="3803904"/>
            <a:ext cx="3749040" cy="384048"/>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Academic research consistently shows 70-72% is the practical ceiling for NFL win prediction using pre-game information only.</a:t>
            </a:r>
            <a:endParaRPr lang="en-US" sz="1050" dirty="0"/>
          </a:p>
        </p:txBody>
      </p:sp>
      <p:sp>
        <p:nvSpPr>
          <p:cNvPr id="32" name="Text 30"/>
          <p:cNvSpPr/>
          <p:nvPr/>
        </p:nvSpPr>
        <p:spPr>
          <a:xfrm>
            <a:off x="4846320" y="4224528"/>
            <a:ext cx="3749040" cy="384048"/>
          </a:xfrm>
          <a:prstGeom prst="rect">
            <a:avLst/>
          </a:prstGeom>
          <a:noFill/>
          <a:ln/>
        </p:spPr>
        <p:txBody>
          <a:bodyPr wrap="square" rtlCol="0" anchor="ctr"/>
          <a:lstStyle/>
          <a:p>
            <a:pPr indent="0" marL="0">
              <a:buNone/>
            </a:pPr>
            <a:r>
              <a:rPr lang="en-US" sz="1050" dirty="0">
                <a:solidFill>
                  <a:srgbClr val="E8EEF4"/>
                </a:solidFill>
                <a:latin typeface="Calibri" pitchFamily="34" charset="0"/>
                <a:ea typeface="Calibri" pitchFamily="34" charset="-122"/>
                <a:cs typeface="Calibri" pitchFamily="34" charset="-120"/>
              </a:rPr>
              <a:t>▸  Our 68.1% is near that ceiling. It is 5.1% above the ELO baseline and 11.1% above a random coin flip.</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128016"/>
          </a:xfrm>
          <a:prstGeom prst="rect">
            <a:avLst/>
          </a:prstGeom>
          <a:solidFill>
            <a:srgbClr val="F5A623"/>
          </a:solidFill>
          <a:ln w="12700">
            <a:solidFill>
              <a:srgbClr val="F5A623"/>
            </a:solidFill>
            <a:prstDash val="solid"/>
          </a:ln>
        </p:spPr>
      </p:sp>
      <p:sp>
        <p:nvSpPr>
          <p:cNvPr id="3" name="Shape 1"/>
          <p:cNvSpPr/>
          <p:nvPr/>
        </p:nvSpPr>
        <p:spPr>
          <a:xfrm>
            <a:off x="0" y="4974336"/>
            <a:ext cx="9144000" cy="169164"/>
          </a:xfrm>
          <a:prstGeom prst="rect">
            <a:avLst/>
          </a:prstGeom>
          <a:solidFill>
            <a:srgbClr val="0D7C66"/>
          </a:solidFill>
          <a:ln w="12700">
            <a:solidFill>
              <a:srgbClr val="0D7C66"/>
            </a:solidFill>
            <a:prstDash val="solid"/>
          </a:ln>
        </p:spPr>
      </p:sp>
      <p:sp>
        <p:nvSpPr>
          <p:cNvPr id="4" name="Text 2"/>
          <p:cNvSpPr/>
          <p:nvPr/>
        </p:nvSpPr>
        <p:spPr>
          <a:xfrm>
            <a:off x="411480" y="182880"/>
            <a:ext cx="8321040" cy="566928"/>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What We Can Improve</a:t>
            </a:r>
            <a:endParaRPr lang="en-US" sz="3000" dirty="0"/>
          </a:p>
        </p:txBody>
      </p:sp>
      <p:sp>
        <p:nvSpPr>
          <p:cNvPr id="5" name="Text 3"/>
          <p:cNvSpPr/>
          <p:nvPr/>
        </p:nvSpPr>
        <p:spPr>
          <a:xfrm>
            <a:off x="411480" y="749808"/>
            <a:ext cx="8321040" cy="256032"/>
          </a:xfrm>
          <a:prstGeom prst="rect">
            <a:avLst/>
          </a:prstGeom>
          <a:noFill/>
          <a:ln/>
        </p:spPr>
        <p:txBody>
          <a:bodyPr wrap="square" rtlCol="0" anchor="ctr"/>
          <a:lstStyle/>
          <a:p>
            <a:pPr indent="0" marL="0">
              <a:buNone/>
            </a:pPr>
            <a:r>
              <a:rPr lang="en-US" sz="1200" i="1" dirty="0">
                <a:solidFill>
                  <a:srgbClr val="7A9CBB"/>
                </a:solidFill>
                <a:latin typeface="Calibri" pitchFamily="34" charset="0"/>
                <a:ea typeface="Calibri" pitchFamily="34" charset="-122"/>
                <a:cs typeface="Calibri" pitchFamily="34" charset="-120"/>
              </a:rPr>
              <a:t>The model works well. These are the five highest-value next steps to make it better.</a:t>
            </a:r>
            <a:endParaRPr lang="en-US" sz="1200" dirty="0"/>
          </a:p>
        </p:txBody>
      </p:sp>
      <p:sp>
        <p:nvSpPr>
          <p:cNvPr id="6" name="Shape 4"/>
          <p:cNvSpPr/>
          <p:nvPr/>
        </p:nvSpPr>
        <p:spPr>
          <a:xfrm>
            <a:off x="365760" y="1005840"/>
            <a:ext cx="8412480" cy="731520"/>
          </a:xfrm>
          <a:prstGeom prst="rect">
            <a:avLst/>
          </a:prstGeom>
          <a:solidFill>
            <a:srgbClr val="132A47"/>
          </a:solidFill>
          <a:ln w="12700">
            <a:solidFill>
              <a:srgbClr val="C8102E"/>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365760" y="1005840"/>
            <a:ext cx="64008" cy="731520"/>
          </a:xfrm>
          <a:prstGeom prst="rect">
            <a:avLst/>
          </a:prstGeom>
          <a:solidFill>
            <a:srgbClr val="C8102E"/>
          </a:solidFill>
          <a:ln w="12700">
            <a:solidFill>
              <a:srgbClr val="C8102E"/>
            </a:solidFill>
            <a:prstDash val="solid"/>
          </a:ln>
        </p:spPr>
      </p:sp>
      <p:sp>
        <p:nvSpPr>
          <p:cNvPr id="8" name="Text 6"/>
          <p:cNvSpPr/>
          <p:nvPr/>
        </p:nvSpPr>
        <p:spPr>
          <a:xfrm>
            <a:off x="548640" y="1060704"/>
            <a:ext cx="2651760" cy="256032"/>
          </a:xfrm>
          <a:prstGeom prst="rect">
            <a:avLst/>
          </a:prstGeom>
          <a:noFill/>
          <a:ln/>
        </p:spPr>
        <p:txBody>
          <a:bodyPr wrap="square" rtlCol="0" anchor="ctr"/>
          <a:lstStyle/>
          <a:p>
            <a:pPr indent="0" marL="0">
              <a:buNone/>
            </a:pPr>
            <a:r>
              <a:rPr lang="en-US" sz="1250" b="1" dirty="0">
                <a:solidFill>
                  <a:srgbClr val="C8102E"/>
                </a:solidFill>
                <a:latin typeface="Arial Black" pitchFamily="34" charset="0"/>
                <a:ea typeface="Arial Black" pitchFamily="34" charset="-122"/>
                <a:cs typeface="Arial Black" pitchFamily="34" charset="-120"/>
              </a:rPr>
              <a:t>📡  Live Season Data</a:t>
            </a:r>
            <a:endParaRPr lang="en-US" sz="1250" dirty="0"/>
          </a:p>
        </p:txBody>
      </p:sp>
      <p:sp>
        <p:nvSpPr>
          <p:cNvPr id="9" name="Shape 7"/>
          <p:cNvSpPr/>
          <p:nvPr/>
        </p:nvSpPr>
        <p:spPr>
          <a:xfrm>
            <a:off x="3310128" y="1078992"/>
            <a:ext cx="822960" cy="237744"/>
          </a:xfrm>
          <a:prstGeom prst="rect">
            <a:avLst/>
          </a:prstGeom>
          <a:solidFill>
            <a:srgbClr val="C8102E"/>
          </a:solidFill>
          <a:ln w="12700">
            <a:solidFill>
              <a:srgbClr val="C8102E"/>
            </a:solidFill>
            <a:prstDash val="solid"/>
          </a:ln>
        </p:spPr>
      </p:sp>
      <p:sp>
        <p:nvSpPr>
          <p:cNvPr id="10" name="Text 8"/>
          <p:cNvSpPr/>
          <p:nvPr/>
        </p:nvSpPr>
        <p:spPr>
          <a:xfrm>
            <a:off x="3310128" y="1078992"/>
            <a:ext cx="822960" cy="237744"/>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11" name="Text 9"/>
          <p:cNvSpPr/>
          <p:nvPr/>
        </p:nvSpPr>
        <p:spPr>
          <a:xfrm>
            <a:off x="548640" y="1408176"/>
            <a:ext cx="3977640" cy="237744"/>
          </a:xfrm>
          <a:prstGeom prst="rect">
            <a:avLst/>
          </a:prstGeom>
          <a:noFill/>
          <a:ln/>
        </p:spPr>
        <p:txBody>
          <a:bodyPr wrap="square" rtlCol="0" anchor="ctr"/>
          <a:lstStyle/>
          <a:p>
            <a:pPr indent="0" marL="0">
              <a:buNone/>
            </a:pPr>
            <a:r>
              <a:rPr lang="en-US" sz="1000" dirty="0">
                <a:solidFill>
                  <a:srgbClr val="7A9CBB"/>
                </a:solidFill>
                <a:latin typeface="Calibri" pitchFamily="34" charset="0"/>
                <a:ea typeface="Calibri" pitchFamily="34" charset="-122"/>
                <a:cs typeface="Calibri" pitchFamily="34" charset="-120"/>
              </a:rPr>
              <a:t>Now: App currently shows end-of-2025 season results — not live 2026</a:t>
            </a:r>
            <a:endParaRPr lang="en-US" sz="1000" dirty="0"/>
          </a:p>
        </p:txBody>
      </p:sp>
      <p:sp>
        <p:nvSpPr>
          <p:cNvPr id="12" name="Text 10"/>
          <p:cNvSpPr/>
          <p:nvPr/>
        </p:nvSpPr>
        <p:spPr>
          <a:xfrm>
            <a:off x="4617720" y="1078992"/>
            <a:ext cx="4041648" cy="566928"/>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  Connect nflverse weekly live feed — auto-update every Tuesday after game day during the 2026 season with automatic cache refresh</a:t>
            </a:r>
            <a:endParaRPr lang="en-US" sz="1100" dirty="0"/>
          </a:p>
        </p:txBody>
      </p:sp>
      <p:sp>
        <p:nvSpPr>
          <p:cNvPr id="13" name="Shape 11"/>
          <p:cNvSpPr/>
          <p:nvPr/>
        </p:nvSpPr>
        <p:spPr>
          <a:xfrm>
            <a:off x="365760" y="1828800"/>
            <a:ext cx="8412480" cy="731520"/>
          </a:xfrm>
          <a:prstGeom prst="rect">
            <a:avLst/>
          </a:prstGeom>
          <a:solidFill>
            <a:srgbClr val="132A47"/>
          </a:solidFill>
          <a:ln w="12700">
            <a:solidFill>
              <a:srgbClr val="C8102E"/>
            </a:solidFill>
            <a:prstDash val="solid"/>
          </a:ln>
          <a:effectLst>
            <a:outerShdw sx="100000" sy="100000" kx="0" ky="0" algn="bl" rotWithShape="0" blurRad="101600" dist="38100" dir="8100000">
              <a:srgbClr val="000000">
                <a:alpha val="18000"/>
              </a:srgbClr>
            </a:outerShdw>
          </a:effectLst>
        </p:spPr>
      </p:sp>
      <p:sp>
        <p:nvSpPr>
          <p:cNvPr id="14" name="Shape 12"/>
          <p:cNvSpPr/>
          <p:nvPr/>
        </p:nvSpPr>
        <p:spPr>
          <a:xfrm>
            <a:off x="365760" y="1828800"/>
            <a:ext cx="64008" cy="731520"/>
          </a:xfrm>
          <a:prstGeom prst="rect">
            <a:avLst/>
          </a:prstGeom>
          <a:solidFill>
            <a:srgbClr val="C8102E"/>
          </a:solidFill>
          <a:ln w="12700">
            <a:solidFill>
              <a:srgbClr val="C8102E"/>
            </a:solidFill>
            <a:prstDash val="solid"/>
          </a:ln>
        </p:spPr>
      </p:sp>
      <p:sp>
        <p:nvSpPr>
          <p:cNvPr id="15" name="Text 13"/>
          <p:cNvSpPr/>
          <p:nvPr/>
        </p:nvSpPr>
        <p:spPr>
          <a:xfrm>
            <a:off x="548640" y="1883664"/>
            <a:ext cx="2651760" cy="256032"/>
          </a:xfrm>
          <a:prstGeom prst="rect">
            <a:avLst/>
          </a:prstGeom>
          <a:noFill/>
          <a:ln/>
        </p:spPr>
        <p:txBody>
          <a:bodyPr wrap="square" rtlCol="0" anchor="ctr"/>
          <a:lstStyle/>
          <a:p>
            <a:pPr indent="0" marL="0">
              <a:buNone/>
            </a:pPr>
            <a:r>
              <a:rPr lang="en-US" sz="1250" b="1" dirty="0">
                <a:solidFill>
                  <a:srgbClr val="C8102E"/>
                </a:solidFill>
                <a:latin typeface="Arial Black" pitchFamily="34" charset="0"/>
                <a:ea typeface="Arial Black" pitchFamily="34" charset="-122"/>
                <a:cs typeface="Arial Black" pitchFamily="34" charset="-120"/>
              </a:rPr>
              <a:t>🧠  Player-Level Features</a:t>
            </a:r>
            <a:endParaRPr lang="en-US" sz="1250" dirty="0"/>
          </a:p>
        </p:txBody>
      </p:sp>
      <p:sp>
        <p:nvSpPr>
          <p:cNvPr id="16" name="Shape 14"/>
          <p:cNvSpPr/>
          <p:nvPr/>
        </p:nvSpPr>
        <p:spPr>
          <a:xfrm>
            <a:off x="3310128" y="1901952"/>
            <a:ext cx="822960" cy="237744"/>
          </a:xfrm>
          <a:prstGeom prst="rect">
            <a:avLst/>
          </a:prstGeom>
          <a:solidFill>
            <a:srgbClr val="C8102E"/>
          </a:solidFill>
          <a:ln w="12700">
            <a:solidFill>
              <a:srgbClr val="C8102E"/>
            </a:solidFill>
            <a:prstDash val="solid"/>
          </a:ln>
        </p:spPr>
      </p:sp>
      <p:sp>
        <p:nvSpPr>
          <p:cNvPr id="17" name="Text 15"/>
          <p:cNvSpPr/>
          <p:nvPr/>
        </p:nvSpPr>
        <p:spPr>
          <a:xfrm>
            <a:off x="3310128" y="1901952"/>
            <a:ext cx="822960" cy="237744"/>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High</a:t>
            </a:r>
            <a:endParaRPr lang="en-US" sz="1000" dirty="0"/>
          </a:p>
        </p:txBody>
      </p:sp>
      <p:sp>
        <p:nvSpPr>
          <p:cNvPr id="18" name="Text 16"/>
          <p:cNvSpPr/>
          <p:nvPr/>
        </p:nvSpPr>
        <p:spPr>
          <a:xfrm>
            <a:off x="548640" y="2231136"/>
            <a:ext cx="3977640" cy="237744"/>
          </a:xfrm>
          <a:prstGeom prst="rect">
            <a:avLst/>
          </a:prstGeom>
          <a:noFill/>
          <a:ln/>
        </p:spPr>
        <p:txBody>
          <a:bodyPr wrap="square" rtlCol="0" anchor="ctr"/>
          <a:lstStyle/>
          <a:p>
            <a:pPr indent="0" marL="0">
              <a:buNone/>
            </a:pPr>
            <a:r>
              <a:rPr lang="en-US" sz="1000" dirty="0">
                <a:solidFill>
                  <a:srgbClr val="7A9CBB"/>
                </a:solidFill>
                <a:latin typeface="Calibri" pitchFamily="34" charset="0"/>
                <a:ea typeface="Calibri" pitchFamily="34" charset="-122"/>
                <a:cs typeface="Calibri" pitchFamily="34" charset="-120"/>
              </a:rPr>
              <a:t>Now: Injury impact uses position category weights, not the specific player's historical quality</a:t>
            </a:r>
            <a:endParaRPr lang="en-US" sz="1000" dirty="0"/>
          </a:p>
        </p:txBody>
      </p:sp>
      <p:sp>
        <p:nvSpPr>
          <p:cNvPr id="19" name="Text 17"/>
          <p:cNvSpPr/>
          <p:nvPr/>
        </p:nvSpPr>
        <p:spPr>
          <a:xfrm>
            <a:off x="4617720" y="1901952"/>
            <a:ext cx="4041648" cy="566928"/>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  Add QB passer rating, WR yards after catch, OL pass block win rate from player_stats — already loaded, just not used yet</a:t>
            </a:r>
            <a:endParaRPr lang="en-US" sz="1100" dirty="0"/>
          </a:p>
        </p:txBody>
      </p:sp>
      <p:sp>
        <p:nvSpPr>
          <p:cNvPr id="20" name="Shape 18"/>
          <p:cNvSpPr/>
          <p:nvPr/>
        </p:nvSpPr>
        <p:spPr>
          <a:xfrm>
            <a:off x="365760" y="2651760"/>
            <a:ext cx="8412480" cy="731520"/>
          </a:xfrm>
          <a:prstGeom prst="rect">
            <a:avLst/>
          </a:prstGeom>
          <a:solidFill>
            <a:srgbClr val="132A47"/>
          </a:solidFill>
          <a:ln w="12700">
            <a:solidFill>
              <a:srgbClr val="F5A623"/>
            </a:solidFill>
            <a:prstDash val="solid"/>
          </a:ln>
          <a:effectLst>
            <a:outerShdw sx="100000" sy="100000" kx="0" ky="0" algn="bl" rotWithShape="0" blurRad="101600" dist="38100" dir="8100000">
              <a:srgbClr val="000000">
                <a:alpha val="18000"/>
              </a:srgbClr>
            </a:outerShdw>
          </a:effectLst>
        </p:spPr>
      </p:sp>
      <p:sp>
        <p:nvSpPr>
          <p:cNvPr id="21" name="Shape 19"/>
          <p:cNvSpPr/>
          <p:nvPr/>
        </p:nvSpPr>
        <p:spPr>
          <a:xfrm>
            <a:off x="365760" y="2651760"/>
            <a:ext cx="64008" cy="731520"/>
          </a:xfrm>
          <a:prstGeom prst="rect">
            <a:avLst/>
          </a:prstGeom>
          <a:solidFill>
            <a:srgbClr val="F5A623"/>
          </a:solidFill>
          <a:ln w="12700">
            <a:solidFill>
              <a:srgbClr val="F5A623"/>
            </a:solidFill>
            <a:prstDash val="solid"/>
          </a:ln>
        </p:spPr>
      </p:sp>
      <p:sp>
        <p:nvSpPr>
          <p:cNvPr id="22" name="Text 20"/>
          <p:cNvSpPr/>
          <p:nvPr/>
        </p:nvSpPr>
        <p:spPr>
          <a:xfrm>
            <a:off x="548640" y="2706624"/>
            <a:ext cx="2651760" cy="256032"/>
          </a:xfrm>
          <a:prstGeom prst="rect">
            <a:avLst/>
          </a:prstGeom>
          <a:noFill/>
          <a:ln/>
        </p:spPr>
        <p:txBody>
          <a:bodyPr wrap="square" rtlCol="0" anchor="ctr"/>
          <a:lstStyle/>
          <a:p>
            <a:pPr indent="0" marL="0">
              <a:buNone/>
            </a:pPr>
            <a:r>
              <a:rPr lang="en-US" sz="1250" b="1" dirty="0">
                <a:solidFill>
                  <a:srgbClr val="F5A623"/>
                </a:solidFill>
                <a:latin typeface="Arial Black" pitchFamily="34" charset="0"/>
                <a:ea typeface="Arial Black" pitchFamily="34" charset="-122"/>
                <a:cs typeface="Arial Black" pitchFamily="34" charset="-120"/>
              </a:rPr>
              <a:t>🌦️  Weather &amp; Venue</a:t>
            </a:r>
            <a:endParaRPr lang="en-US" sz="1250" dirty="0"/>
          </a:p>
        </p:txBody>
      </p:sp>
      <p:sp>
        <p:nvSpPr>
          <p:cNvPr id="23" name="Shape 21"/>
          <p:cNvSpPr/>
          <p:nvPr/>
        </p:nvSpPr>
        <p:spPr>
          <a:xfrm>
            <a:off x="3310128" y="2724912"/>
            <a:ext cx="822960" cy="237744"/>
          </a:xfrm>
          <a:prstGeom prst="rect">
            <a:avLst/>
          </a:prstGeom>
          <a:solidFill>
            <a:srgbClr val="F5A623"/>
          </a:solidFill>
          <a:ln w="12700">
            <a:solidFill>
              <a:srgbClr val="F5A623"/>
            </a:solidFill>
            <a:prstDash val="solid"/>
          </a:ln>
        </p:spPr>
      </p:sp>
      <p:sp>
        <p:nvSpPr>
          <p:cNvPr id="24" name="Text 22"/>
          <p:cNvSpPr/>
          <p:nvPr/>
        </p:nvSpPr>
        <p:spPr>
          <a:xfrm>
            <a:off x="3310128" y="2724912"/>
            <a:ext cx="822960" cy="237744"/>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25" name="Text 23"/>
          <p:cNvSpPr/>
          <p:nvPr/>
        </p:nvSpPr>
        <p:spPr>
          <a:xfrm>
            <a:off x="548640" y="3054096"/>
            <a:ext cx="3977640" cy="237744"/>
          </a:xfrm>
          <a:prstGeom prst="rect">
            <a:avLst/>
          </a:prstGeom>
          <a:noFill/>
          <a:ln/>
        </p:spPr>
        <p:txBody>
          <a:bodyPr wrap="square" rtlCol="0" anchor="ctr"/>
          <a:lstStyle/>
          <a:p>
            <a:pPr indent="0" marL="0">
              <a:buNone/>
            </a:pPr>
            <a:r>
              <a:rPr lang="en-US" sz="1000" dirty="0">
                <a:solidFill>
                  <a:srgbClr val="7A9CBB"/>
                </a:solidFill>
                <a:latin typeface="Calibri" pitchFamily="34" charset="0"/>
                <a:ea typeface="Calibri" pitchFamily="34" charset="-122"/>
                <a:cs typeface="Calibri" pitchFamily="34" charset="-120"/>
              </a:rPr>
              <a:t>Now: Home/away flag is the only venue context — dome vs outdoor, temperature, wind are ignored</a:t>
            </a:r>
            <a:endParaRPr lang="en-US" sz="1000" dirty="0"/>
          </a:p>
        </p:txBody>
      </p:sp>
      <p:sp>
        <p:nvSpPr>
          <p:cNvPr id="26" name="Text 24"/>
          <p:cNvSpPr/>
          <p:nvPr/>
        </p:nvSpPr>
        <p:spPr>
          <a:xfrm>
            <a:off x="4617720" y="2724912"/>
            <a:ext cx="4041648" cy="566928"/>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  Cold weather below 35°F reduces passing EPA by ~15%. Wind above 20mph affects kicking. These are free public data sources.</a:t>
            </a:r>
            <a:endParaRPr lang="en-US" sz="1100" dirty="0"/>
          </a:p>
        </p:txBody>
      </p:sp>
      <p:sp>
        <p:nvSpPr>
          <p:cNvPr id="27" name="Shape 25"/>
          <p:cNvSpPr/>
          <p:nvPr/>
        </p:nvSpPr>
        <p:spPr>
          <a:xfrm>
            <a:off x="365760" y="3474720"/>
            <a:ext cx="8412480" cy="731520"/>
          </a:xfrm>
          <a:prstGeom prst="rect">
            <a:avLst/>
          </a:prstGeom>
          <a:solidFill>
            <a:srgbClr val="132A47"/>
          </a:solidFill>
          <a:ln w="12700">
            <a:solidFill>
              <a:srgbClr val="F5A623"/>
            </a:solidFill>
            <a:prstDash val="solid"/>
          </a:ln>
          <a:effectLst>
            <a:outerShdw sx="100000" sy="100000" kx="0" ky="0" algn="bl" rotWithShape="0" blurRad="101600" dist="38100" dir="8100000">
              <a:srgbClr val="000000">
                <a:alpha val="18000"/>
              </a:srgbClr>
            </a:outerShdw>
          </a:effectLst>
        </p:spPr>
      </p:sp>
      <p:sp>
        <p:nvSpPr>
          <p:cNvPr id="28" name="Shape 26"/>
          <p:cNvSpPr/>
          <p:nvPr/>
        </p:nvSpPr>
        <p:spPr>
          <a:xfrm>
            <a:off x="365760" y="3474720"/>
            <a:ext cx="64008" cy="731520"/>
          </a:xfrm>
          <a:prstGeom prst="rect">
            <a:avLst/>
          </a:prstGeom>
          <a:solidFill>
            <a:srgbClr val="F5A623"/>
          </a:solidFill>
          <a:ln w="12700">
            <a:solidFill>
              <a:srgbClr val="F5A623"/>
            </a:solidFill>
            <a:prstDash val="solid"/>
          </a:ln>
        </p:spPr>
      </p:sp>
      <p:sp>
        <p:nvSpPr>
          <p:cNvPr id="29" name="Text 27"/>
          <p:cNvSpPr/>
          <p:nvPr/>
        </p:nvSpPr>
        <p:spPr>
          <a:xfrm>
            <a:off x="548640" y="3529584"/>
            <a:ext cx="2651760" cy="256032"/>
          </a:xfrm>
          <a:prstGeom prst="rect">
            <a:avLst/>
          </a:prstGeom>
          <a:noFill/>
          <a:ln/>
        </p:spPr>
        <p:txBody>
          <a:bodyPr wrap="square" rtlCol="0" anchor="ctr"/>
          <a:lstStyle/>
          <a:p>
            <a:pPr indent="0" marL="0">
              <a:buNone/>
            </a:pPr>
            <a:r>
              <a:rPr lang="en-US" sz="1250" b="1" dirty="0">
                <a:solidFill>
                  <a:srgbClr val="F5A623"/>
                </a:solidFill>
                <a:latin typeface="Arial Black" pitchFamily="34" charset="0"/>
                <a:ea typeface="Arial Black" pitchFamily="34" charset="-122"/>
                <a:cs typeface="Arial Black" pitchFamily="34" charset="-120"/>
              </a:rPr>
              <a:t>📊  Ensemble Model</a:t>
            </a:r>
            <a:endParaRPr lang="en-US" sz="1250" dirty="0"/>
          </a:p>
        </p:txBody>
      </p:sp>
      <p:sp>
        <p:nvSpPr>
          <p:cNvPr id="30" name="Shape 28"/>
          <p:cNvSpPr/>
          <p:nvPr/>
        </p:nvSpPr>
        <p:spPr>
          <a:xfrm>
            <a:off x="3310128" y="3547872"/>
            <a:ext cx="822960" cy="237744"/>
          </a:xfrm>
          <a:prstGeom prst="rect">
            <a:avLst/>
          </a:prstGeom>
          <a:solidFill>
            <a:srgbClr val="F5A623"/>
          </a:solidFill>
          <a:ln w="12700">
            <a:solidFill>
              <a:srgbClr val="F5A623"/>
            </a:solidFill>
            <a:prstDash val="solid"/>
          </a:ln>
        </p:spPr>
      </p:sp>
      <p:sp>
        <p:nvSpPr>
          <p:cNvPr id="31" name="Text 29"/>
          <p:cNvSpPr/>
          <p:nvPr/>
        </p:nvSpPr>
        <p:spPr>
          <a:xfrm>
            <a:off x="3310128" y="3547872"/>
            <a:ext cx="822960" cy="237744"/>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Medium</a:t>
            </a:r>
            <a:endParaRPr lang="en-US" sz="1000" dirty="0"/>
          </a:p>
        </p:txBody>
      </p:sp>
      <p:sp>
        <p:nvSpPr>
          <p:cNvPr id="32" name="Text 30"/>
          <p:cNvSpPr/>
          <p:nvPr/>
        </p:nvSpPr>
        <p:spPr>
          <a:xfrm>
            <a:off x="548640" y="3877056"/>
            <a:ext cx="3977640" cy="237744"/>
          </a:xfrm>
          <a:prstGeom prst="rect">
            <a:avLst/>
          </a:prstGeom>
          <a:noFill/>
          <a:ln/>
        </p:spPr>
        <p:txBody>
          <a:bodyPr wrap="square" rtlCol="0" anchor="ctr"/>
          <a:lstStyle/>
          <a:p>
            <a:pPr indent="0" marL="0">
              <a:buNone/>
            </a:pPr>
            <a:r>
              <a:rPr lang="en-US" sz="1000" dirty="0">
                <a:solidFill>
                  <a:srgbClr val="7A9CBB"/>
                </a:solidFill>
                <a:latin typeface="Calibri" pitchFamily="34" charset="0"/>
                <a:ea typeface="Calibri" pitchFamily="34" charset="-122"/>
                <a:cs typeface="Calibri" pitchFamily="34" charset="-120"/>
              </a:rPr>
              <a:t>Now: Single XGBoost model makes all predictions</a:t>
            </a:r>
            <a:endParaRPr lang="en-US" sz="1000" dirty="0"/>
          </a:p>
        </p:txBody>
      </p:sp>
      <p:sp>
        <p:nvSpPr>
          <p:cNvPr id="33" name="Text 31"/>
          <p:cNvSpPr/>
          <p:nvPr/>
        </p:nvSpPr>
        <p:spPr>
          <a:xfrm>
            <a:off x="4617720" y="3547872"/>
            <a:ext cx="4041648" cy="566928"/>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  Blend XGBoost + LightGBM + CatBoost predictions — ensemble typically adds 1-2% accuracy with no additional data collection required</a:t>
            </a:r>
            <a:endParaRPr lang="en-US" sz="1100" dirty="0"/>
          </a:p>
        </p:txBody>
      </p:sp>
      <p:sp>
        <p:nvSpPr>
          <p:cNvPr id="34" name="Shape 32"/>
          <p:cNvSpPr/>
          <p:nvPr/>
        </p:nvSpPr>
        <p:spPr>
          <a:xfrm>
            <a:off x="365760" y="4297680"/>
            <a:ext cx="8412480" cy="731520"/>
          </a:xfrm>
          <a:prstGeom prst="rect">
            <a:avLst/>
          </a:prstGeom>
          <a:solidFill>
            <a:srgbClr val="132A47"/>
          </a:solidFill>
          <a:ln w="12700">
            <a:solidFill>
              <a:srgbClr val="7A9CBB"/>
            </a:solidFill>
            <a:prstDash val="solid"/>
          </a:ln>
          <a:effectLst>
            <a:outerShdw sx="100000" sy="100000" kx="0" ky="0" algn="bl" rotWithShape="0" blurRad="101600" dist="38100" dir="8100000">
              <a:srgbClr val="000000">
                <a:alpha val="18000"/>
              </a:srgbClr>
            </a:outerShdw>
          </a:effectLst>
        </p:spPr>
      </p:sp>
      <p:sp>
        <p:nvSpPr>
          <p:cNvPr id="35" name="Shape 33"/>
          <p:cNvSpPr/>
          <p:nvPr/>
        </p:nvSpPr>
        <p:spPr>
          <a:xfrm>
            <a:off x="365760" y="4297680"/>
            <a:ext cx="64008" cy="731520"/>
          </a:xfrm>
          <a:prstGeom prst="rect">
            <a:avLst/>
          </a:prstGeom>
          <a:solidFill>
            <a:srgbClr val="7A9CBB"/>
          </a:solidFill>
          <a:ln w="12700">
            <a:solidFill>
              <a:srgbClr val="7A9CBB"/>
            </a:solidFill>
            <a:prstDash val="solid"/>
          </a:ln>
        </p:spPr>
      </p:sp>
      <p:sp>
        <p:nvSpPr>
          <p:cNvPr id="36" name="Text 34"/>
          <p:cNvSpPr/>
          <p:nvPr/>
        </p:nvSpPr>
        <p:spPr>
          <a:xfrm>
            <a:off x="548640" y="4352544"/>
            <a:ext cx="2651760" cy="256032"/>
          </a:xfrm>
          <a:prstGeom prst="rect">
            <a:avLst/>
          </a:prstGeom>
          <a:noFill/>
          <a:ln/>
        </p:spPr>
        <p:txBody>
          <a:bodyPr wrap="square" rtlCol="0" anchor="ctr"/>
          <a:lstStyle/>
          <a:p>
            <a:pPr indent="0" marL="0">
              <a:buNone/>
            </a:pPr>
            <a:r>
              <a:rPr lang="en-US" sz="1250" b="1" dirty="0">
                <a:solidFill>
                  <a:srgbClr val="7A9CBB"/>
                </a:solidFill>
                <a:latin typeface="Arial Black" pitchFamily="34" charset="0"/>
                <a:ea typeface="Arial Black" pitchFamily="34" charset="-122"/>
                <a:cs typeface="Arial Black" pitchFamily="34" charset="-120"/>
              </a:rPr>
              <a:t>🗄️  Shared Cloud Database</a:t>
            </a:r>
            <a:endParaRPr lang="en-US" sz="1250" dirty="0"/>
          </a:p>
        </p:txBody>
      </p:sp>
      <p:sp>
        <p:nvSpPr>
          <p:cNvPr id="37" name="Shape 35"/>
          <p:cNvSpPr/>
          <p:nvPr/>
        </p:nvSpPr>
        <p:spPr>
          <a:xfrm>
            <a:off x="3310128" y="4370832"/>
            <a:ext cx="822960" cy="237744"/>
          </a:xfrm>
          <a:prstGeom prst="rect">
            <a:avLst/>
          </a:prstGeom>
          <a:solidFill>
            <a:srgbClr val="7A9CBB"/>
          </a:solidFill>
          <a:ln w="12700">
            <a:solidFill>
              <a:srgbClr val="7A9CBB"/>
            </a:solidFill>
            <a:prstDash val="solid"/>
          </a:ln>
        </p:spPr>
      </p:sp>
      <p:sp>
        <p:nvSpPr>
          <p:cNvPr id="38" name="Text 36"/>
          <p:cNvSpPr/>
          <p:nvPr/>
        </p:nvSpPr>
        <p:spPr>
          <a:xfrm>
            <a:off x="3310128" y="4370832"/>
            <a:ext cx="822960" cy="237744"/>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Low</a:t>
            </a:r>
            <a:endParaRPr lang="en-US" sz="1000" dirty="0"/>
          </a:p>
        </p:txBody>
      </p:sp>
      <p:sp>
        <p:nvSpPr>
          <p:cNvPr id="39" name="Text 37"/>
          <p:cNvSpPr/>
          <p:nvPr/>
        </p:nvSpPr>
        <p:spPr>
          <a:xfrm>
            <a:off x="548640" y="4700016"/>
            <a:ext cx="3977640" cy="237744"/>
          </a:xfrm>
          <a:prstGeom prst="rect">
            <a:avLst/>
          </a:prstGeom>
          <a:noFill/>
          <a:ln/>
        </p:spPr>
        <p:txBody>
          <a:bodyPr wrap="square" rtlCol="0" anchor="ctr"/>
          <a:lstStyle/>
          <a:p>
            <a:pPr indent="0" marL="0">
              <a:buNone/>
            </a:pPr>
            <a:r>
              <a:rPr lang="en-US" sz="1000" dirty="0">
                <a:solidFill>
                  <a:srgbClr val="7A9CBB"/>
                </a:solidFill>
                <a:latin typeface="Calibri" pitchFamily="34" charset="0"/>
                <a:ea typeface="Calibri" pitchFamily="34" charset="-122"/>
                <a:cs typeface="Calibri" pitchFamily="34" charset="-120"/>
              </a:rPr>
              <a:t>Now: SQLite is local — each person who runs the app has their own separate leaderboard database</a:t>
            </a:r>
            <a:endParaRPr lang="en-US" sz="1000" dirty="0"/>
          </a:p>
        </p:txBody>
      </p:sp>
      <p:sp>
        <p:nvSpPr>
          <p:cNvPr id="40" name="Text 38"/>
          <p:cNvSpPr/>
          <p:nvPr/>
        </p:nvSpPr>
        <p:spPr>
          <a:xfrm>
            <a:off x="4617720" y="4370832"/>
            <a:ext cx="4041648" cy="566928"/>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  Swap get_conn() to PostgreSQL (Supabase free tier) — one global shared leaderboard. Only one line of code changes.</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128016"/>
          </a:xfrm>
          <a:prstGeom prst="rect">
            <a:avLst/>
          </a:prstGeom>
          <a:solidFill>
            <a:srgbClr val="F5A623"/>
          </a:solidFill>
          <a:ln w="12700">
            <a:solidFill>
              <a:srgbClr val="F5A623"/>
            </a:solidFill>
            <a:prstDash val="solid"/>
          </a:ln>
        </p:spPr>
      </p:sp>
      <p:sp>
        <p:nvSpPr>
          <p:cNvPr id="3" name="Shape 1"/>
          <p:cNvSpPr/>
          <p:nvPr/>
        </p:nvSpPr>
        <p:spPr>
          <a:xfrm>
            <a:off x="0" y="4974336"/>
            <a:ext cx="9144000" cy="169164"/>
          </a:xfrm>
          <a:prstGeom prst="rect">
            <a:avLst/>
          </a:prstGeom>
          <a:solidFill>
            <a:srgbClr val="0D7C66"/>
          </a:solidFill>
          <a:ln w="12700">
            <a:solidFill>
              <a:srgbClr val="0D7C66"/>
            </a:solidFill>
            <a:prstDash val="solid"/>
          </a:ln>
        </p:spPr>
      </p:sp>
      <p:sp>
        <p:nvSpPr>
          <p:cNvPr id="4" name="Text 2"/>
          <p:cNvSpPr/>
          <p:nvPr/>
        </p:nvSpPr>
        <p:spPr>
          <a:xfrm>
            <a:off x="411480" y="182880"/>
            <a:ext cx="8321040" cy="566928"/>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The Streamlit App — 5 Pages</a:t>
            </a:r>
            <a:endParaRPr lang="en-US" sz="3000" dirty="0"/>
          </a:p>
        </p:txBody>
      </p:sp>
      <p:sp>
        <p:nvSpPr>
          <p:cNvPr id="5" name="Text 3"/>
          <p:cNvSpPr/>
          <p:nvPr/>
        </p:nvSpPr>
        <p:spPr>
          <a:xfrm>
            <a:off x="411480" y="749808"/>
            <a:ext cx="8321040" cy="256032"/>
          </a:xfrm>
          <a:prstGeom prst="rect">
            <a:avLst/>
          </a:prstGeom>
          <a:noFill/>
          <a:ln/>
        </p:spPr>
        <p:txBody>
          <a:bodyPr wrap="square" rtlCol="0" anchor="ctr"/>
          <a:lstStyle/>
          <a:p>
            <a:pPr indent="0" marL="0">
              <a:buNone/>
            </a:pPr>
            <a:r>
              <a:rPr lang="en-US" sz="1100" i="1" dirty="0">
                <a:solidFill>
                  <a:srgbClr val="7A9CBB"/>
                </a:solidFill>
                <a:latin typeface="Calibri" pitchFamily="34" charset="0"/>
                <a:ea typeface="Calibri" pitchFamily="34" charset="-122"/>
                <a:cs typeface="Calibri" pitchFamily="34" charset="-120"/>
              </a:rPr>
              <a:t>One command launches everything: streamlit run app/main.py  →  The SQLite database creates itself on first launch. Zero setup.</a:t>
            </a:r>
            <a:endParaRPr lang="en-US" sz="1100" dirty="0"/>
          </a:p>
        </p:txBody>
      </p:sp>
      <p:sp>
        <p:nvSpPr>
          <p:cNvPr id="6" name="Shape 4"/>
          <p:cNvSpPr/>
          <p:nvPr/>
        </p:nvSpPr>
        <p:spPr>
          <a:xfrm>
            <a:off x="347472" y="1078992"/>
            <a:ext cx="2697480" cy="2304288"/>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7" name="Shape 5"/>
          <p:cNvSpPr/>
          <p:nvPr/>
        </p:nvSpPr>
        <p:spPr>
          <a:xfrm>
            <a:off x="347472" y="1078992"/>
            <a:ext cx="2697480" cy="64008"/>
          </a:xfrm>
          <a:prstGeom prst="rect">
            <a:avLst/>
          </a:prstGeom>
          <a:solidFill>
            <a:srgbClr val="0D7C66"/>
          </a:solidFill>
          <a:ln w="12700">
            <a:solidFill>
              <a:srgbClr val="0D7C66"/>
            </a:solidFill>
            <a:prstDash val="solid"/>
          </a:ln>
        </p:spPr>
      </p:sp>
      <p:sp>
        <p:nvSpPr>
          <p:cNvPr id="8" name="Text 6"/>
          <p:cNvSpPr/>
          <p:nvPr/>
        </p:nvSpPr>
        <p:spPr>
          <a:xfrm>
            <a:off x="347472" y="1170432"/>
            <a:ext cx="2697480" cy="402336"/>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9" name="Text 7"/>
          <p:cNvSpPr/>
          <p:nvPr/>
        </p:nvSpPr>
        <p:spPr>
          <a:xfrm>
            <a:off x="438912" y="1591056"/>
            <a:ext cx="2514600" cy="274320"/>
          </a:xfrm>
          <a:prstGeom prst="rect">
            <a:avLst/>
          </a:prstGeom>
          <a:noFill/>
          <a:ln/>
        </p:spPr>
        <p:txBody>
          <a:bodyPr wrap="square" rtlCol="0" anchor="ctr"/>
          <a:lstStyle/>
          <a:p>
            <a:pPr algn="ctr" indent="0" marL="0">
              <a:buNone/>
            </a:pPr>
            <a:r>
              <a:rPr lang="en-US" sz="1300" b="1" dirty="0">
                <a:solidFill>
                  <a:srgbClr val="0D7C66"/>
                </a:solidFill>
                <a:latin typeface="Arial Black" pitchFamily="34" charset="0"/>
                <a:ea typeface="Arial Black" pitchFamily="34" charset="-122"/>
                <a:cs typeface="Arial Black" pitchFamily="34" charset="-120"/>
              </a:rPr>
              <a:t>Dashboard</a:t>
            </a:r>
            <a:endParaRPr lang="en-US" sz="1300" dirty="0"/>
          </a:p>
        </p:txBody>
      </p:sp>
      <p:sp>
        <p:nvSpPr>
          <p:cNvPr id="10" name="Text 8"/>
          <p:cNvSpPr/>
          <p:nvPr/>
        </p:nvSpPr>
        <p:spPr>
          <a:xfrm>
            <a:off x="457200" y="1901952"/>
            <a:ext cx="2468880" cy="1389888"/>
          </a:xfrm>
          <a:prstGeom prst="rect">
            <a:avLst/>
          </a:prstGeom>
          <a:noFill/>
          <a:ln/>
        </p:spPr>
        <p:txBody>
          <a:bodyPr wrap="square" rtlCol="0" anchor="ctr"/>
          <a:lstStyle/>
          <a:p>
            <a:pPr indent="0" marL="0">
              <a:buNone/>
            </a:pPr>
            <a:r>
              <a:rPr lang="en-US" sz="1000" dirty="0">
                <a:solidFill>
                  <a:srgbClr val="E8EEF4"/>
                </a:solidFill>
                <a:latin typeface="Calibri" pitchFamily="34" charset="0"/>
                <a:ea typeface="Calibri" pitchFamily="34" charset="-122"/>
                <a:cs typeface="Calibri" pitchFamily="34" charset="-120"/>
              </a:rPr>
              <a:t>All 32 teams ranked by Super Bowl probability. Red = AFC, blue = NFC. Includes conference donut charts, sortable data table with green gradient, and head-to-head comparison tool with a radar chart showing 6 key dimensions.</a:t>
            </a:r>
            <a:endParaRPr lang="en-US" sz="1000" dirty="0"/>
          </a:p>
        </p:txBody>
      </p:sp>
      <p:sp>
        <p:nvSpPr>
          <p:cNvPr id="11" name="Shape 9"/>
          <p:cNvSpPr/>
          <p:nvPr/>
        </p:nvSpPr>
        <p:spPr>
          <a:xfrm>
            <a:off x="3200400" y="1078992"/>
            <a:ext cx="2697480" cy="2304288"/>
          </a:xfrm>
          <a:prstGeom prst="rect">
            <a:avLst/>
          </a:prstGeom>
          <a:solidFill>
            <a:srgbClr val="132A47"/>
          </a:solidFill>
          <a:ln w="12700">
            <a:solidFill>
              <a:srgbClr val="F5A623"/>
            </a:solidFill>
            <a:prstDash val="solid"/>
          </a:ln>
          <a:effectLst>
            <a:outerShdw sx="100000" sy="100000" kx="0" ky="0" algn="bl" rotWithShape="0" blurRad="101600" dist="38100" dir="8100000">
              <a:srgbClr val="000000">
                <a:alpha val="18000"/>
              </a:srgbClr>
            </a:outerShdw>
          </a:effectLst>
        </p:spPr>
      </p:sp>
      <p:sp>
        <p:nvSpPr>
          <p:cNvPr id="12" name="Shape 10"/>
          <p:cNvSpPr/>
          <p:nvPr/>
        </p:nvSpPr>
        <p:spPr>
          <a:xfrm>
            <a:off x="3200400" y="1078992"/>
            <a:ext cx="2697480" cy="64008"/>
          </a:xfrm>
          <a:prstGeom prst="rect">
            <a:avLst/>
          </a:prstGeom>
          <a:solidFill>
            <a:srgbClr val="F5A623"/>
          </a:solidFill>
          <a:ln w="12700">
            <a:solidFill>
              <a:srgbClr val="F5A623"/>
            </a:solidFill>
            <a:prstDash val="solid"/>
          </a:ln>
        </p:spPr>
      </p:sp>
      <p:sp>
        <p:nvSpPr>
          <p:cNvPr id="13" name="Text 11"/>
          <p:cNvSpPr/>
          <p:nvPr/>
        </p:nvSpPr>
        <p:spPr>
          <a:xfrm>
            <a:off x="3200400" y="1170432"/>
            <a:ext cx="2697480" cy="402336"/>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4" name="Text 12"/>
          <p:cNvSpPr/>
          <p:nvPr/>
        </p:nvSpPr>
        <p:spPr>
          <a:xfrm>
            <a:off x="3291840" y="1591056"/>
            <a:ext cx="2514600" cy="274320"/>
          </a:xfrm>
          <a:prstGeom prst="rect">
            <a:avLst/>
          </a:prstGeom>
          <a:noFill/>
          <a:ln/>
        </p:spPr>
        <p:txBody>
          <a:bodyPr wrap="square" rtlCol="0" anchor="ctr"/>
          <a:lstStyle/>
          <a:p>
            <a:pPr algn="ctr" indent="0" marL="0">
              <a:buNone/>
            </a:pPr>
            <a:r>
              <a:rPr lang="en-US" sz="1300" b="1" dirty="0">
                <a:solidFill>
                  <a:srgbClr val="F5A623"/>
                </a:solidFill>
                <a:latin typeface="Arial Black" pitchFamily="34" charset="0"/>
                <a:ea typeface="Arial Black" pitchFamily="34" charset="-122"/>
                <a:cs typeface="Arial Black" pitchFamily="34" charset="-120"/>
              </a:rPr>
              <a:t>Game Predictor</a:t>
            </a:r>
            <a:endParaRPr lang="en-US" sz="1300" dirty="0"/>
          </a:p>
        </p:txBody>
      </p:sp>
      <p:sp>
        <p:nvSpPr>
          <p:cNvPr id="15" name="Text 13"/>
          <p:cNvSpPr/>
          <p:nvPr/>
        </p:nvSpPr>
        <p:spPr>
          <a:xfrm>
            <a:off x="3310128" y="1901952"/>
            <a:ext cx="2468880" cy="1389888"/>
          </a:xfrm>
          <a:prstGeom prst="rect">
            <a:avLst/>
          </a:prstGeom>
          <a:noFill/>
          <a:ln/>
        </p:spPr>
        <p:txBody>
          <a:bodyPr wrap="square" rtlCol="0" anchor="ctr"/>
          <a:lstStyle/>
          <a:p>
            <a:pPr indent="0" marL="0">
              <a:buNone/>
            </a:pPr>
            <a:r>
              <a:rPr lang="en-US" sz="1000" dirty="0">
                <a:solidFill>
                  <a:srgbClr val="E8EEF4"/>
                </a:solidFill>
                <a:latin typeface="Calibri" pitchFamily="34" charset="0"/>
                <a:ea typeface="Calibri" pitchFamily="34" charset="-122"/>
                <a:cs typeface="Calibri" pitchFamily="34" charset="-120"/>
              </a:rPr>
              <a:t>Select any two teams and get a calibrated win probability instantly. A SHAP waterfall chart explains exactly which features drove the result and by how much. The most technically impressive page.</a:t>
            </a:r>
            <a:endParaRPr lang="en-US" sz="1000" dirty="0"/>
          </a:p>
        </p:txBody>
      </p:sp>
      <p:sp>
        <p:nvSpPr>
          <p:cNvPr id="16" name="Shape 14"/>
          <p:cNvSpPr/>
          <p:nvPr/>
        </p:nvSpPr>
        <p:spPr>
          <a:xfrm>
            <a:off x="6053328" y="1078992"/>
            <a:ext cx="2697480" cy="2304288"/>
          </a:xfrm>
          <a:prstGeom prst="rect">
            <a:avLst/>
          </a:prstGeom>
          <a:solidFill>
            <a:srgbClr val="132A47"/>
          </a:solidFill>
          <a:ln w="12700">
            <a:solidFill>
              <a:srgbClr val="7B4F9E"/>
            </a:solidFill>
            <a:prstDash val="solid"/>
          </a:ln>
          <a:effectLst>
            <a:outerShdw sx="100000" sy="100000" kx="0" ky="0" algn="bl" rotWithShape="0" blurRad="101600" dist="38100" dir="8100000">
              <a:srgbClr val="000000">
                <a:alpha val="18000"/>
              </a:srgbClr>
            </a:outerShdw>
          </a:effectLst>
        </p:spPr>
      </p:sp>
      <p:sp>
        <p:nvSpPr>
          <p:cNvPr id="17" name="Shape 15"/>
          <p:cNvSpPr/>
          <p:nvPr/>
        </p:nvSpPr>
        <p:spPr>
          <a:xfrm>
            <a:off x="6053328" y="1078992"/>
            <a:ext cx="2697480" cy="64008"/>
          </a:xfrm>
          <a:prstGeom prst="rect">
            <a:avLst/>
          </a:prstGeom>
          <a:solidFill>
            <a:srgbClr val="7B4F9E"/>
          </a:solidFill>
          <a:ln w="12700">
            <a:solidFill>
              <a:srgbClr val="7B4F9E"/>
            </a:solidFill>
            <a:prstDash val="solid"/>
          </a:ln>
        </p:spPr>
      </p:sp>
      <p:sp>
        <p:nvSpPr>
          <p:cNvPr id="18" name="Text 16"/>
          <p:cNvSpPr/>
          <p:nvPr/>
        </p:nvSpPr>
        <p:spPr>
          <a:xfrm>
            <a:off x="6053328" y="1170432"/>
            <a:ext cx="2697480" cy="402336"/>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6144768" y="1591056"/>
            <a:ext cx="2514600" cy="274320"/>
          </a:xfrm>
          <a:prstGeom prst="rect">
            <a:avLst/>
          </a:prstGeom>
          <a:noFill/>
          <a:ln/>
        </p:spPr>
        <p:txBody>
          <a:bodyPr wrap="square" rtlCol="0" anchor="ctr"/>
          <a:lstStyle/>
          <a:p>
            <a:pPr algn="ctr" indent="0" marL="0">
              <a:buNone/>
            </a:pPr>
            <a:r>
              <a:rPr lang="en-US" sz="1300" b="1" dirty="0">
                <a:solidFill>
                  <a:srgbClr val="7B4F9E"/>
                </a:solidFill>
                <a:latin typeface="Arial Black" pitchFamily="34" charset="0"/>
                <a:ea typeface="Arial Black" pitchFamily="34" charset="-122"/>
                <a:cs typeface="Arial Black" pitchFamily="34" charset="-120"/>
              </a:rPr>
              <a:t>Quarter Analysis</a:t>
            </a:r>
            <a:endParaRPr lang="en-US" sz="1300" dirty="0"/>
          </a:p>
        </p:txBody>
      </p:sp>
      <p:sp>
        <p:nvSpPr>
          <p:cNvPr id="20" name="Text 18"/>
          <p:cNvSpPr/>
          <p:nvPr/>
        </p:nvSpPr>
        <p:spPr>
          <a:xfrm>
            <a:off x="6163056" y="1901952"/>
            <a:ext cx="2468880" cy="1389888"/>
          </a:xfrm>
          <a:prstGeom prst="rect">
            <a:avLst/>
          </a:prstGeom>
          <a:noFill/>
          <a:ln/>
        </p:spPr>
        <p:txBody>
          <a:bodyPr wrap="square" rtlCol="0" anchor="ctr"/>
          <a:lstStyle/>
          <a:p>
            <a:pPr indent="0" marL="0">
              <a:buNone/>
            </a:pPr>
            <a:r>
              <a:rPr lang="en-US" sz="1000" dirty="0">
                <a:solidFill>
                  <a:srgbClr val="E8EEF4"/>
                </a:solidFill>
                <a:latin typeface="Calibri" pitchFamily="34" charset="0"/>
                <a:ea typeface="Calibri" pitchFamily="34" charset="-122"/>
                <a:cs typeface="Calibri" pitchFamily="34" charset="-120"/>
              </a:rPr>
              <a:t>Q1-Q4 EPA breakdown for any completed game. Identifies the decisive quarter, shows team performance profiles (slow starter vs strong closer), and flags whether a result was statistically expected or a genuine upset.</a:t>
            </a:r>
            <a:endParaRPr lang="en-US" sz="1000" dirty="0"/>
          </a:p>
        </p:txBody>
      </p:sp>
      <p:sp>
        <p:nvSpPr>
          <p:cNvPr id="21" name="Shape 19"/>
          <p:cNvSpPr/>
          <p:nvPr/>
        </p:nvSpPr>
        <p:spPr>
          <a:xfrm>
            <a:off x="1051560" y="3511296"/>
            <a:ext cx="3429000" cy="1353312"/>
          </a:xfrm>
          <a:prstGeom prst="rect">
            <a:avLst/>
          </a:prstGeom>
          <a:solidFill>
            <a:srgbClr val="132A47"/>
          </a:solidFill>
          <a:ln w="12700">
            <a:solidFill>
              <a:srgbClr val="1A7BAF"/>
            </a:solidFill>
            <a:prstDash val="solid"/>
          </a:ln>
          <a:effectLst>
            <a:outerShdw sx="100000" sy="100000" kx="0" ky="0" algn="bl" rotWithShape="0" blurRad="101600" dist="38100" dir="8100000">
              <a:srgbClr val="000000">
                <a:alpha val="18000"/>
              </a:srgbClr>
            </a:outerShdw>
          </a:effectLst>
        </p:spPr>
      </p:sp>
      <p:sp>
        <p:nvSpPr>
          <p:cNvPr id="22" name="Shape 20"/>
          <p:cNvSpPr/>
          <p:nvPr/>
        </p:nvSpPr>
        <p:spPr>
          <a:xfrm>
            <a:off x="1051560" y="3511296"/>
            <a:ext cx="3429000" cy="64008"/>
          </a:xfrm>
          <a:prstGeom prst="rect">
            <a:avLst/>
          </a:prstGeom>
          <a:solidFill>
            <a:srgbClr val="1A7BAF"/>
          </a:solidFill>
          <a:ln w="12700">
            <a:solidFill>
              <a:srgbClr val="1A7BAF"/>
            </a:solidFill>
            <a:prstDash val="solid"/>
          </a:ln>
        </p:spPr>
      </p:sp>
      <p:sp>
        <p:nvSpPr>
          <p:cNvPr id="23" name="Text 21"/>
          <p:cNvSpPr/>
          <p:nvPr/>
        </p:nvSpPr>
        <p:spPr>
          <a:xfrm>
            <a:off x="1161288" y="3602736"/>
            <a:ext cx="3200400" cy="292608"/>
          </a:xfrm>
          <a:prstGeom prst="rect">
            <a:avLst/>
          </a:prstGeom>
          <a:noFill/>
          <a:ln/>
        </p:spPr>
        <p:txBody>
          <a:bodyPr wrap="square" rtlCol="0" anchor="ctr"/>
          <a:lstStyle/>
          <a:p>
            <a:pPr indent="0" marL="0">
              <a:buNone/>
            </a:pPr>
            <a:r>
              <a:rPr lang="en-US" sz="1300" b="1" dirty="0">
                <a:solidFill>
                  <a:srgbClr val="1A7BAF"/>
                </a:solidFill>
                <a:latin typeface="Arial Black" pitchFamily="34" charset="0"/>
                <a:ea typeface="Arial Black" pitchFamily="34" charset="-122"/>
                <a:cs typeface="Arial Black" pitchFamily="34" charset="-120"/>
              </a:rPr>
              <a:t>🏈  Team Deep Dive</a:t>
            </a:r>
            <a:endParaRPr lang="en-US" sz="1300" dirty="0"/>
          </a:p>
        </p:txBody>
      </p:sp>
      <p:sp>
        <p:nvSpPr>
          <p:cNvPr id="24" name="Text 22"/>
          <p:cNvSpPr/>
          <p:nvPr/>
        </p:nvSpPr>
        <p:spPr>
          <a:xfrm>
            <a:off x="1161288" y="3931920"/>
            <a:ext cx="3200400" cy="859536"/>
          </a:xfrm>
          <a:prstGeom prst="rect">
            <a:avLst/>
          </a:prstGeom>
          <a:noFill/>
          <a:ln/>
        </p:spPr>
        <p:txBody>
          <a:bodyPr wrap="square" rtlCol="0" anchor="ctr"/>
          <a:lstStyle/>
          <a:p>
            <a:pPr indent="0" marL="0">
              <a:buNone/>
            </a:pPr>
            <a:r>
              <a:rPr lang="en-US" sz="1000" dirty="0">
                <a:solidFill>
                  <a:srgbClr val="E8EEF4"/>
                </a:solidFill>
                <a:latin typeface="Calibri" pitchFamily="34" charset="0"/>
                <a:ea typeface="Calibri" pitchFamily="34" charset="-122"/>
                <a:cs typeface="Calibri" pitchFamily="34" charset="-120"/>
              </a:rPr>
              <a:t>Full season profile for any team. Rolling 4-week EPA trends, weekly injury impact timeline overlaid with W/L markers, turnover margin bars, sack rate, 3rd down conversion, and draft class quality by season.</a:t>
            </a:r>
            <a:endParaRPr lang="en-US" sz="1000" dirty="0"/>
          </a:p>
        </p:txBody>
      </p:sp>
      <p:sp>
        <p:nvSpPr>
          <p:cNvPr id="25" name="Shape 23"/>
          <p:cNvSpPr/>
          <p:nvPr/>
        </p:nvSpPr>
        <p:spPr>
          <a:xfrm>
            <a:off x="4800600" y="3511296"/>
            <a:ext cx="3429000" cy="1353312"/>
          </a:xfrm>
          <a:prstGeom prst="rect">
            <a:avLst/>
          </a:prstGeom>
          <a:solidFill>
            <a:srgbClr val="132A47"/>
          </a:solidFill>
          <a:ln w="12700">
            <a:solidFill>
              <a:srgbClr val="C8102E"/>
            </a:solidFill>
            <a:prstDash val="solid"/>
          </a:ln>
          <a:effectLst>
            <a:outerShdw sx="100000" sy="100000" kx="0" ky="0" algn="bl" rotWithShape="0" blurRad="101600" dist="38100" dir="8100000">
              <a:srgbClr val="000000">
                <a:alpha val="18000"/>
              </a:srgbClr>
            </a:outerShdw>
          </a:effectLst>
        </p:spPr>
      </p:sp>
      <p:sp>
        <p:nvSpPr>
          <p:cNvPr id="26" name="Shape 24"/>
          <p:cNvSpPr/>
          <p:nvPr/>
        </p:nvSpPr>
        <p:spPr>
          <a:xfrm>
            <a:off x="4800600" y="3511296"/>
            <a:ext cx="3429000" cy="64008"/>
          </a:xfrm>
          <a:prstGeom prst="rect">
            <a:avLst/>
          </a:prstGeom>
          <a:solidFill>
            <a:srgbClr val="C8102E"/>
          </a:solidFill>
          <a:ln w="12700">
            <a:solidFill>
              <a:srgbClr val="C8102E"/>
            </a:solidFill>
            <a:prstDash val="solid"/>
          </a:ln>
        </p:spPr>
      </p:sp>
      <p:sp>
        <p:nvSpPr>
          <p:cNvPr id="27" name="Text 25"/>
          <p:cNvSpPr/>
          <p:nvPr/>
        </p:nvSpPr>
        <p:spPr>
          <a:xfrm>
            <a:off x="4910328" y="3602736"/>
            <a:ext cx="3200400" cy="292608"/>
          </a:xfrm>
          <a:prstGeom prst="rect">
            <a:avLst/>
          </a:prstGeom>
          <a:noFill/>
          <a:ln/>
        </p:spPr>
        <p:txBody>
          <a:bodyPr wrap="square" rtlCol="0" anchor="ctr"/>
          <a:lstStyle/>
          <a:p>
            <a:pPr indent="0" marL="0">
              <a:buNone/>
            </a:pPr>
            <a:r>
              <a:rPr lang="en-US" sz="1300" b="1" dirty="0">
                <a:solidFill>
                  <a:srgbClr val="C8102E"/>
                </a:solidFill>
                <a:latin typeface="Arial Black" pitchFamily="34" charset="0"/>
                <a:ea typeface="Arial Black" pitchFamily="34" charset="-122"/>
                <a:cs typeface="Arial Black" pitchFamily="34" charset="-120"/>
              </a:rPr>
              <a:t>🏆  Leaderboard</a:t>
            </a:r>
            <a:endParaRPr lang="en-US" sz="1300" dirty="0"/>
          </a:p>
        </p:txBody>
      </p:sp>
      <p:sp>
        <p:nvSpPr>
          <p:cNvPr id="28" name="Text 26"/>
          <p:cNvSpPr/>
          <p:nvPr/>
        </p:nvSpPr>
        <p:spPr>
          <a:xfrm>
            <a:off x="4910328" y="3931920"/>
            <a:ext cx="3200400" cy="859536"/>
          </a:xfrm>
          <a:prstGeom prst="rect">
            <a:avLst/>
          </a:prstGeom>
          <a:noFill/>
          <a:ln/>
        </p:spPr>
        <p:txBody>
          <a:bodyPr wrap="square" rtlCol="0" anchor="ctr"/>
          <a:lstStyle/>
          <a:p>
            <a:pPr indent="0" marL="0">
              <a:buNone/>
            </a:pPr>
            <a:r>
              <a:rPr lang="en-US" sz="1000" dirty="0">
                <a:solidFill>
                  <a:srgbClr val="E8EEF4"/>
                </a:solidFill>
                <a:latin typeface="Calibri" pitchFamily="34" charset="0"/>
                <a:ea typeface="Calibri" pitchFamily="34" charset="-122"/>
                <a:cs typeface="Calibri" pitchFamily="34" charset="-120"/>
              </a:rPr>
              <a:t>Community prediction game. Register an account, pick your Super Bowl champion with a confidence level. Your Brier score updates as the season progresses. Gold/silver/bronze rankings. Rewards honest calibration over bold guessing.</a:t>
            </a:r>
            <a:endParaRPr lang="en-US" sz="1000" dirty="0"/>
          </a:p>
        </p:txBody>
      </p:sp>
      <p:sp>
        <p:nvSpPr>
          <p:cNvPr id="29" name="Text 27"/>
          <p:cNvSpPr/>
          <p:nvPr/>
        </p:nvSpPr>
        <p:spPr>
          <a:xfrm>
            <a:off x="457200" y="4974336"/>
            <a:ext cx="8229600" cy="169164"/>
          </a:xfrm>
          <a:prstGeom prst="rect">
            <a:avLst/>
          </a:prstGeom>
          <a:noFill/>
          <a:ln/>
        </p:spPr>
        <p:txBody>
          <a:bodyPr wrap="square" rtlCol="0" anchor="ctr"/>
          <a:lstStyle/>
          <a:p>
            <a:pPr algn="ctr" indent="0" marL="0">
              <a:buNone/>
            </a:pPr>
            <a:r>
              <a:rPr lang="en-US" sz="950" dirty="0">
                <a:solidFill>
                  <a:srgbClr val="FFFFFF"/>
                </a:solidFill>
                <a:latin typeface="Consolas" pitchFamily="34" charset="0"/>
                <a:ea typeface="Consolas" pitchFamily="34" charset="-122"/>
                <a:cs typeface="Consolas" pitchFamily="34" charset="-120"/>
              </a:rPr>
              <a:t>streamlit run app/main.py   →   http://localhost:8501   ·   Database auto-creates on first launch</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128016"/>
          </a:xfrm>
          <a:prstGeom prst="rect">
            <a:avLst/>
          </a:prstGeom>
          <a:solidFill>
            <a:srgbClr val="F5A623"/>
          </a:solidFill>
          <a:ln w="12700">
            <a:solidFill>
              <a:srgbClr val="F5A623"/>
            </a:solidFill>
            <a:prstDash val="solid"/>
          </a:ln>
        </p:spPr>
      </p:sp>
      <p:sp>
        <p:nvSpPr>
          <p:cNvPr id="3" name="Shape 1"/>
          <p:cNvSpPr/>
          <p:nvPr/>
        </p:nvSpPr>
        <p:spPr>
          <a:xfrm>
            <a:off x="0" y="4974336"/>
            <a:ext cx="9144000" cy="169164"/>
          </a:xfrm>
          <a:prstGeom prst="rect">
            <a:avLst/>
          </a:prstGeom>
          <a:solidFill>
            <a:srgbClr val="0D7C66"/>
          </a:solidFill>
          <a:ln w="12700">
            <a:solidFill>
              <a:srgbClr val="0D7C66"/>
            </a:solidFill>
            <a:prstDash val="solid"/>
          </a:ln>
        </p:spPr>
      </p:sp>
      <p:sp>
        <p:nvSpPr>
          <p:cNvPr id="4" name="Text 2"/>
          <p:cNvSpPr/>
          <p:nvPr/>
        </p:nvSpPr>
        <p:spPr>
          <a:xfrm>
            <a:off x="411480" y="182880"/>
            <a:ext cx="8321040" cy="566928"/>
          </a:xfrm>
          <a:prstGeom prst="rect">
            <a:avLst/>
          </a:prstGeom>
          <a:noFill/>
          <a:ln/>
        </p:spPr>
        <p:txBody>
          <a:bodyPr wrap="square" rtlCol="0" anchor="ctr"/>
          <a:lstStyle/>
          <a:p>
            <a:pPr indent="0" marL="0">
              <a:buNone/>
            </a:pPr>
            <a:r>
              <a:rPr lang="en-US" sz="3000" b="1" dirty="0">
                <a:solidFill>
                  <a:srgbClr val="FFFFFF"/>
                </a:solidFill>
                <a:latin typeface="Arial Black" pitchFamily="34" charset="0"/>
                <a:ea typeface="Arial Black" pitchFamily="34" charset="-122"/>
                <a:cs typeface="Arial Black" pitchFamily="34" charset="-120"/>
              </a:rPr>
              <a:t>Summary</a:t>
            </a:r>
            <a:endParaRPr lang="en-US" sz="3000" dirty="0"/>
          </a:p>
        </p:txBody>
      </p:sp>
      <p:sp>
        <p:nvSpPr>
          <p:cNvPr id="5" name="Shape 3"/>
          <p:cNvSpPr/>
          <p:nvPr/>
        </p:nvSpPr>
        <p:spPr>
          <a:xfrm>
            <a:off x="365760" y="877824"/>
            <a:ext cx="8412480" cy="950976"/>
          </a:xfrm>
          <a:prstGeom prst="rect">
            <a:avLst/>
          </a:prstGeom>
          <a:solidFill>
            <a:srgbClr val="132A47"/>
          </a:solidFill>
          <a:ln w="12700">
            <a:solidFill>
              <a:srgbClr val="F5A623"/>
            </a:solidFill>
            <a:prstDash val="solid"/>
          </a:ln>
          <a:effectLst>
            <a:outerShdw sx="100000" sy="100000" kx="0" ky="0" algn="bl" rotWithShape="0" blurRad="101600" dist="38100" dir="8100000">
              <a:srgbClr val="000000">
                <a:alpha val="18000"/>
              </a:srgbClr>
            </a:outerShdw>
          </a:effectLst>
        </p:spPr>
      </p:sp>
      <p:sp>
        <p:nvSpPr>
          <p:cNvPr id="6" name="Text 4"/>
          <p:cNvSpPr/>
          <p:nvPr/>
        </p:nvSpPr>
        <p:spPr>
          <a:xfrm>
            <a:off x="502920" y="932688"/>
            <a:ext cx="8138160" cy="402336"/>
          </a:xfrm>
          <a:prstGeom prst="rect">
            <a:avLst/>
          </a:prstGeom>
          <a:noFill/>
          <a:ln/>
        </p:spPr>
        <p:txBody>
          <a:bodyPr wrap="square" rtlCol="0" anchor="ctr"/>
          <a:lstStyle/>
          <a:p>
            <a:pPr algn="ctr" indent="0" marL="0">
              <a:buNone/>
            </a:pPr>
            <a:r>
              <a:rPr lang="en-US" sz="1600" b="1" dirty="0">
                <a:solidFill>
                  <a:srgbClr val="F5A623"/>
                </a:solidFill>
                <a:latin typeface="Arial Black" pitchFamily="34" charset="0"/>
                <a:ea typeface="Arial Black" pitchFamily="34" charset="-122"/>
                <a:cs typeface="Arial Black" pitchFamily="34" charset="-120"/>
              </a:rPr>
              <a:t>Seattle Seahawks ranked #1 at 19.7%  —  They won Super Bowl LX  ✅</a:t>
            </a:r>
            <a:endParaRPr lang="en-US" sz="1600" dirty="0"/>
          </a:p>
        </p:txBody>
      </p:sp>
      <p:sp>
        <p:nvSpPr>
          <p:cNvPr id="7" name="Text 5"/>
          <p:cNvSpPr/>
          <p:nvPr/>
        </p:nvSpPr>
        <p:spPr>
          <a:xfrm>
            <a:off x="502920" y="1344168"/>
            <a:ext cx="8138160" cy="347472"/>
          </a:xfrm>
          <a:prstGeom prst="rect">
            <a:avLst/>
          </a:prstGeom>
          <a:noFill/>
          <a:ln/>
        </p:spPr>
        <p:txBody>
          <a:bodyPr wrap="square" rtlCol="0" anchor="ctr"/>
          <a:lstStyle/>
          <a:p>
            <a:pPr algn="ctr" indent="0" marL="0">
              <a:buNone/>
            </a:pPr>
            <a:r>
              <a:rPr lang="en-US" sz="1150" i="1" dirty="0">
                <a:solidFill>
                  <a:srgbClr val="7A9CBB"/>
                </a:solidFill>
                <a:latin typeface="Calibri" pitchFamily="34" charset="0"/>
                <a:ea typeface="Calibri" pitchFamily="34" charset="-122"/>
                <a:cs typeface="Calibri" pitchFamily="34" charset="-120"/>
              </a:rPr>
              <a:t>The model correctly identified the Super Bowl champion from all 32 teams before the 2025 season ended — without seeing any 2025 data during training.</a:t>
            </a:r>
            <a:endParaRPr lang="en-US" sz="1150" dirty="0"/>
          </a:p>
        </p:txBody>
      </p:sp>
      <p:sp>
        <p:nvSpPr>
          <p:cNvPr id="8" name="Shape 6"/>
          <p:cNvSpPr/>
          <p:nvPr/>
        </p:nvSpPr>
        <p:spPr>
          <a:xfrm>
            <a:off x="365760" y="1938528"/>
            <a:ext cx="1298448" cy="1005840"/>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9" name="Text 7"/>
          <p:cNvSpPr/>
          <p:nvPr/>
        </p:nvSpPr>
        <p:spPr>
          <a:xfrm>
            <a:off x="365760" y="1993392"/>
            <a:ext cx="1298448" cy="457200"/>
          </a:xfrm>
          <a:prstGeom prst="rect">
            <a:avLst/>
          </a:prstGeom>
          <a:noFill/>
          <a:ln/>
        </p:spPr>
        <p:txBody>
          <a:bodyPr wrap="square" rtlCol="0" anchor="ctr"/>
          <a:lstStyle/>
          <a:p>
            <a:pPr algn="ctr" indent="0" marL="0">
              <a:buNone/>
            </a:pPr>
            <a:r>
              <a:rPr lang="en-US" sz="2200" b="1" dirty="0">
                <a:solidFill>
                  <a:srgbClr val="F5A623"/>
                </a:solidFill>
                <a:latin typeface="Arial Black" pitchFamily="34" charset="0"/>
                <a:ea typeface="Arial Black" pitchFamily="34" charset="-122"/>
                <a:cs typeface="Arial Black" pitchFamily="34" charset="-120"/>
              </a:rPr>
              <a:t>68.1%</a:t>
            </a:r>
            <a:endParaRPr lang="en-US" sz="2200" dirty="0"/>
          </a:p>
        </p:txBody>
      </p:sp>
      <p:sp>
        <p:nvSpPr>
          <p:cNvPr id="10" name="Text 8"/>
          <p:cNvSpPr/>
          <p:nvPr/>
        </p:nvSpPr>
        <p:spPr>
          <a:xfrm>
            <a:off x="365760" y="2468880"/>
            <a:ext cx="1298448" cy="402336"/>
          </a:xfrm>
          <a:prstGeom prst="rect">
            <a:avLst/>
          </a:prstGeom>
          <a:noFill/>
          <a:ln/>
        </p:spPr>
        <p:txBody>
          <a:bodyPr wrap="square" rtlCol="0" anchor="ctr"/>
          <a:lstStyle/>
          <a:p>
            <a:pPr algn="ctr" indent="0" marL="0">
              <a:buNone/>
            </a:pPr>
            <a:r>
              <a:rPr lang="en-US" sz="900" dirty="0">
                <a:solidFill>
                  <a:srgbClr val="7A9CBB"/>
                </a:solidFill>
                <a:latin typeface="Calibri" pitchFamily="34" charset="0"/>
                <a:ea typeface="Calibri" pitchFamily="34" charset="-122"/>
                <a:cs typeface="Calibri" pitchFamily="34" charset="-120"/>
              </a:rPr>
              <a:t>Accuracy</a:t>
            </a:r>
            <a:endParaRPr lang="en-US" sz="900" dirty="0"/>
          </a:p>
          <a:p>
            <a:pPr algn="ctr" indent="0" marL="0">
              <a:buNone/>
            </a:pPr>
            <a:r>
              <a:rPr lang="en-US" sz="900" dirty="0">
                <a:solidFill>
                  <a:srgbClr val="7A9CBB"/>
                </a:solidFill>
                <a:latin typeface="Calibri" pitchFamily="34" charset="0"/>
                <a:ea typeface="Calibri" pitchFamily="34" charset="-122"/>
                <a:cs typeface="Calibri" pitchFamily="34" charset="-120"/>
              </a:rPr>
              <a:t>vs 63% ELO</a:t>
            </a:r>
            <a:endParaRPr lang="en-US" sz="900" dirty="0"/>
          </a:p>
        </p:txBody>
      </p:sp>
      <p:sp>
        <p:nvSpPr>
          <p:cNvPr id="11" name="Shape 9"/>
          <p:cNvSpPr/>
          <p:nvPr/>
        </p:nvSpPr>
        <p:spPr>
          <a:xfrm>
            <a:off x="1783080" y="1938528"/>
            <a:ext cx="1298448" cy="1005840"/>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12" name="Text 10"/>
          <p:cNvSpPr/>
          <p:nvPr/>
        </p:nvSpPr>
        <p:spPr>
          <a:xfrm>
            <a:off x="1783080" y="1993392"/>
            <a:ext cx="1298448" cy="457200"/>
          </a:xfrm>
          <a:prstGeom prst="rect">
            <a:avLst/>
          </a:prstGeom>
          <a:noFill/>
          <a:ln/>
        </p:spPr>
        <p:txBody>
          <a:bodyPr wrap="square" rtlCol="0" anchor="ctr"/>
          <a:lstStyle/>
          <a:p>
            <a:pPr algn="ctr" indent="0" marL="0">
              <a:buNone/>
            </a:pPr>
            <a:r>
              <a:rPr lang="en-US" sz="2200" b="1" dirty="0">
                <a:solidFill>
                  <a:srgbClr val="F5A623"/>
                </a:solidFill>
                <a:latin typeface="Arial Black" pitchFamily="34" charset="0"/>
                <a:ea typeface="Arial Black" pitchFamily="34" charset="-122"/>
                <a:cs typeface="Arial Black" pitchFamily="34" charset="-120"/>
              </a:rPr>
              <a:t>0.735</a:t>
            </a:r>
            <a:endParaRPr lang="en-US" sz="2200" dirty="0"/>
          </a:p>
        </p:txBody>
      </p:sp>
      <p:sp>
        <p:nvSpPr>
          <p:cNvPr id="13" name="Text 11"/>
          <p:cNvSpPr/>
          <p:nvPr/>
        </p:nvSpPr>
        <p:spPr>
          <a:xfrm>
            <a:off x="1783080" y="2468880"/>
            <a:ext cx="1298448" cy="402336"/>
          </a:xfrm>
          <a:prstGeom prst="rect">
            <a:avLst/>
          </a:prstGeom>
          <a:noFill/>
          <a:ln/>
        </p:spPr>
        <p:txBody>
          <a:bodyPr wrap="square" rtlCol="0" anchor="ctr"/>
          <a:lstStyle/>
          <a:p>
            <a:pPr algn="ctr" indent="0" marL="0">
              <a:buNone/>
            </a:pPr>
            <a:r>
              <a:rPr lang="en-US" sz="900" dirty="0">
                <a:solidFill>
                  <a:srgbClr val="7A9CBB"/>
                </a:solidFill>
                <a:latin typeface="Calibri" pitchFamily="34" charset="0"/>
                <a:ea typeface="Calibri" pitchFamily="34" charset="-122"/>
                <a:cs typeface="Calibri" pitchFamily="34" charset="-120"/>
              </a:rPr>
              <a:t>AUC Score</a:t>
            </a:r>
            <a:endParaRPr lang="en-US" sz="900" dirty="0"/>
          </a:p>
          <a:p>
            <a:pPr algn="ctr" indent="0" marL="0">
              <a:buNone/>
            </a:pPr>
            <a:r>
              <a:rPr lang="en-US" sz="900" dirty="0">
                <a:solidFill>
                  <a:srgbClr val="7A9CBB"/>
                </a:solidFill>
                <a:latin typeface="Calibri" pitchFamily="34" charset="0"/>
                <a:ea typeface="Calibri" pitchFamily="34" charset="-122"/>
                <a:cs typeface="Calibri" pitchFamily="34" charset="-120"/>
              </a:rPr>
              <a:t>vs 0.65 ELO</a:t>
            </a:r>
            <a:endParaRPr lang="en-US" sz="900" dirty="0"/>
          </a:p>
        </p:txBody>
      </p:sp>
      <p:sp>
        <p:nvSpPr>
          <p:cNvPr id="14" name="Shape 12"/>
          <p:cNvSpPr/>
          <p:nvPr/>
        </p:nvSpPr>
        <p:spPr>
          <a:xfrm>
            <a:off x="3200400" y="1938528"/>
            <a:ext cx="1298448" cy="1005840"/>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15" name="Text 13"/>
          <p:cNvSpPr/>
          <p:nvPr/>
        </p:nvSpPr>
        <p:spPr>
          <a:xfrm>
            <a:off x="3200400" y="1993392"/>
            <a:ext cx="1298448" cy="457200"/>
          </a:xfrm>
          <a:prstGeom prst="rect">
            <a:avLst/>
          </a:prstGeom>
          <a:noFill/>
          <a:ln/>
        </p:spPr>
        <p:txBody>
          <a:bodyPr wrap="square" rtlCol="0" anchor="ctr"/>
          <a:lstStyle/>
          <a:p>
            <a:pPr algn="ctr" indent="0" marL="0">
              <a:buNone/>
            </a:pPr>
            <a:r>
              <a:rPr lang="en-US" sz="2200" b="1" dirty="0">
                <a:solidFill>
                  <a:srgbClr val="F5A623"/>
                </a:solidFill>
                <a:latin typeface="Arial Black" pitchFamily="34" charset="0"/>
                <a:ea typeface="Arial Black" pitchFamily="34" charset="-122"/>
                <a:cs typeface="Arial Black" pitchFamily="34" charset="-120"/>
              </a:rPr>
              <a:t>32</a:t>
            </a:r>
            <a:endParaRPr lang="en-US" sz="2200" dirty="0"/>
          </a:p>
        </p:txBody>
      </p:sp>
      <p:sp>
        <p:nvSpPr>
          <p:cNvPr id="16" name="Text 14"/>
          <p:cNvSpPr/>
          <p:nvPr/>
        </p:nvSpPr>
        <p:spPr>
          <a:xfrm>
            <a:off x="3200400" y="2468880"/>
            <a:ext cx="1298448" cy="402336"/>
          </a:xfrm>
          <a:prstGeom prst="rect">
            <a:avLst/>
          </a:prstGeom>
          <a:noFill/>
          <a:ln/>
        </p:spPr>
        <p:txBody>
          <a:bodyPr wrap="square" rtlCol="0" anchor="ctr"/>
          <a:lstStyle/>
          <a:p>
            <a:pPr algn="ctr" indent="0" marL="0">
              <a:buNone/>
            </a:pPr>
            <a:r>
              <a:rPr lang="en-US" sz="900" dirty="0">
                <a:solidFill>
                  <a:srgbClr val="7A9CBB"/>
                </a:solidFill>
                <a:latin typeface="Calibri" pitchFamily="34" charset="0"/>
                <a:ea typeface="Calibri" pitchFamily="34" charset="-122"/>
                <a:cs typeface="Calibri" pitchFamily="34" charset="-120"/>
              </a:rPr>
              <a:t>Features</a:t>
            </a:r>
            <a:endParaRPr lang="en-US" sz="900" dirty="0"/>
          </a:p>
          <a:p>
            <a:pPr algn="ctr" indent="0" marL="0">
              <a:buNone/>
            </a:pPr>
            <a:r>
              <a:rPr lang="en-US" sz="900" dirty="0">
                <a:solidFill>
                  <a:srgbClr val="7A9CBB"/>
                </a:solidFill>
                <a:latin typeface="Calibri" pitchFamily="34" charset="0"/>
                <a:ea typeface="Calibri" pitchFamily="34" charset="-122"/>
                <a:cs typeface="Calibri" pitchFamily="34" charset="-120"/>
              </a:rPr>
              <a:t>Engineered</a:t>
            </a:r>
            <a:endParaRPr lang="en-US" sz="900" dirty="0"/>
          </a:p>
        </p:txBody>
      </p:sp>
      <p:sp>
        <p:nvSpPr>
          <p:cNvPr id="17" name="Shape 15"/>
          <p:cNvSpPr/>
          <p:nvPr/>
        </p:nvSpPr>
        <p:spPr>
          <a:xfrm>
            <a:off x="4617720" y="1938528"/>
            <a:ext cx="1298448" cy="1005840"/>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18" name="Text 16"/>
          <p:cNvSpPr/>
          <p:nvPr/>
        </p:nvSpPr>
        <p:spPr>
          <a:xfrm>
            <a:off x="4617720" y="1993392"/>
            <a:ext cx="1298448" cy="457200"/>
          </a:xfrm>
          <a:prstGeom prst="rect">
            <a:avLst/>
          </a:prstGeom>
          <a:noFill/>
          <a:ln/>
        </p:spPr>
        <p:txBody>
          <a:bodyPr wrap="square" rtlCol="0" anchor="ctr"/>
          <a:lstStyle/>
          <a:p>
            <a:pPr algn="ctr" indent="0" marL="0">
              <a:buNone/>
            </a:pPr>
            <a:r>
              <a:rPr lang="en-US" sz="2200" b="1" dirty="0">
                <a:solidFill>
                  <a:srgbClr val="F5A623"/>
                </a:solidFill>
                <a:latin typeface="Arial Black" pitchFamily="34" charset="0"/>
                <a:ea typeface="Arial Black" pitchFamily="34" charset="-122"/>
                <a:cs typeface="Arial Black" pitchFamily="34" charset="-120"/>
              </a:rPr>
              <a:t>10K</a:t>
            </a:r>
            <a:endParaRPr lang="en-US" sz="2200" dirty="0"/>
          </a:p>
        </p:txBody>
      </p:sp>
      <p:sp>
        <p:nvSpPr>
          <p:cNvPr id="19" name="Text 17"/>
          <p:cNvSpPr/>
          <p:nvPr/>
        </p:nvSpPr>
        <p:spPr>
          <a:xfrm>
            <a:off x="4617720" y="2468880"/>
            <a:ext cx="1298448" cy="402336"/>
          </a:xfrm>
          <a:prstGeom prst="rect">
            <a:avLst/>
          </a:prstGeom>
          <a:noFill/>
          <a:ln/>
        </p:spPr>
        <p:txBody>
          <a:bodyPr wrap="square" rtlCol="0" anchor="ctr"/>
          <a:lstStyle/>
          <a:p>
            <a:pPr algn="ctr" indent="0" marL="0">
              <a:buNone/>
            </a:pPr>
            <a:r>
              <a:rPr lang="en-US" sz="900" dirty="0">
                <a:solidFill>
                  <a:srgbClr val="7A9CBB"/>
                </a:solidFill>
                <a:latin typeface="Calibri" pitchFamily="34" charset="0"/>
                <a:ea typeface="Calibri" pitchFamily="34" charset="-122"/>
                <a:cs typeface="Calibri" pitchFamily="34" charset="-120"/>
              </a:rPr>
              <a:t>MC Sims</a:t>
            </a:r>
            <a:endParaRPr lang="en-US" sz="900" dirty="0"/>
          </a:p>
          <a:p>
            <a:pPr algn="ctr" indent="0" marL="0">
              <a:buNone/>
            </a:pPr>
            <a:r>
              <a:rPr lang="en-US" sz="900" dirty="0">
                <a:solidFill>
                  <a:srgbClr val="7A9CBB"/>
                </a:solidFill>
                <a:latin typeface="Calibri" pitchFamily="34" charset="0"/>
                <a:ea typeface="Calibri" pitchFamily="34" charset="-122"/>
                <a:cs typeface="Calibri" pitchFamily="34" charset="-120"/>
              </a:rPr>
              <a:t>per Season</a:t>
            </a:r>
            <a:endParaRPr lang="en-US" sz="900" dirty="0"/>
          </a:p>
        </p:txBody>
      </p:sp>
      <p:sp>
        <p:nvSpPr>
          <p:cNvPr id="20" name="Shape 18"/>
          <p:cNvSpPr/>
          <p:nvPr/>
        </p:nvSpPr>
        <p:spPr>
          <a:xfrm>
            <a:off x="6035040" y="1938528"/>
            <a:ext cx="1298448" cy="1005840"/>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21" name="Text 19"/>
          <p:cNvSpPr/>
          <p:nvPr/>
        </p:nvSpPr>
        <p:spPr>
          <a:xfrm>
            <a:off x="6035040" y="1993392"/>
            <a:ext cx="1298448" cy="457200"/>
          </a:xfrm>
          <a:prstGeom prst="rect">
            <a:avLst/>
          </a:prstGeom>
          <a:noFill/>
          <a:ln/>
        </p:spPr>
        <p:txBody>
          <a:bodyPr wrap="square" rtlCol="0" anchor="ctr"/>
          <a:lstStyle/>
          <a:p>
            <a:pPr algn="ctr" indent="0" marL="0">
              <a:buNone/>
            </a:pPr>
            <a:r>
              <a:rPr lang="en-US" sz="2200" b="1" dirty="0">
                <a:solidFill>
                  <a:srgbClr val="F5A623"/>
                </a:solidFill>
                <a:latin typeface="Arial Black" pitchFamily="34" charset="0"/>
                <a:ea typeface="Arial Black" pitchFamily="34" charset="-122"/>
                <a:cs typeface="Arial Black" pitchFamily="34" charset="-120"/>
              </a:rPr>
              <a:t>34</a:t>
            </a:r>
            <a:endParaRPr lang="en-US" sz="2200" dirty="0"/>
          </a:p>
        </p:txBody>
      </p:sp>
      <p:sp>
        <p:nvSpPr>
          <p:cNvPr id="22" name="Text 20"/>
          <p:cNvSpPr/>
          <p:nvPr/>
        </p:nvSpPr>
        <p:spPr>
          <a:xfrm>
            <a:off x="6035040" y="2468880"/>
            <a:ext cx="1298448" cy="402336"/>
          </a:xfrm>
          <a:prstGeom prst="rect">
            <a:avLst/>
          </a:prstGeom>
          <a:noFill/>
          <a:ln/>
        </p:spPr>
        <p:txBody>
          <a:bodyPr wrap="square" rtlCol="0" anchor="ctr"/>
          <a:lstStyle/>
          <a:p>
            <a:pPr algn="ctr" indent="0" marL="0">
              <a:buNone/>
            </a:pPr>
            <a:r>
              <a:rPr lang="en-US" sz="900" dirty="0">
                <a:solidFill>
                  <a:srgbClr val="7A9CBB"/>
                </a:solidFill>
                <a:latin typeface="Calibri" pitchFamily="34" charset="0"/>
                <a:ea typeface="Calibri" pitchFamily="34" charset="-122"/>
                <a:cs typeface="Calibri" pitchFamily="34" charset="-120"/>
              </a:rPr>
              <a:t>Tests</a:t>
            </a:r>
            <a:endParaRPr lang="en-US" sz="900" dirty="0"/>
          </a:p>
          <a:p>
            <a:pPr algn="ctr" indent="0" marL="0">
              <a:buNone/>
            </a:pPr>
            <a:r>
              <a:rPr lang="en-US" sz="900" dirty="0">
                <a:solidFill>
                  <a:srgbClr val="7A9CBB"/>
                </a:solidFill>
                <a:latin typeface="Calibri" pitchFamily="34" charset="0"/>
                <a:ea typeface="Calibri" pitchFamily="34" charset="-122"/>
                <a:cs typeface="Calibri" pitchFamily="34" charset="-120"/>
              </a:rPr>
              <a:t>Passing</a:t>
            </a:r>
            <a:endParaRPr lang="en-US" sz="900" dirty="0"/>
          </a:p>
        </p:txBody>
      </p:sp>
      <p:sp>
        <p:nvSpPr>
          <p:cNvPr id="23" name="Shape 21"/>
          <p:cNvSpPr/>
          <p:nvPr/>
        </p:nvSpPr>
        <p:spPr>
          <a:xfrm>
            <a:off x="7452360" y="1938528"/>
            <a:ext cx="1298448" cy="1005840"/>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24" name="Text 22"/>
          <p:cNvSpPr/>
          <p:nvPr/>
        </p:nvSpPr>
        <p:spPr>
          <a:xfrm>
            <a:off x="7452360" y="1993392"/>
            <a:ext cx="1298448" cy="457200"/>
          </a:xfrm>
          <a:prstGeom prst="rect">
            <a:avLst/>
          </a:prstGeom>
          <a:noFill/>
          <a:ln/>
        </p:spPr>
        <p:txBody>
          <a:bodyPr wrap="square" rtlCol="0" anchor="ctr"/>
          <a:lstStyle/>
          <a:p>
            <a:pPr algn="ctr" indent="0" marL="0">
              <a:buNone/>
            </a:pPr>
            <a:r>
              <a:rPr lang="en-US" sz="2200" b="1" dirty="0">
                <a:solidFill>
                  <a:srgbClr val="F5A623"/>
                </a:solidFill>
                <a:latin typeface="Arial Black" pitchFamily="34" charset="0"/>
                <a:ea typeface="Arial Black" pitchFamily="34" charset="-122"/>
                <a:cs typeface="Arial Black" pitchFamily="34" charset="-120"/>
              </a:rPr>
              <a:t>0</a:t>
            </a:r>
            <a:endParaRPr lang="en-US" sz="2200" dirty="0"/>
          </a:p>
        </p:txBody>
      </p:sp>
      <p:sp>
        <p:nvSpPr>
          <p:cNvPr id="25" name="Text 23"/>
          <p:cNvSpPr/>
          <p:nvPr/>
        </p:nvSpPr>
        <p:spPr>
          <a:xfrm>
            <a:off x="7452360" y="2468880"/>
            <a:ext cx="1298448" cy="402336"/>
          </a:xfrm>
          <a:prstGeom prst="rect">
            <a:avLst/>
          </a:prstGeom>
          <a:noFill/>
          <a:ln/>
        </p:spPr>
        <p:txBody>
          <a:bodyPr wrap="square" rtlCol="0" anchor="ctr"/>
          <a:lstStyle/>
          <a:p>
            <a:pPr algn="ctr" indent="0" marL="0">
              <a:buNone/>
            </a:pPr>
            <a:r>
              <a:rPr lang="en-US" sz="900" dirty="0">
                <a:solidFill>
                  <a:srgbClr val="7A9CBB"/>
                </a:solidFill>
                <a:latin typeface="Calibri" pitchFamily="34" charset="0"/>
                <a:ea typeface="Calibri" pitchFamily="34" charset="-122"/>
                <a:cs typeface="Calibri" pitchFamily="34" charset="-120"/>
              </a:rPr>
              <a:t>External</a:t>
            </a:r>
            <a:endParaRPr lang="en-US" sz="900" dirty="0"/>
          </a:p>
          <a:p>
            <a:pPr algn="ctr" indent="0" marL="0">
              <a:buNone/>
            </a:pPr>
            <a:r>
              <a:rPr lang="en-US" sz="900" dirty="0">
                <a:solidFill>
                  <a:srgbClr val="7A9CBB"/>
                </a:solidFill>
                <a:latin typeface="Calibri" pitchFamily="34" charset="0"/>
                <a:ea typeface="Calibri" pitchFamily="34" charset="-122"/>
                <a:cs typeface="Calibri" pitchFamily="34" charset="-120"/>
              </a:rPr>
              <a:t>Services</a:t>
            </a:r>
            <a:endParaRPr lang="en-US" sz="900" dirty="0"/>
          </a:p>
        </p:txBody>
      </p:sp>
      <p:sp>
        <p:nvSpPr>
          <p:cNvPr id="26" name="Shape 24"/>
          <p:cNvSpPr/>
          <p:nvPr/>
        </p:nvSpPr>
        <p:spPr>
          <a:xfrm>
            <a:off x="365760" y="3072384"/>
            <a:ext cx="8412480" cy="1755648"/>
          </a:xfrm>
          <a:prstGeom prst="rect">
            <a:avLst/>
          </a:prstGeom>
          <a:solidFill>
            <a:srgbClr val="132A47"/>
          </a:solidFill>
          <a:ln w="12700">
            <a:solidFill>
              <a:srgbClr val="0D7C66"/>
            </a:solidFill>
            <a:prstDash val="solid"/>
          </a:ln>
          <a:effectLst>
            <a:outerShdw sx="100000" sy="100000" kx="0" ky="0" algn="bl" rotWithShape="0" blurRad="101600" dist="38100" dir="8100000">
              <a:srgbClr val="000000">
                <a:alpha val="18000"/>
              </a:srgbClr>
            </a:outerShdw>
          </a:effectLst>
        </p:spPr>
      </p:sp>
      <p:sp>
        <p:nvSpPr>
          <p:cNvPr id="27" name="Text 25"/>
          <p:cNvSpPr/>
          <p:nvPr/>
        </p:nvSpPr>
        <p:spPr>
          <a:xfrm>
            <a:off x="502920" y="3145536"/>
            <a:ext cx="8138160" cy="310896"/>
          </a:xfrm>
          <a:prstGeom prst="rect">
            <a:avLst/>
          </a:prstGeom>
          <a:noFill/>
          <a:ln/>
        </p:spPr>
        <p:txBody>
          <a:bodyPr wrap="square" rtlCol="0" anchor="ctr"/>
          <a:lstStyle/>
          <a:p>
            <a:pPr indent="0" marL="0">
              <a:buNone/>
            </a:pPr>
            <a:r>
              <a:rPr lang="en-US" sz="1400" b="1" dirty="0">
                <a:solidFill>
                  <a:srgbClr val="0D7C66"/>
                </a:solidFill>
                <a:latin typeface="Arial Black" pitchFamily="34" charset="0"/>
                <a:ea typeface="Arial Black" pitchFamily="34" charset="-122"/>
                <a:cs typeface="Arial Black" pitchFamily="34" charset="-120"/>
              </a:rPr>
              <a:t>Why All Five Model Choices Work Together</a:t>
            </a:r>
            <a:endParaRPr lang="en-US" sz="1400" dirty="0"/>
          </a:p>
        </p:txBody>
      </p:sp>
      <p:sp>
        <p:nvSpPr>
          <p:cNvPr id="28" name="Text 26"/>
          <p:cNvSpPr/>
          <p:nvPr/>
        </p:nvSpPr>
        <p:spPr>
          <a:xfrm>
            <a:off x="548640" y="3529584"/>
            <a:ext cx="8138160" cy="237744"/>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  ELO  →  solves the cold-start problem. Gives every team a quality rating from Day 1 that carries years of history forward</a:t>
            </a:r>
            <a:endParaRPr lang="en-US" sz="1100" dirty="0"/>
          </a:p>
        </p:txBody>
      </p:sp>
      <p:sp>
        <p:nvSpPr>
          <p:cNvPr id="29" name="Text 27"/>
          <p:cNvSpPr/>
          <p:nvPr/>
        </p:nvSpPr>
        <p:spPr>
          <a:xfrm>
            <a:off x="548640" y="3785616"/>
            <a:ext cx="8138160" cy="237744"/>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  Feature Engineering  →  converts raw data into 32 clean ML-ready numbers using strict anti-leakage shift(1) rolling windows</a:t>
            </a:r>
            <a:endParaRPr lang="en-US" sz="1100" dirty="0"/>
          </a:p>
        </p:txBody>
      </p:sp>
      <p:sp>
        <p:nvSpPr>
          <p:cNvPr id="30" name="Text 28"/>
          <p:cNvSpPr/>
          <p:nvPr/>
        </p:nvSpPr>
        <p:spPr>
          <a:xfrm>
            <a:off x="548640" y="4041648"/>
            <a:ext cx="8138160" cy="237744"/>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  XGBoost  →  best tabular ML algorithm for our 2,227-game dataset, captures non-linear interactions, fully SHAP-compatible</a:t>
            </a:r>
            <a:endParaRPr lang="en-US" sz="1100" dirty="0"/>
          </a:p>
        </p:txBody>
      </p:sp>
      <p:sp>
        <p:nvSpPr>
          <p:cNvPr id="31" name="Text 29"/>
          <p:cNvSpPr/>
          <p:nvPr/>
        </p:nvSpPr>
        <p:spPr>
          <a:xfrm>
            <a:off x="548640" y="4297680"/>
            <a:ext cx="8138160" cy="237744"/>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  SHAP  →  opens the black box completely. Users see exactly which features drove each prediction and by exactly how much</a:t>
            </a:r>
            <a:endParaRPr lang="en-US" sz="1100" dirty="0"/>
          </a:p>
        </p:txBody>
      </p:sp>
      <p:sp>
        <p:nvSpPr>
          <p:cNvPr id="32" name="Text 30"/>
          <p:cNvSpPr/>
          <p:nvPr/>
        </p:nvSpPr>
        <p:spPr>
          <a:xfrm>
            <a:off x="548640" y="4553712"/>
            <a:ext cx="8138160" cy="237744"/>
          </a:xfrm>
          <a:prstGeom prst="rect">
            <a:avLst/>
          </a:prstGeom>
          <a:noFill/>
          <a:ln/>
        </p:spPr>
        <p:txBody>
          <a:bodyPr wrap="square" rtlCol="0" anchor="ctr"/>
          <a:lstStyle/>
          <a:p>
            <a:pPr indent="0" marL="0">
              <a:buNone/>
            </a:pPr>
            <a:r>
              <a:rPr lang="en-US" sz="1100" dirty="0">
                <a:solidFill>
                  <a:srgbClr val="E8EEF4"/>
                </a:solidFill>
                <a:latin typeface="Calibri" pitchFamily="34" charset="0"/>
                <a:ea typeface="Calibri" pitchFamily="34" charset="-122"/>
                <a:cs typeface="Calibri" pitchFamily="34" charset="-120"/>
              </a:rPr>
              <a:t>▸  Monte Carlo  →  the only practical way to convert per-game win probabilities into a meaningful team-level Super Bowl probability</a:t>
            </a:r>
            <a:endParaRPr lang="en-US" sz="1100" dirty="0"/>
          </a:p>
        </p:txBody>
      </p:sp>
      <p:sp>
        <p:nvSpPr>
          <p:cNvPr id="33" name="Text 31"/>
          <p:cNvSpPr/>
          <p:nvPr/>
        </p:nvSpPr>
        <p:spPr>
          <a:xfrm>
            <a:off x="457200" y="4974336"/>
            <a:ext cx="8229600" cy="169164"/>
          </a:xfrm>
          <a:prstGeom prst="rect">
            <a:avLst/>
          </a:prstGeom>
          <a:noFill/>
          <a:ln/>
        </p:spPr>
        <p:txBody>
          <a:bodyPr wrap="square" rtlCol="0" anchor="ctr"/>
          <a:lstStyle/>
          <a:p>
            <a:pPr algn="ctr" indent="0" marL="0">
              <a:buNone/>
            </a:pPr>
            <a:r>
              <a:rPr lang="en-US" sz="950" dirty="0">
                <a:solidFill>
                  <a:srgbClr val="FFFFFF"/>
                </a:solidFill>
                <a:latin typeface="Consolas" pitchFamily="34" charset="0"/>
                <a:ea typeface="Consolas" pitchFamily="34" charset="-122"/>
                <a:cs typeface="Consolas" pitchFamily="34" charset="-120"/>
              </a:rPr>
              <a:t>python train.py   ·   streamlit run app/main.py   ·   pytest tests/test_features.py -v</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2026-04-06T22:40:31Z</dcterms:created>
  <dcterms:modified xsi:type="dcterms:W3CDTF">2026-04-06T22:40:31Z</dcterms:modified>
</cp:coreProperties>
</file>